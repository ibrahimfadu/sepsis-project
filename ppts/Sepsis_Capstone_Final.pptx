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9" r:id="rId4"/>
    <p:sldId id="278" r:id="rId5"/>
    <p:sldId id="261" r:id="rId6"/>
    <p:sldId id="267" r:id="rId7"/>
    <p:sldId id="263" r:id="rId8"/>
    <p:sldId id="264" r:id="rId9"/>
    <p:sldId id="265" r:id="rId10"/>
    <p:sldId id="266" r:id="rId11"/>
    <p:sldId id="275" r:id="rId12"/>
    <p:sldId id="276" r:id="rId13"/>
    <p:sldId id="279" r:id="rId14"/>
    <p:sldId id="271" r:id="rId15"/>
    <p:sldId id="27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341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our capstone on early sepsis prediction: a fair comparison of ensemble and deep learning models, plus a reliability layer that checks whether SHAP explanations can be trusted.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capstone approval format: the problem, why it matters, scope, background, our approach, uses, deliverables, timeline, team and data, and finally what is new about our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predict sepsis well and SHAP is the default explanation, but models are compared unfairly and explanations are never checked. Our need is a fair comparison plus a reliability check.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Sepsis affects tens of millions of people every year and early treatment saves lives. AI can help, but only if doctors can trust the explanation behind each prediction.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stay within one dataset, three models and three explainers. The reliability layer wraps existing models, so the project is feasible as a phased prototype.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Clinicians get a trust label with each score, hospitals can audit models, researchers and regulators get quantitative evidence, and the pattern can be reused for other clinical tasks.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33278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papers show SHAP can fail in theory, that fixes exist for single failure modes, and that sepsis models are not checked for explanation reliability. Our framework extends all of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data flows through the prediction models and SHAP as usual. Our reliability layer, the four blue boxes, then checks the explanation and either passes it or warns the clinician.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stage tests every explanation in four simple ways. Each test has a clear flag so we know when an explanation should not be trusted.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failure mode has its own diagnosis and its own fix. If the reliability score still stays below 0.5, we abstain at the explanation level and tell the clinician to use judgment.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novelty is the full reliability framework for SHAP in sepsis. Each existing line of work covers only one piece of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965765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papers, tools and datasets we build 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077768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Capstone-I builds the foundation, Capstone-II delivers the core reliability detector, and Capstone-III completes the evaluation and the paper.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runs from September 2026 to June 2027. Early months cover the problem, literature and baselines, the middle covers reliability metrics and labels, and the last months cover the detector, mitigation and full experiments.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compare ensemble and deep learning models fairly, and check whether SHAP explanations can be trusted, abstaining when they cannot.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home/claude/ref/ppt/media/image1.png"/>
          <p:cNvPicPr>
            <a:picLocks noChangeAspect="1"/>
          </p:cNvPicPr>
          <p:nvPr/>
        </p:nvPicPr>
        <p:blipFill>
          <a:blip r:embed="rId2"/>
          <a:stretch>
            <a:fillRect/>
          </a:stretch>
        </p:blipFill>
        <p:spPr>
          <a:xfrm>
            <a:off x="10607040" y="274320"/>
            <a:ext cx="1280160" cy="658368"/>
          </a:xfrm>
          <a:prstGeom prst="rect">
            <a:avLst/>
          </a:prstGeom>
        </p:spPr>
      </p:pic>
      <p:sp>
        <p:nvSpPr>
          <p:cNvPr id="3" name="Shape 0"/>
          <p:cNvSpPr/>
          <p:nvPr/>
        </p:nvSpPr>
        <p:spPr>
          <a:xfrm>
            <a:off x="3044952" y="1581912"/>
            <a:ext cx="7616952" cy="36576"/>
          </a:xfrm>
          <a:prstGeom prst="rect">
            <a:avLst/>
          </a:prstGeom>
          <a:solidFill>
            <a:srgbClr val="2CC5C5"/>
          </a:solidFill>
          <a:ln/>
        </p:spPr>
      </p:sp>
      <p:sp>
        <p:nvSpPr>
          <p:cNvPr id="4" name="Text 1"/>
          <p:cNvSpPr>
            <a:spLocks noGrp="1"/>
          </p:cNvSpPr>
          <p:nvPr>
            <p:ph type="title" idx="102" hasCustomPrompt="1"/>
          </p:nvPr>
        </p:nvSpPr>
        <p:spPr>
          <a:xfrm>
            <a:off x="3017520" y="1005840"/>
            <a:ext cx="7644384" cy="502920"/>
          </a:xfrm>
          <a:prstGeom prst="rect">
            <a:avLst/>
          </a:prstGeom>
          <a:noFill/>
          <a:ln/>
        </p:spPr>
        <p:txBody>
          <a:bodyPr wrap="square" rtlCol="0"/>
          <a:lstStyle>
            <a:lvl1pPr marL="0" indent="0" algn="r">
              <a:buNone/>
              <a:defRPr lang="en-US" sz="2400" dirty="0">
                <a:solidFill>
                  <a:srgbClr val="D40000"/>
                </a:solidFill>
                <a:latin typeface="Times New Roman" pitchFamily="34" charset="0"/>
                <a:ea typeface="Times New Roman" pitchFamily="34" charset="-122"/>
                <a:cs typeface="Times New Roman" pitchFamily="34" charset="-120"/>
              </a:defRPr>
            </a:lvl1pPr>
          </a:lstStyle>
          <a:p>
            <a:pPr marL="0" indent="0" algn="r">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pdf/2605.21492" TargetMode="External"/><Relationship Id="rId7" Type="http://schemas.openxmlformats.org/officeDocument/2006/relationships/hyperlink" Target="https://link.springer.com/content/pdf/10.1186/s12911-026-03344-0.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pmc.ncbi.nlm.nih.gov/articles/PMC13150876/pdf/bmjhci-33-1.pdf" TargetMode="External"/><Relationship Id="rId5" Type="http://schemas.openxmlformats.org/officeDocument/2006/relationships/hyperlink" Target="https://arxiv.org/pdf/1903.10464" TargetMode="External"/><Relationship Id="rId4" Type="http://schemas.openxmlformats.org/officeDocument/2006/relationships/hyperlink" Target="https://arxiv.org/pdf/2603.22346"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home/claude/ref/ppt/media/image1.png"/>
          <p:cNvPicPr>
            <a:picLocks noChangeAspect="1"/>
          </p:cNvPicPr>
          <p:nvPr/>
        </p:nvPicPr>
        <p:blipFill>
          <a:blip r:embed="rId3"/>
          <a:stretch>
            <a:fillRect/>
          </a:stretch>
        </p:blipFill>
        <p:spPr>
          <a:xfrm>
            <a:off x="10332720" y="320040"/>
            <a:ext cx="1554480" cy="795528"/>
          </a:xfrm>
          <a:prstGeom prst="rect">
            <a:avLst/>
          </a:prstGeom>
        </p:spPr>
      </p:pic>
      <p:sp>
        <p:nvSpPr>
          <p:cNvPr id="4" name="Text 0"/>
          <p:cNvSpPr txBox="1"/>
          <p:nvPr/>
        </p:nvSpPr>
        <p:spPr>
          <a:xfrm>
            <a:off x="914400" y="1325880"/>
            <a:ext cx="10360152" cy="731520"/>
          </a:xfrm>
          <a:prstGeom prst="rect">
            <a:avLst/>
          </a:prstGeom>
          <a:noFill/>
          <a:ln/>
        </p:spPr>
        <p:txBody>
          <a:bodyPr wrap="square" lIns="63500" tIns="63500" rIns="63500" bIns="63500" rtlCol="0" anchor="ctr"/>
          <a:lstStyle/>
          <a:p>
            <a:pPr marL="0" indent="0" algn="ctr">
              <a:buNone/>
            </a:pPr>
            <a:r>
              <a:rPr lang="en-US" sz="3400" b="1" dirty="0">
                <a:solidFill>
                  <a:srgbClr val="D40000"/>
                </a:solidFill>
                <a:latin typeface="Times New Roman" pitchFamily="34" charset="0"/>
                <a:ea typeface="Times New Roman" pitchFamily="34" charset="-122"/>
                <a:cs typeface="Times New Roman" pitchFamily="34" charset="-120"/>
              </a:rPr>
              <a:t>UE24CS320A – Capstone Project Approval</a:t>
            </a:r>
            <a:endParaRPr lang="en-US" sz="3400" dirty="0"/>
          </a:p>
        </p:txBody>
      </p:sp>
      <p:sp>
        <p:nvSpPr>
          <p:cNvPr id="5" name="Text 1"/>
          <p:cNvSpPr txBox="1"/>
          <p:nvPr/>
        </p:nvSpPr>
        <p:spPr>
          <a:xfrm>
            <a:off x="1097280" y="2286000"/>
            <a:ext cx="9994392" cy="1188720"/>
          </a:xfrm>
          <a:prstGeom prst="rect">
            <a:avLst/>
          </a:prstGeom>
          <a:noFill/>
          <a:ln/>
        </p:spPr>
        <p:txBody>
          <a:bodyPr wrap="square" lIns="63500" tIns="63500" rIns="63500" bIns="63500" rtlCol="0" anchor="ctr"/>
          <a:lstStyle/>
          <a:p>
            <a:pPr marL="0" indent="0" algn="ctr">
              <a:buNone/>
            </a:pPr>
            <a:r>
              <a:rPr lang="en-US" sz="2600" b="1" dirty="0">
                <a:solidFill>
                  <a:srgbClr val="1A1A1A"/>
                </a:solidFill>
                <a:latin typeface="Arial" pitchFamily="34" charset="0"/>
                <a:ea typeface="Arial" pitchFamily="34" charset="-122"/>
                <a:cs typeface="Arial" pitchFamily="34" charset="-120"/>
              </a:rPr>
              <a:t>A Comparative Framework for Early Sepsis Prediction Using Ensemble and Explainable Deep Learning on ICU Data</a:t>
            </a:r>
            <a:endParaRPr lang="en-US" sz="2600" dirty="0"/>
          </a:p>
        </p:txBody>
      </p:sp>
      <p:sp>
        <p:nvSpPr>
          <p:cNvPr id="6" name="Text 2"/>
          <p:cNvSpPr txBox="1"/>
          <p:nvPr/>
        </p:nvSpPr>
        <p:spPr>
          <a:xfrm>
            <a:off x="1737360" y="3703320"/>
            <a:ext cx="9144000" cy="457200"/>
          </a:xfrm>
          <a:prstGeom prst="rect">
            <a:avLst/>
          </a:prstGeom>
          <a:noFill/>
          <a:ln/>
        </p:spPr>
        <p:txBody>
          <a:bodyPr wrap="square" lIns="63500" tIns="63500" rIns="63500" bIns="63500" rtlCol="0" anchor="t"/>
          <a:lstStyle/>
          <a:p>
            <a:pPr marL="0" indent="0">
              <a:buNone/>
            </a:pPr>
            <a:r>
              <a:rPr lang="en-US" sz="2200" b="1" dirty="0">
                <a:solidFill>
                  <a:srgbClr val="1A1A1A"/>
                </a:solidFill>
                <a:latin typeface="Times New Roman" pitchFamily="34" charset="0"/>
                <a:ea typeface="Times New Roman" pitchFamily="34" charset="-122"/>
                <a:cs typeface="Times New Roman" pitchFamily="34" charset="-120"/>
              </a:rPr>
              <a:t>Project Guide: </a:t>
            </a:r>
            <a:r>
              <a:rPr lang="en-US" sz="2200" dirty="0">
                <a:solidFill>
                  <a:srgbClr val="1A1A1A"/>
                </a:solidFill>
                <a:latin typeface="Times New Roman" pitchFamily="34" charset="0"/>
                <a:ea typeface="Times New Roman" pitchFamily="34" charset="-122"/>
                <a:cs typeface="Times New Roman" pitchFamily="34" charset="-120"/>
              </a:rPr>
              <a:t>Prof. Lakshmi Satya Vani N        </a:t>
            </a:r>
            <a:r>
              <a:rPr lang="en-US" sz="2200" b="1" dirty="0">
                <a:solidFill>
                  <a:srgbClr val="1A1A1A"/>
                </a:solidFill>
                <a:latin typeface="Times New Roman" pitchFamily="34" charset="0"/>
                <a:ea typeface="Times New Roman" pitchFamily="34" charset="-122"/>
                <a:cs typeface="Times New Roman" pitchFamily="34" charset="-120"/>
              </a:rPr>
              <a:t>Project ID: </a:t>
            </a:r>
            <a:r>
              <a:rPr lang="en-US" sz="2200" dirty="0">
                <a:solidFill>
                  <a:srgbClr val="1A1A1A"/>
                </a:solidFill>
                <a:latin typeface="Times New Roman" pitchFamily="34" charset="0"/>
                <a:ea typeface="Times New Roman" pitchFamily="34" charset="-122"/>
                <a:cs typeface="Times New Roman" pitchFamily="34" charset="-120"/>
              </a:rPr>
              <a:t>186</a:t>
            </a:r>
            <a:endParaRPr lang="en-US" sz="2200" dirty="0"/>
          </a:p>
        </p:txBody>
      </p:sp>
      <p:sp>
        <p:nvSpPr>
          <p:cNvPr id="7" name="Text 3"/>
          <p:cNvSpPr txBox="1"/>
          <p:nvPr/>
        </p:nvSpPr>
        <p:spPr>
          <a:xfrm>
            <a:off x="1737360" y="4297680"/>
            <a:ext cx="4572000" cy="411480"/>
          </a:xfrm>
          <a:prstGeom prst="rect">
            <a:avLst/>
          </a:prstGeom>
          <a:noFill/>
          <a:ln/>
        </p:spPr>
        <p:txBody>
          <a:bodyPr wrap="square" lIns="63500" tIns="63500" rIns="63500" bIns="63500" rtlCol="0" anchor="t"/>
          <a:lstStyle/>
          <a:p>
            <a:pPr marL="0" indent="0">
              <a:buNone/>
            </a:pPr>
            <a:r>
              <a:rPr lang="en-US" sz="2200" b="1" dirty="0">
                <a:solidFill>
                  <a:srgbClr val="1A1A1A"/>
                </a:solidFill>
                <a:latin typeface="Times New Roman" pitchFamily="34" charset="0"/>
                <a:ea typeface="Times New Roman" pitchFamily="34" charset="-122"/>
                <a:cs typeface="Times New Roman" pitchFamily="34" charset="-120"/>
              </a:rPr>
              <a:t>Project Team:</a:t>
            </a:r>
            <a:endParaRPr lang="en-US" sz="2200" dirty="0"/>
          </a:p>
        </p:txBody>
      </p:sp>
      <p:sp>
        <p:nvSpPr>
          <p:cNvPr id="8" name="Text 4"/>
          <p:cNvSpPr txBox="1"/>
          <p:nvPr/>
        </p:nvSpPr>
        <p:spPr>
          <a:xfrm>
            <a:off x="1737360" y="4709160"/>
            <a:ext cx="384048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Kiran BG</a:t>
            </a:r>
            <a:endParaRPr lang="en-US" sz="2000" dirty="0"/>
          </a:p>
        </p:txBody>
      </p:sp>
      <p:sp>
        <p:nvSpPr>
          <p:cNvPr id="9" name="Text 5"/>
          <p:cNvSpPr txBox="1"/>
          <p:nvPr/>
        </p:nvSpPr>
        <p:spPr>
          <a:xfrm>
            <a:off x="5669280" y="4709160"/>
            <a:ext cx="45720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a:t>
            </a:r>
            <a:endParaRPr lang="en-US" sz="2000" dirty="0"/>
          </a:p>
        </p:txBody>
      </p:sp>
      <p:sp>
        <p:nvSpPr>
          <p:cNvPr id="10" name="Text 6"/>
          <p:cNvSpPr txBox="1"/>
          <p:nvPr/>
        </p:nvSpPr>
        <p:spPr>
          <a:xfrm>
            <a:off x="6400800" y="4709160"/>
            <a:ext cx="365760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PES2UG24CS227</a:t>
            </a:r>
            <a:endParaRPr lang="en-US" sz="2000" dirty="0"/>
          </a:p>
        </p:txBody>
      </p:sp>
      <p:sp>
        <p:nvSpPr>
          <p:cNvPr id="11" name="Text 7"/>
          <p:cNvSpPr txBox="1"/>
          <p:nvPr/>
        </p:nvSpPr>
        <p:spPr>
          <a:xfrm>
            <a:off x="1737360" y="5093208"/>
            <a:ext cx="384048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Mohammad Anan</a:t>
            </a:r>
            <a:endParaRPr lang="en-US" sz="2000" dirty="0"/>
          </a:p>
        </p:txBody>
      </p:sp>
      <p:sp>
        <p:nvSpPr>
          <p:cNvPr id="12" name="Text 8"/>
          <p:cNvSpPr txBox="1"/>
          <p:nvPr/>
        </p:nvSpPr>
        <p:spPr>
          <a:xfrm>
            <a:off x="5669280" y="5093208"/>
            <a:ext cx="45720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a:t>
            </a:r>
            <a:endParaRPr lang="en-US" sz="2000" dirty="0"/>
          </a:p>
        </p:txBody>
      </p:sp>
      <p:sp>
        <p:nvSpPr>
          <p:cNvPr id="13" name="Text 9"/>
          <p:cNvSpPr txBox="1"/>
          <p:nvPr/>
        </p:nvSpPr>
        <p:spPr>
          <a:xfrm>
            <a:off x="6400800" y="5093208"/>
            <a:ext cx="365760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PES2UG24CS278</a:t>
            </a:r>
            <a:endParaRPr lang="en-US" sz="2000" dirty="0"/>
          </a:p>
        </p:txBody>
      </p:sp>
      <p:sp>
        <p:nvSpPr>
          <p:cNvPr id="14" name="Text 10"/>
          <p:cNvSpPr txBox="1"/>
          <p:nvPr/>
        </p:nvSpPr>
        <p:spPr>
          <a:xfrm>
            <a:off x="1737360" y="5477256"/>
            <a:ext cx="384048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Ibrahim Khaleel</a:t>
            </a:r>
            <a:endParaRPr lang="en-US" sz="2000" dirty="0"/>
          </a:p>
        </p:txBody>
      </p:sp>
      <p:sp>
        <p:nvSpPr>
          <p:cNvPr id="15" name="Text 11"/>
          <p:cNvSpPr txBox="1"/>
          <p:nvPr/>
        </p:nvSpPr>
        <p:spPr>
          <a:xfrm>
            <a:off x="5669280" y="5477256"/>
            <a:ext cx="45720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a:t>
            </a:r>
            <a:endParaRPr lang="en-US" sz="2000" dirty="0"/>
          </a:p>
        </p:txBody>
      </p:sp>
      <p:sp>
        <p:nvSpPr>
          <p:cNvPr id="16" name="Text 12"/>
          <p:cNvSpPr txBox="1"/>
          <p:nvPr/>
        </p:nvSpPr>
        <p:spPr>
          <a:xfrm>
            <a:off x="6400800" y="5477256"/>
            <a:ext cx="365760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PES2UG24CS809</a:t>
            </a:r>
            <a:endParaRPr lang="en-US" sz="2000" dirty="0"/>
          </a:p>
        </p:txBody>
      </p:sp>
      <p:sp>
        <p:nvSpPr>
          <p:cNvPr id="17" name="Text 13"/>
          <p:cNvSpPr txBox="1"/>
          <p:nvPr/>
        </p:nvSpPr>
        <p:spPr>
          <a:xfrm>
            <a:off x="1737360" y="5861304"/>
            <a:ext cx="384048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Nikhil KR</a:t>
            </a:r>
            <a:endParaRPr lang="en-US" sz="2000" dirty="0"/>
          </a:p>
        </p:txBody>
      </p:sp>
      <p:sp>
        <p:nvSpPr>
          <p:cNvPr id="18" name="Text 14"/>
          <p:cNvSpPr txBox="1"/>
          <p:nvPr/>
        </p:nvSpPr>
        <p:spPr>
          <a:xfrm>
            <a:off x="5669280" y="5861304"/>
            <a:ext cx="45720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a:t>
            </a:r>
            <a:endParaRPr lang="en-US" sz="2000" dirty="0"/>
          </a:p>
        </p:txBody>
      </p:sp>
      <p:sp>
        <p:nvSpPr>
          <p:cNvPr id="19" name="Text 15"/>
          <p:cNvSpPr txBox="1"/>
          <p:nvPr/>
        </p:nvSpPr>
        <p:spPr>
          <a:xfrm>
            <a:off x="6400800" y="5861304"/>
            <a:ext cx="3657600" cy="384048"/>
          </a:xfrm>
          <a:prstGeom prst="rect">
            <a:avLst/>
          </a:prstGeom>
          <a:noFill/>
          <a:ln/>
        </p:spPr>
        <p:txBody>
          <a:bodyPr wrap="square" lIns="63500" tIns="63500" rIns="63500" bIns="6350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PES2UG25CS815</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Outline</a:t>
            </a:r>
            <a:endParaRPr lang="en-US" sz="2400" dirty="0"/>
          </a:p>
        </p:txBody>
      </p:sp>
      <p:sp>
        <p:nvSpPr>
          <p:cNvPr id="4" name="Text 1"/>
          <p:cNvSpPr/>
          <p:nvPr/>
        </p:nvSpPr>
        <p:spPr>
          <a:xfrm>
            <a:off x="822960" y="1874520"/>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5" name="Text 2"/>
          <p:cNvSpPr txBox="1"/>
          <p:nvPr/>
        </p:nvSpPr>
        <p:spPr>
          <a:xfrm>
            <a:off x="1508760" y="1828800"/>
            <a:ext cx="4663440" cy="594360"/>
          </a:xfrm>
          <a:prstGeom prst="rect">
            <a:avLst/>
          </a:prstGeom>
          <a:noFill/>
          <a:ln/>
        </p:spPr>
        <p:txBody>
          <a:bodyPr wrap="square" lIns="63500" tIns="63500" rIns="63500" bIns="63500" rtlCol="0" anchor="ctr"/>
          <a:lstStyle/>
          <a:p>
            <a:r>
              <a:rPr lang="en-US" sz="1800" dirty="0">
                <a:solidFill>
                  <a:srgbClr val="1A1A1A"/>
                </a:solidFill>
                <a:latin typeface="Times New Roman" pitchFamily="34" charset="0"/>
                <a:ea typeface="Times New Roman" pitchFamily="34" charset="-122"/>
                <a:cs typeface="Times New Roman" pitchFamily="34" charset="-120"/>
              </a:rPr>
              <a:t>Problem Statement</a:t>
            </a:r>
            <a:endParaRPr lang="en-US" sz="1800" dirty="0"/>
          </a:p>
        </p:txBody>
      </p:sp>
      <p:sp>
        <p:nvSpPr>
          <p:cNvPr id="6" name="Text 3"/>
          <p:cNvSpPr/>
          <p:nvPr/>
        </p:nvSpPr>
        <p:spPr>
          <a:xfrm>
            <a:off x="822960" y="2624328"/>
            <a:ext cx="502920" cy="502920"/>
          </a:xfrm>
          <a:prstGeom prst="ellipse">
            <a:avLst/>
          </a:prstGeom>
          <a:solidFill>
            <a:srgbClr val="2CC5C5"/>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7" name="Text 4"/>
          <p:cNvSpPr txBox="1"/>
          <p:nvPr/>
        </p:nvSpPr>
        <p:spPr>
          <a:xfrm>
            <a:off x="1508760" y="2578608"/>
            <a:ext cx="4663440" cy="59436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Motivation</a:t>
            </a:r>
            <a:endParaRPr lang="en-US" sz="1800" dirty="0"/>
          </a:p>
        </p:txBody>
      </p:sp>
      <p:sp>
        <p:nvSpPr>
          <p:cNvPr id="8" name="Text 5"/>
          <p:cNvSpPr/>
          <p:nvPr/>
        </p:nvSpPr>
        <p:spPr>
          <a:xfrm>
            <a:off x="822960" y="3374136"/>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9" name="Text 6"/>
          <p:cNvSpPr txBox="1"/>
          <p:nvPr/>
        </p:nvSpPr>
        <p:spPr>
          <a:xfrm>
            <a:off x="1508760" y="3328416"/>
            <a:ext cx="4663440" cy="59436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Scope and Feasibility study</a:t>
            </a:r>
            <a:endParaRPr lang="en-US" sz="1800" dirty="0"/>
          </a:p>
        </p:txBody>
      </p:sp>
      <p:sp>
        <p:nvSpPr>
          <p:cNvPr id="10" name="Text 7"/>
          <p:cNvSpPr/>
          <p:nvPr/>
        </p:nvSpPr>
        <p:spPr>
          <a:xfrm>
            <a:off x="822960" y="4123944"/>
            <a:ext cx="502920" cy="502920"/>
          </a:xfrm>
          <a:prstGeom prst="ellipse">
            <a:avLst/>
          </a:prstGeom>
          <a:solidFill>
            <a:srgbClr val="2CC5C5"/>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12" name="Text 9"/>
          <p:cNvSpPr/>
          <p:nvPr/>
        </p:nvSpPr>
        <p:spPr>
          <a:xfrm>
            <a:off x="822960" y="4873752"/>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5</a:t>
            </a:r>
            <a:endParaRPr lang="en-US" sz="1800" dirty="0"/>
          </a:p>
        </p:txBody>
      </p:sp>
      <p:sp>
        <p:nvSpPr>
          <p:cNvPr id="13" name="Text 10"/>
          <p:cNvSpPr txBox="1"/>
          <p:nvPr/>
        </p:nvSpPr>
        <p:spPr>
          <a:xfrm>
            <a:off x="1508760" y="4828032"/>
            <a:ext cx="4663440" cy="59436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Literature Study</a:t>
            </a:r>
            <a:endParaRPr lang="en-US" sz="1800" dirty="0"/>
          </a:p>
        </p:txBody>
      </p:sp>
      <p:sp>
        <p:nvSpPr>
          <p:cNvPr id="14" name="Text 11"/>
          <p:cNvSpPr/>
          <p:nvPr/>
        </p:nvSpPr>
        <p:spPr>
          <a:xfrm>
            <a:off x="822960" y="5623560"/>
            <a:ext cx="502920" cy="502920"/>
          </a:xfrm>
          <a:prstGeom prst="ellipse">
            <a:avLst/>
          </a:prstGeom>
          <a:solidFill>
            <a:srgbClr val="2CC5C5"/>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6</a:t>
            </a:r>
            <a:endParaRPr lang="en-US" sz="1800" dirty="0"/>
          </a:p>
        </p:txBody>
      </p:sp>
      <p:sp>
        <p:nvSpPr>
          <p:cNvPr id="15" name="Text 12"/>
          <p:cNvSpPr txBox="1"/>
          <p:nvPr/>
        </p:nvSpPr>
        <p:spPr>
          <a:xfrm>
            <a:off x="1508760" y="5577840"/>
            <a:ext cx="4663440" cy="59436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Proposed Approach</a:t>
            </a:r>
            <a:endParaRPr lang="en-US" sz="1800" dirty="0"/>
          </a:p>
        </p:txBody>
      </p:sp>
      <p:sp>
        <p:nvSpPr>
          <p:cNvPr id="16" name="Text 13"/>
          <p:cNvSpPr/>
          <p:nvPr/>
        </p:nvSpPr>
        <p:spPr>
          <a:xfrm>
            <a:off x="6400800" y="1874520"/>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7</a:t>
            </a:r>
            <a:endParaRPr lang="en-US" sz="1800" dirty="0"/>
          </a:p>
        </p:txBody>
      </p:sp>
      <p:sp>
        <p:nvSpPr>
          <p:cNvPr id="17" name="Text 14"/>
          <p:cNvSpPr txBox="1"/>
          <p:nvPr/>
        </p:nvSpPr>
        <p:spPr>
          <a:xfrm>
            <a:off x="7086600" y="1828800"/>
            <a:ext cx="4663440" cy="59436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Reliability Layer (Detect, Diagnose, Mitigate, Abstain)</a:t>
            </a:r>
            <a:endParaRPr lang="en-US" sz="1800" dirty="0"/>
          </a:p>
        </p:txBody>
      </p:sp>
      <p:sp>
        <p:nvSpPr>
          <p:cNvPr id="18" name="Text 15"/>
          <p:cNvSpPr/>
          <p:nvPr/>
        </p:nvSpPr>
        <p:spPr>
          <a:xfrm>
            <a:off x="6400800" y="2624328"/>
            <a:ext cx="502920" cy="502920"/>
          </a:xfrm>
          <a:prstGeom prst="ellipse">
            <a:avLst/>
          </a:prstGeom>
          <a:solidFill>
            <a:srgbClr val="2CC5C5"/>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8</a:t>
            </a:r>
            <a:endParaRPr lang="en-US" sz="1800" dirty="0"/>
          </a:p>
        </p:txBody>
      </p:sp>
      <p:sp>
        <p:nvSpPr>
          <p:cNvPr id="19" name="Text 16"/>
          <p:cNvSpPr txBox="1"/>
          <p:nvPr/>
        </p:nvSpPr>
        <p:spPr>
          <a:xfrm>
            <a:off x="1508760" y="4017202"/>
            <a:ext cx="4663440" cy="594360"/>
          </a:xfrm>
          <a:prstGeom prst="rect">
            <a:avLst/>
          </a:prstGeom>
          <a:noFill/>
          <a:ln/>
        </p:spPr>
        <p:txBody>
          <a:bodyPr wrap="square" lIns="63500" tIns="63500" rIns="63500" bIns="63500" rtlCol="0" anchor="ctr"/>
          <a:lstStyle/>
          <a:p>
            <a:pPr marL="0" indent="0">
              <a:buNone/>
            </a:pPr>
            <a:r>
              <a:rPr lang="en-US" dirty="0"/>
              <a:t>Applications / Use cases</a:t>
            </a:r>
          </a:p>
        </p:txBody>
      </p:sp>
      <p:sp>
        <p:nvSpPr>
          <p:cNvPr id="20" name="Text 17"/>
          <p:cNvSpPr/>
          <p:nvPr/>
        </p:nvSpPr>
        <p:spPr>
          <a:xfrm>
            <a:off x="6400800" y="3374136"/>
            <a:ext cx="502920" cy="502920"/>
          </a:xfrm>
          <a:prstGeom prst="ellipse">
            <a:avLst/>
          </a:prstGeom>
          <a:solidFill>
            <a:srgbClr val="0033CC"/>
          </a:solid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9</a:t>
            </a:r>
            <a:endParaRPr lang="en-US" sz="1800" dirty="0"/>
          </a:p>
        </p:txBody>
      </p:sp>
      <p:sp>
        <p:nvSpPr>
          <p:cNvPr id="21" name="Text 18"/>
          <p:cNvSpPr txBox="1"/>
          <p:nvPr/>
        </p:nvSpPr>
        <p:spPr>
          <a:xfrm>
            <a:off x="7086600" y="2569464"/>
            <a:ext cx="4663440" cy="59436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Expected Deliverables</a:t>
            </a:r>
            <a:endParaRPr lang="en-US" sz="1800" dirty="0"/>
          </a:p>
        </p:txBody>
      </p:sp>
      <p:sp>
        <p:nvSpPr>
          <p:cNvPr id="23" name="Text 20"/>
          <p:cNvSpPr txBox="1"/>
          <p:nvPr/>
        </p:nvSpPr>
        <p:spPr>
          <a:xfrm>
            <a:off x="7086600" y="3315727"/>
            <a:ext cx="4663440" cy="59436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Capstone (Phase-I, II &amp; III) Timeline</a:t>
            </a:r>
            <a:endParaRPr lang="en-US" sz="1800" dirty="0"/>
          </a:p>
        </p:txBody>
      </p:sp>
      <p:sp>
        <p:nvSpPr>
          <p:cNvPr id="27" name="Text 24"/>
          <p:cNvSpPr txBox="1"/>
          <p:nvPr/>
        </p:nvSpPr>
        <p:spPr>
          <a:xfrm>
            <a:off x="7086600" y="4017202"/>
            <a:ext cx="4663440" cy="594360"/>
          </a:xfrm>
          <a:prstGeom prst="rect">
            <a:avLst/>
          </a:prstGeom>
          <a:noFill/>
          <a:ln/>
        </p:spPr>
        <p:txBody>
          <a:bodyPr wrap="square" lIns="63500" tIns="63500" rIns="63500" bIns="63500" rtlCol="0" anchor="ctr"/>
          <a:lstStyle/>
          <a:p>
            <a:pPr marL="0" indent="0">
              <a:buNone/>
            </a:pPr>
            <a:r>
              <a:rPr lang="en-US" sz="1800" dirty="0">
                <a:solidFill>
                  <a:srgbClr val="1A1A1A"/>
                </a:solidFill>
                <a:latin typeface="Times New Roman" pitchFamily="34" charset="0"/>
                <a:ea typeface="Times New Roman" pitchFamily="34" charset="-122"/>
                <a:cs typeface="Times New Roman" pitchFamily="34" charset="-120"/>
              </a:rPr>
              <a:t>Novelty and References</a:t>
            </a:r>
            <a:endParaRPr lang="en-US" sz="1800" dirty="0"/>
          </a:p>
        </p:txBody>
      </p:sp>
      <p:sp>
        <p:nvSpPr>
          <p:cNvPr id="24" name="Text 15">
            <a:extLst>
              <a:ext uri="{FF2B5EF4-FFF2-40B4-BE49-F238E27FC236}">
                <a16:creationId xmlns:a16="http://schemas.microsoft.com/office/drawing/2014/main" id="{845DDE76-F97A-3ED8-3991-887009B6C874}"/>
              </a:ext>
            </a:extLst>
          </p:cNvPr>
          <p:cNvSpPr/>
          <p:nvPr/>
        </p:nvSpPr>
        <p:spPr>
          <a:xfrm>
            <a:off x="6400800" y="4129480"/>
            <a:ext cx="502920" cy="502920"/>
          </a:xfrm>
          <a:prstGeom prst="ellipse">
            <a:avLst/>
          </a:prstGeom>
          <a:solidFill>
            <a:srgbClr val="2CC5C5"/>
          </a:solidFill>
          <a:ln/>
        </p:spPr>
        <p:txBody>
          <a:bodyPr wrap="square" rtlCol="0" anchor="ctr"/>
          <a:lstStyle/>
          <a:p>
            <a:pPr marL="0" indent="0" algn="ctr">
              <a:buNone/>
            </a:pPr>
            <a:endParaRPr lang="en-US" sz="1800" dirty="0"/>
          </a:p>
        </p:txBody>
      </p:sp>
      <p:sp>
        <p:nvSpPr>
          <p:cNvPr id="26" name="TextBox 25">
            <a:extLst>
              <a:ext uri="{FF2B5EF4-FFF2-40B4-BE49-F238E27FC236}">
                <a16:creationId xmlns:a16="http://schemas.microsoft.com/office/drawing/2014/main" id="{33470F58-FFFF-B926-D6F6-0BE0B8944075}"/>
              </a:ext>
            </a:extLst>
          </p:cNvPr>
          <p:cNvSpPr txBox="1"/>
          <p:nvPr/>
        </p:nvSpPr>
        <p:spPr>
          <a:xfrm>
            <a:off x="6466750" y="4206127"/>
            <a:ext cx="389850" cy="338554"/>
          </a:xfrm>
          <a:prstGeom prst="rect">
            <a:avLst/>
          </a:prstGeom>
          <a:noFill/>
        </p:spPr>
        <p:txBody>
          <a:bodyPr wrap="none" rtlCol="0">
            <a:spAutoFit/>
          </a:bodyPr>
          <a:lstStyle/>
          <a:p>
            <a:r>
              <a:rPr lang="en-US" sz="1600" b="1" dirty="0">
                <a:solidFill>
                  <a:schemeClr val="bg1"/>
                </a:solidFill>
              </a:rPr>
              <a:t>10</a:t>
            </a:r>
            <a:endParaRPr lang="en-IN" sz="16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Problem Statement</a:t>
            </a:r>
            <a:endParaRPr lang="en-US" sz="2400" dirty="0"/>
          </a:p>
        </p:txBody>
      </p:sp>
      <p:sp>
        <p:nvSpPr>
          <p:cNvPr id="4" name="Text 1"/>
          <p:cNvSpPr txBox="1"/>
          <p:nvPr/>
        </p:nvSpPr>
        <p:spPr>
          <a:xfrm>
            <a:off x="329184" y="1783080"/>
            <a:ext cx="6309360" cy="3566160"/>
          </a:xfrm>
          <a:prstGeom prst="rect">
            <a:avLst/>
          </a:prstGeom>
          <a:noFill/>
          <a:ln/>
        </p:spPr>
        <p:txBody>
          <a:bodyPr wrap="square" lIns="63500" tIns="63500" rIns="63500" bIns="63500" rtlCol="0" anchor="t"/>
          <a:lstStyle/>
          <a:p>
            <a:pPr marL="342900" indent="-342900">
              <a:spcAft>
                <a:spcPts val="6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Sepsis is the body's extreme reaction to an infection that damages its own organs. Mortality rises every hour treatment is delayed, so </a:t>
            </a:r>
            <a:r>
              <a:rPr lang="en-US" sz="1700" b="1" dirty="0">
                <a:solidFill>
                  <a:srgbClr val="1A1A1A"/>
                </a:solidFill>
                <a:latin typeface="Times New Roman" pitchFamily="34" charset="0"/>
                <a:ea typeface="Times New Roman" pitchFamily="34" charset="-122"/>
                <a:cs typeface="Times New Roman" pitchFamily="34" charset="-120"/>
              </a:rPr>
              <a:t>early prediction</a:t>
            </a:r>
            <a:r>
              <a:rPr lang="en-US" sz="1700" dirty="0">
                <a:solidFill>
                  <a:srgbClr val="1A1A1A"/>
                </a:solidFill>
                <a:latin typeface="Times New Roman" pitchFamily="34" charset="0"/>
                <a:ea typeface="Times New Roman" pitchFamily="34" charset="-122"/>
                <a:cs typeface="Times New Roman" pitchFamily="34" charset="-120"/>
              </a:rPr>
              <a:t> 6 to 12 hours before onset is critical. Models already reach </a:t>
            </a:r>
            <a:r>
              <a:rPr lang="en-US" sz="1700" b="1" dirty="0">
                <a:solidFill>
                  <a:srgbClr val="1A1A1A"/>
                </a:solidFill>
                <a:latin typeface="Times New Roman" pitchFamily="34" charset="0"/>
                <a:ea typeface="Times New Roman" pitchFamily="34" charset="-122"/>
                <a:cs typeface="Times New Roman" pitchFamily="34" charset="-120"/>
              </a:rPr>
              <a:t>AUROC 0.85–0.91</a:t>
            </a:r>
            <a:r>
              <a:rPr lang="en-US" sz="1700" dirty="0">
                <a:solidFill>
                  <a:srgbClr val="1A1A1A"/>
                </a:solidFill>
                <a:latin typeface="Times New Roman" pitchFamily="34" charset="0"/>
                <a:ea typeface="Times New Roman" pitchFamily="34" charset="-122"/>
                <a:cs typeface="Times New Roman" pitchFamily="34" charset="-120"/>
              </a:rPr>
              <a:t> (ensemble) and about 0.85 (LSTM), with </a:t>
            </a:r>
            <a:r>
              <a:rPr lang="en-US" sz="1700" b="1" dirty="0">
                <a:solidFill>
                  <a:srgbClr val="1A1A1A"/>
                </a:solidFill>
                <a:latin typeface="Times New Roman" pitchFamily="34" charset="0"/>
                <a:ea typeface="Times New Roman" pitchFamily="34" charset="-122"/>
                <a:cs typeface="Times New Roman" pitchFamily="34" charset="-120"/>
              </a:rPr>
              <a:t>SHAP</a:t>
            </a:r>
            <a:r>
              <a:rPr lang="en-US" sz="1700" dirty="0">
                <a:solidFill>
                  <a:srgbClr val="1A1A1A"/>
                </a:solidFill>
                <a:latin typeface="Times New Roman" pitchFamily="34" charset="0"/>
                <a:ea typeface="Times New Roman" pitchFamily="34" charset="-122"/>
                <a:cs typeface="Times New Roman" pitchFamily="34" charset="-120"/>
              </a:rPr>
              <a:t> as the default explanation.</a:t>
            </a:r>
            <a:endParaRPr lang="en-US" sz="1700" dirty="0"/>
          </a:p>
          <a:p>
            <a:pPr marL="342900" indent="-342900">
              <a:spcAft>
                <a:spcPts val="600"/>
              </a:spcAft>
              <a:buSzPct val="100000"/>
              <a:buChar char="•"/>
            </a:pPr>
            <a:r>
              <a:rPr lang="en-US" sz="1700" dirty="0">
                <a:solidFill>
                  <a:srgbClr val="1A1A1A"/>
                </a:solidFill>
                <a:latin typeface="Times New Roman" pitchFamily="34" charset="0"/>
                <a:ea typeface="Times New Roman" pitchFamily="34" charset="-122"/>
                <a:cs typeface="Times New Roman" pitchFamily="34" charset="-120"/>
              </a:rPr>
              <a:t>Two gaps remain: ensemble and deep-learning models are </a:t>
            </a:r>
            <a:r>
              <a:rPr lang="en-US" sz="1700" b="1" dirty="0">
                <a:solidFill>
                  <a:srgbClr val="1A1A1A"/>
                </a:solidFill>
                <a:latin typeface="Times New Roman" pitchFamily="34" charset="0"/>
                <a:ea typeface="Times New Roman" pitchFamily="34" charset="-122"/>
                <a:cs typeface="Times New Roman" pitchFamily="34" charset="-120"/>
              </a:rPr>
              <a:t>compared on different datasets and protocols</a:t>
            </a:r>
            <a:r>
              <a:rPr lang="en-US" sz="1700" dirty="0">
                <a:solidFill>
                  <a:srgbClr val="1A1A1A"/>
                </a:solidFill>
                <a:latin typeface="Times New Roman" pitchFamily="34" charset="0"/>
                <a:ea typeface="Times New Roman" pitchFamily="34" charset="-122"/>
                <a:cs typeface="Times New Roman" pitchFamily="34" charset="-120"/>
              </a:rPr>
              <a:t>, and </a:t>
            </a:r>
            <a:r>
              <a:rPr lang="en-US" sz="1700" b="1" dirty="0">
                <a:solidFill>
                  <a:srgbClr val="1A1A1A"/>
                </a:solidFill>
                <a:latin typeface="Times New Roman" pitchFamily="34" charset="0"/>
                <a:ea typeface="Times New Roman" pitchFamily="34" charset="-122"/>
                <a:cs typeface="Times New Roman" pitchFamily="34" charset="-120"/>
              </a:rPr>
              <a:t>no study checks whether SHAP explanations are stable, faithful and robust</a:t>
            </a:r>
            <a:r>
              <a:rPr lang="en-US" sz="1700" dirty="0">
                <a:solidFill>
                  <a:srgbClr val="1A1A1A"/>
                </a:solidFill>
                <a:latin typeface="Times New Roman" pitchFamily="34" charset="0"/>
                <a:ea typeface="Times New Roman" pitchFamily="34" charset="-122"/>
                <a:cs typeface="Times New Roman" pitchFamily="34" charset="-120"/>
              </a:rPr>
              <a:t> when features are correlated and labs are 85–95% missing.</a:t>
            </a:r>
            <a:endParaRPr lang="en-US" sz="1700" dirty="0"/>
          </a:p>
        </p:txBody>
      </p:sp>
      <p:sp>
        <p:nvSpPr>
          <p:cNvPr id="5" name="Shape 2"/>
          <p:cNvSpPr/>
          <p:nvPr/>
        </p:nvSpPr>
        <p:spPr>
          <a:xfrm>
            <a:off x="6858000" y="1783080"/>
            <a:ext cx="5001768" cy="1874520"/>
          </a:xfrm>
          <a:prstGeom prst="roundRect">
            <a:avLst>
              <a:gd name="adj" fmla="val 4878"/>
            </a:avLst>
          </a:prstGeom>
          <a:solidFill>
            <a:srgbClr val="EEF3FC"/>
          </a:solidFill>
          <a:ln w="15875">
            <a:solidFill>
              <a:srgbClr val="DCE4F5"/>
            </a:solidFill>
            <a:prstDash val="solid"/>
          </a:ln>
        </p:spPr>
      </p:sp>
      <p:sp>
        <p:nvSpPr>
          <p:cNvPr id="6" name="Text 3"/>
          <p:cNvSpPr txBox="1"/>
          <p:nvPr/>
        </p:nvSpPr>
        <p:spPr>
          <a:xfrm>
            <a:off x="6949440" y="1828800"/>
            <a:ext cx="4754880" cy="411480"/>
          </a:xfrm>
          <a:prstGeom prst="rect">
            <a:avLst/>
          </a:prstGeom>
          <a:noFill/>
          <a:ln/>
        </p:spPr>
        <p:txBody>
          <a:bodyPr wrap="square" lIns="63500" tIns="63500" rIns="63500" bIns="63500" rtlCol="0" anchor="t"/>
          <a:lstStyle/>
          <a:p>
            <a:pPr marL="0" indent="0">
              <a:buNone/>
            </a:pPr>
            <a:r>
              <a:rPr lang="en-US" sz="1800" b="1" dirty="0">
                <a:solidFill>
                  <a:srgbClr val="1A1A1A"/>
                </a:solidFill>
                <a:latin typeface="Times New Roman" pitchFamily="34" charset="0"/>
                <a:ea typeface="Times New Roman" pitchFamily="34" charset="-122"/>
                <a:cs typeface="Times New Roman" pitchFamily="34" charset="-120"/>
              </a:rPr>
              <a:t>Current practice</a:t>
            </a:r>
            <a:endParaRPr lang="en-US" sz="1800" dirty="0"/>
          </a:p>
        </p:txBody>
      </p:sp>
      <p:sp>
        <p:nvSpPr>
          <p:cNvPr id="7" name="Text 4"/>
          <p:cNvSpPr/>
          <p:nvPr/>
        </p:nvSpPr>
        <p:spPr>
          <a:xfrm>
            <a:off x="6967728" y="2286000"/>
            <a:ext cx="1463040" cy="1234440"/>
          </a:xfrm>
          <a:prstGeom prst="roundRect">
            <a:avLst>
              <a:gd name="adj" fmla="val 7407"/>
            </a:avLst>
          </a:prstGeom>
          <a:solidFill>
            <a:srgbClr val="FFFFFF"/>
          </a:solidFill>
          <a:ln w="12700">
            <a:solidFill>
              <a:srgbClr val="D40000"/>
            </a:solidFill>
          </a:ln>
        </p:spPr>
        <p:txBody>
          <a:bodyPr wrap="square" lIns="38100" tIns="38100" rIns="38100" bIns="38100" rtlCol="0" anchor="ctr"/>
          <a:lstStyle/>
          <a:p>
            <a:pPr marL="0" indent="0" algn="ctr">
              <a:buNone/>
            </a:pPr>
            <a:r>
              <a:rPr lang="en-US" sz="1400" b="1" dirty="0">
                <a:solidFill>
                  <a:srgbClr val="D40000"/>
                </a:solidFill>
                <a:latin typeface="Times New Roman" pitchFamily="34" charset="0"/>
                <a:ea typeface="Times New Roman" pitchFamily="34" charset="-122"/>
                <a:cs typeface="Times New Roman" pitchFamily="34" charset="-120"/>
              </a:rPr>
              <a:t>Ensemble</a:t>
            </a:r>
            <a:endParaRPr lang="en-US" sz="1400" dirty="0"/>
          </a:p>
          <a:p>
            <a:pPr marL="0" indent="0" algn="ctr">
              <a:buNone/>
            </a:pPr>
            <a:r>
              <a:rPr lang="en-US" sz="1300" dirty="0">
                <a:solidFill>
                  <a:srgbClr val="1A1A1A"/>
                </a:solidFill>
                <a:latin typeface="Times New Roman" pitchFamily="34" charset="0"/>
                <a:ea typeface="Times New Roman" pitchFamily="34" charset="-122"/>
                <a:cs typeface="Times New Roman" pitchFamily="34" charset="-120"/>
              </a:rPr>
              <a:t>XGBoost, RF</a:t>
            </a:r>
            <a:endParaRPr lang="en-US" sz="14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AUROC 0.85–0.91</a:t>
            </a:r>
            <a:endParaRPr lang="en-US" sz="1400" dirty="0"/>
          </a:p>
        </p:txBody>
      </p:sp>
      <p:sp>
        <p:nvSpPr>
          <p:cNvPr id="8" name="Text 5"/>
          <p:cNvSpPr/>
          <p:nvPr/>
        </p:nvSpPr>
        <p:spPr>
          <a:xfrm>
            <a:off x="8567928" y="2286000"/>
            <a:ext cx="1463040" cy="1234440"/>
          </a:xfrm>
          <a:prstGeom prst="roundRect">
            <a:avLst>
              <a:gd name="adj" fmla="val 7407"/>
            </a:avLst>
          </a:prstGeom>
          <a:solidFill>
            <a:srgbClr val="FFFFFF"/>
          </a:solidFill>
          <a:ln w="12700">
            <a:solidFill>
              <a:srgbClr val="E08A00"/>
            </a:solidFill>
          </a:ln>
        </p:spPr>
        <p:txBody>
          <a:bodyPr wrap="square" lIns="38100" tIns="38100" rIns="38100" bIns="38100" rtlCol="0" anchor="ctr"/>
          <a:lstStyle/>
          <a:p>
            <a:pPr marL="0" indent="0" algn="ctr">
              <a:buNone/>
            </a:pPr>
            <a:r>
              <a:rPr lang="en-US" sz="1400" b="1" dirty="0">
                <a:solidFill>
                  <a:srgbClr val="E08A00"/>
                </a:solidFill>
                <a:latin typeface="Times New Roman" pitchFamily="34" charset="0"/>
                <a:ea typeface="Times New Roman" pitchFamily="34" charset="-122"/>
                <a:cs typeface="Times New Roman" pitchFamily="34" charset="-120"/>
              </a:rPr>
              <a:t>Deep learning</a:t>
            </a:r>
            <a:endParaRPr lang="en-US" sz="1400" dirty="0"/>
          </a:p>
          <a:p>
            <a:pPr marL="0" indent="0" algn="ctr">
              <a:buNone/>
            </a:pPr>
            <a:r>
              <a:rPr lang="en-US" sz="1300" dirty="0">
                <a:solidFill>
                  <a:srgbClr val="1A1A1A"/>
                </a:solidFill>
                <a:latin typeface="Times New Roman" pitchFamily="34" charset="0"/>
                <a:ea typeface="Times New Roman" pitchFamily="34" charset="-122"/>
                <a:cs typeface="Times New Roman" pitchFamily="34" charset="-120"/>
              </a:rPr>
              <a:t>LSTM</a:t>
            </a:r>
            <a:endParaRPr lang="en-US" sz="14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AUROC ≈ 0.85</a:t>
            </a:r>
            <a:endParaRPr lang="en-US" sz="1400" dirty="0"/>
          </a:p>
        </p:txBody>
      </p:sp>
      <p:sp>
        <p:nvSpPr>
          <p:cNvPr id="9" name="Text 6"/>
          <p:cNvSpPr/>
          <p:nvPr/>
        </p:nvSpPr>
        <p:spPr>
          <a:xfrm>
            <a:off x="10168128" y="2286000"/>
            <a:ext cx="1463040" cy="1234440"/>
          </a:xfrm>
          <a:prstGeom prst="roundRect">
            <a:avLst>
              <a:gd name="adj" fmla="val 7407"/>
            </a:avLst>
          </a:prstGeom>
          <a:solidFill>
            <a:srgbClr val="FFFFFF"/>
          </a:solidFill>
          <a:ln w="12700">
            <a:solidFill>
              <a:srgbClr val="0033CC"/>
            </a:solidFill>
          </a:ln>
        </p:spPr>
        <p:txBody>
          <a:bodyPr wrap="square" lIns="38100" tIns="38100" rIns="38100" bIns="38100" rtlCol="0" anchor="ctr"/>
          <a:lstStyle/>
          <a:p>
            <a:pPr marL="0" indent="0" algn="ctr">
              <a:buNone/>
            </a:pPr>
            <a:r>
              <a:rPr lang="en-US" sz="1400" b="1" dirty="0">
                <a:solidFill>
                  <a:srgbClr val="0033CC"/>
                </a:solidFill>
                <a:latin typeface="Times New Roman" pitchFamily="34" charset="0"/>
                <a:ea typeface="Times New Roman" pitchFamily="34" charset="-122"/>
                <a:cs typeface="Times New Roman" pitchFamily="34" charset="-120"/>
              </a:rPr>
              <a:t>Explanation</a:t>
            </a:r>
            <a:endParaRPr lang="en-US" sz="1400" dirty="0"/>
          </a:p>
          <a:p>
            <a:pPr marL="0" indent="0" algn="ctr">
              <a:buNone/>
            </a:pPr>
            <a:r>
              <a:rPr lang="en-US" sz="1300" dirty="0">
                <a:solidFill>
                  <a:srgbClr val="1A1A1A"/>
                </a:solidFill>
                <a:latin typeface="Times New Roman" pitchFamily="34" charset="0"/>
                <a:ea typeface="Times New Roman" pitchFamily="34" charset="-122"/>
                <a:cs typeface="Times New Roman" pitchFamily="34" charset="-120"/>
              </a:rPr>
              <a:t>SHAP</a:t>
            </a:r>
            <a:endParaRPr lang="en-US" sz="14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Default method</a:t>
            </a:r>
            <a:endParaRPr lang="en-US" sz="1400" dirty="0"/>
          </a:p>
        </p:txBody>
      </p:sp>
      <p:sp>
        <p:nvSpPr>
          <p:cNvPr id="10" name="Shape 7"/>
          <p:cNvSpPr/>
          <p:nvPr/>
        </p:nvSpPr>
        <p:spPr>
          <a:xfrm>
            <a:off x="6858000" y="3794760"/>
            <a:ext cx="5001768" cy="1554480"/>
          </a:xfrm>
          <a:prstGeom prst="roundRect">
            <a:avLst>
              <a:gd name="adj" fmla="val 5882"/>
            </a:avLst>
          </a:prstGeom>
          <a:solidFill>
            <a:srgbClr val="F0F0F0"/>
          </a:solidFill>
          <a:ln w="15875">
            <a:solidFill>
              <a:srgbClr val="2B3A6B"/>
            </a:solidFill>
            <a:prstDash val="solid"/>
          </a:ln>
        </p:spPr>
      </p:sp>
      <p:sp>
        <p:nvSpPr>
          <p:cNvPr id="11" name="Text 8"/>
          <p:cNvSpPr txBox="1"/>
          <p:nvPr/>
        </p:nvSpPr>
        <p:spPr>
          <a:xfrm>
            <a:off x="6949440" y="3840480"/>
            <a:ext cx="4818888" cy="1463040"/>
          </a:xfrm>
          <a:prstGeom prst="rect">
            <a:avLst/>
          </a:prstGeom>
          <a:noFill/>
          <a:ln/>
        </p:spPr>
        <p:txBody>
          <a:bodyPr wrap="square" lIns="63500" tIns="63500" rIns="63500" bIns="63500" rtlCol="0" anchor="ctr"/>
          <a:lstStyle/>
          <a:p>
            <a:pPr marL="0" indent="0" algn="ctr">
              <a:buNone/>
            </a:pPr>
            <a:r>
              <a:rPr lang="en-US" sz="1800" b="1" dirty="0">
                <a:solidFill>
                  <a:srgbClr val="1A1A1A"/>
                </a:solidFill>
                <a:latin typeface="Times New Roman" pitchFamily="34" charset="0"/>
                <a:ea typeface="Times New Roman" pitchFamily="34" charset="-122"/>
                <a:cs typeface="Times New Roman" pitchFamily="34" charset="-120"/>
              </a:rPr>
              <a:t>Predicting well is not enough.</a:t>
            </a:r>
            <a:endParaRPr lang="en-US" sz="1600" dirty="0"/>
          </a:p>
          <a:p>
            <a:pPr marL="0" indent="0" algn="ctr">
              <a:buNone/>
            </a:pPr>
            <a:r>
              <a:rPr lang="en-US" sz="1500" dirty="0">
                <a:solidFill>
                  <a:srgbClr val="1A1A1A"/>
                </a:solidFill>
                <a:latin typeface="Times New Roman" pitchFamily="34" charset="0"/>
                <a:ea typeface="Times New Roman" pitchFamily="34" charset="-122"/>
                <a:cs typeface="Times New Roman" pitchFamily="34" charset="-120"/>
              </a:rPr>
              <a:t>An explanation can change after retraining while the prediction stays the same, and clinicians get no signal that it happened.</a:t>
            </a:r>
            <a:endParaRPr lang="en-US" sz="1600" dirty="0"/>
          </a:p>
        </p:txBody>
      </p:sp>
      <p:sp>
        <p:nvSpPr>
          <p:cNvPr id="13" name="Shape 10"/>
          <p:cNvSpPr/>
          <p:nvPr/>
        </p:nvSpPr>
        <p:spPr>
          <a:xfrm>
            <a:off x="329184" y="5760720"/>
            <a:ext cx="11530584" cy="868680"/>
          </a:xfrm>
          <a:prstGeom prst="roundRect">
            <a:avLst>
              <a:gd name="adj" fmla="val 10526"/>
            </a:avLst>
          </a:prstGeom>
          <a:solidFill>
            <a:srgbClr val="F0F0F0"/>
          </a:solidFill>
          <a:ln w="15875">
            <a:solidFill>
              <a:srgbClr val="2B3A6B"/>
            </a:solidFill>
            <a:prstDash val="solid"/>
          </a:ln>
        </p:spPr>
      </p:sp>
      <p:sp>
        <p:nvSpPr>
          <p:cNvPr id="14" name="Text 11"/>
          <p:cNvSpPr txBox="1"/>
          <p:nvPr/>
        </p:nvSpPr>
        <p:spPr>
          <a:xfrm>
            <a:off x="457200" y="5760720"/>
            <a:ext cx="11247120" cy="868680"/>
          </a:xfrm>
          <a:prstGeom prst="rect">
            <a:avLst/>
          </a:prstGeom>
          <a:noFill/>
          <a:ln/>
        </p:spPr>
        <p:txBody>
          <a:bodyPr wrap="square" lIns="63500" tIns="63500" rIns="63500" bIns="63500" rtlCol="0" anchor="ctr"/>
          <a:lstStyle/>
          <a:p>
            <a:pPr marL="0" indent="0" algn="ctr">
              <a:buNone/>
            </a:pPr>
            <a:r>
              <a:rPr lang="en-US" sz="1800" b="1" dirty="0">
                <a:solidFill>
                  <a:srgbClr val="1A1A1A"/>
                </a:solidFill>
                <a:latin typeface="Times New Roman" pitchFamily="34" charset="0"/>
                <a:ea typeface="Times New Roman" pitchFamily="34" charset="-122"/>
                <a:cs typeface="Times New Roman" pitchFamily="34" charset="-120"/>
              </a:rPr>
              <a:t>Can we compare ensemble and deep learning fairly, and tell when a SHAP explanation can be trusted, fixed or withheld?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Motivation</a:t>
            </a:r>
            <a:endParaRPr lang="en-US" sz="2400" dirty="0"/>
          </a:p>
        </p:txBody>
      </p:sp>
      <p:sp>
        <p:nvSpPr>
          <p:cNvPr id="4" name="Shape 1"/>
          <p:cNvSpPr/>
          <p:nvPr/>
        </p:nvSpPr>
        <p:spPr>
          <a:xfrm>
            <a:off x="329184" y="1783080"/>
            <a:ext cx="5486400" cy="2148840"/>
          </a:xfrm>
          <a:prstGeom prst="roundRect">
            <a:avLst>
              <a:gd name="adj" fmla="val 4255"/>
            </a:avLst>
          </a:prstGeom>
          <a:solidFill>
            <a:srgbClr val="F0F0F0"/>
          </a:solidFill>
          <a:ln w="15875">
            <a:solidFill>
              <a:srgbClr val="2B3A6B"/>
            </a:solidFill>
            <a:prstDash val="solid"/>
          </a:ln>
        </p:spPr>
      </p:sp>
      <p:sp>
        <p:nvSpPr>
          <p:cNvPr id="5" name="Text 2"/>
          <p:cNvSpPr txBox="1"/>
          <p:nvPr/>
        </p:nvSpPr>
        <p:spPr>
          <a:xfrm>
            <a:off x="329184" y="1856232"/>
            <a:ext cx="5486400" cy="457200"/>
          </a:xfrm>
          <a:prstGeom prst="rect">
            <a:avLst/>
          </a:prstGeom>
          <a:noFill/>
          <a:ln/>
        </p:spPr>
        <p:txBody>
          <a:bodyPr wrap="square" lIns="63500" tIns="63500" rIns="63500" bIns="63500" rtlCol="0" anchor="t"/>
          <a:lstStyle/>
          <a:p>
            <a:pPr marL="0" indent="0" algn="ctr">
              <a:buNone/>
            </a:pPr>
            <a:r>
              <a:rPr lang="en-US" sz="2000" b="1" dirty="0">
                <a:solidFill>
                  <a:srgbClr val="1A1A1A"/>
                </a:solidFill>
                <a:latin typeface="Times New Roman" pitchFamily="34" charset="0"/>
                <a:ea typeface="Times New Roman" pitchFamily="34" charset="-122"/>
                <a:cs typeface="Times New Roman" pitchFamily="34" charset="-120"/>
              </a:rPr>
              <a:t>Global</a:t>
            </a:r>
            <a:endParaRPr lang="en-US" sz="2000" dirty="0"/>
          </a:p>
        </p:txBody>
      </p:sp>
      <p:sp>
        <p:nvSpPr>
          <p:cNvPr id="6" name="Text 3"/>
          <p:cNvSpPr txBox="1"/>
          <p:nvPr/>
        </p:nvSpPr>
        <p:spPr>
          <a:xfrm>
            <a:off x="457200" y="2331720"/>
            <a:ext cx="5257800" cy="1554480"/>
          </a:xfrm>
          <a:prstGeom prst="rect">
            <a:avLst/>
          </a:prstGeom>
          <a:noFill/>
          <a:ln/>
        </p:spPr>
        <p:txBody>
          <a:bodyPr wrap="square" lIns="63500" tIns="63500" rIns="63500" bIns="63500" rtlCol="0" anchor="t"/>
          <a:lstStyle/>
          <a:p>
            <a:pPr marL="342900" indent="-342900" algn="just">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About 30 million people develop sepsis each year</a:t>
            </a:r>
            <a:endParaRPr lang="en-US" sz="1600" dirty="0"/>
          </a:p>
          <a:p>
            <a:pPr marL="342900" indent="-342900" algn="just">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About 6 million die from it each year</a:t>
            </a:r>
            <a:endParaRPr lang="en-US" sz="1600" dirty="0"/>
          </a:p>
          <a:p>
            <a:pPr marL="342900" indent="-342900" algn="just">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An estimated 4.2 million newborns and children are affected</a:t>
            </a:r>
            <a:endParaRPr lang="en-US" sz="1600" dirty="0"/>
          </a:p>
        </p:txBody>
      </p:sp>
      <p:sp>
        <p:nvSpPr>
          <p:cNvPr id="7" name="Shape 4"/>
          <p:cNvSpPr/>
          <p:nvPr/>
        </p:nvSpPr>
        <p:spPr>
          <a:xfrm>
            <a:off x="329184" y="4069080"/>
            <a:ext cx="5486400" cy="2148840"/>
          </a:xfrm>
          <a:prstGeom prst="roundRect">
            <a:avLst>
              <a:gd name="adj" fmla="val 4255"/>
            </a:avLst>
          </a:prstGeom>
          <a:solidFill>
            <a:srgbClr val="F0F0F0"/>
          </a:solidFill>
          <a:ln w="15875">
            <a:solidFill>
              <a:srgbClr val="2B3A6B"/>
            </a:solidFill>
            <a:prstDash val="solid"/>
          </a:ln>
        </p:spPr>
      </p:sp>
      <p:sp>
        <p:nvSpPr>
          <p:cNvPr id="8" name="Text 5"/>
          <p:cNvSpPr txBox="1"/>
          <p:nvPr/>
        </p:nvSpPr>
        <p:spPr>
          <a:xfrm>
            <a:off x="329184" y="4142232"/>
            <a:ext cx="5486400" cy="457200"/>
          </a:xfrm>
          <a:prstGeom prst="rect">
            <a:avLst/>
          </a:prstGeom>
          <a:noFill/>
          <a:ln/>
        </p:spPr>
        <p:txBody>
          <a:bodyPr wrap="square" lIns="63500" tIns="63500" rIns="63500" bIns="63500" rtlCol="0" anchor="t"/>
          <a:lstStyle/>
          <a:p>
            <a:pPr marL="0" indent="0" algn="ctr">
              <a:buNone/>
            </a:pPr>
            <a:r>
              <a:rPr lang="en-US" sz="2000" b="1" dirty="0">
                <a:solidFill>
                  <a:srgbClr val="1A1A1A"/>
                </a:solidFill>
                <a:latin typeface="Times New Roman" pitchFamily="34" charset="0"/>
                <a:ea typeface="Times New Roman" pitchFamily="34" charset="-122"/>
                <a:cs typeface="Times New Roman" pitchFamily="34" charset="-120"/>
              </a:rPr>
              <a:t>United States</a:t>
            </a:r>
            <a:endParaRPr lang="en-US" sz="2000" dirty="0"/>
          </a:p>
        </p:txBody>
      </p:sp>
      <p:sp>
        <p:nvSpPr>
          <p:cNvPr id="9" name="Text 6"/>
          <p:cNvSpPr txBox="1"/>
          <p:nvPr/>
        </p:nvSpPr>
        <p:spPr>
          <a:xfrm>
            <a:off x="457200" y="4617720"/>
            <a:ext cx="5257800" cy="1554480"/>
          </a:xfrm>
          <a:prstGeom prst="rect">
            <a:avLst/>
          </a:prstGeom>
          <a:noFill/>
          <a:ln/>
        </p:spPr>
        <p:txBody>
          <a:bodyPr wrap="square" lIns="63500" tIns="63500" rIns="63500" bIns="63500" rtlCol="0" anchor="t"/>
          <a:lstStyle/>
          <a:p>
            <a:pPr marL="342900" indent="-342900" algn="just">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Nearly 1.7 million develop sepsis and 270,000 die each year</a:t>
            </a:r>
            <a:endParaRPr lang="en-US" sz="1600" dirty="0"/>
          </a:p>
          <a:p>
            <a:pPr marL="342900" indent="-342900" algn="just">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Over one third of hospital deaths involve sepsis</a:t>
            </a:r>
            <a:endParaRPr lang="en-US" sz="1600" dirty="0"/>
          </a:p>
          <a:p>
            <a:pPr marL="342900" indent="-342900" algn="just">
              <a:spcAft>
                <a:spcPts val="500"/>
              </a:spcAft>
              <a:buSzPct val="100000"/>
              <a:buChar char="•"/>
            </a:pPr>
            <a:r>
              <a:rPr lang="en-US" sz="1600" dirty="0">
                <a:solidFill>
                  <a:srgbClr val="1A1A1A"/>
                </a:solidFill>
                <a:latin typeface="Times New Roman" pitchFamily="34" charset="0"/>
                <a:ea typeface="Times New Roman" pitchFamily="34" charset="-122"/>
                <a:cs typeface="Times New Roman" pitchFamily="34" charset="-120"/>
              </a:rPr>
              <a:t>Costs hospitals $24 billion a year (13% of healthcare spending)</a:t>
            </a:r>
            <a:endParaRPr lang="en-US" sz="1600" dirty="0"/>
          </a:p>
        </p:txBody>
      </p:sp>
      <p:sp>
        <p:nvSpPr>
          <p:cNvPr id="10" name="Shape 7"/>
          <p:cNvSpPr/>
          <p:nvPr/>
        </p:nvSpPr>
        <p:spPr>
          <a:xfrm>
            <a:off x="6035040" y="1783080"/>
            <a:ext cx="1828800" cy="2148840"/>
          </a:xfrm>
          <a:prstGeom prst="roundRect">
            <a:avLst>
              <a:gd name="adj" fmla="val 5000"/>
            </a:avLst>
          </a:prstGeom>
          <a:solidFill>
            <a:srgbClr val="EEF3FC"/>
          </a:solidFill>
          <a:ln w="15875">
            <a:solidFill>
              <a:srgbClr val="DCE4F5"/>
            </a:solidFill>
            <a:prstDash val="solid"/>
          </a:ln>
        </p:spPr>
      </p:sp>
      <p:sp>
        <p:nvSpPr>
          <p:cNvPr id="11" name="Text 8"/>
          <p:cNvSpPr txBox="1"/>
          <p:nvPr/>
        </p:nvSpPr>
        <p:spPr>
          <a:xfrm>
            <a:off x="6062472" y="1874520"/>
            <a:ext cx="1773936" cy="731520"/>
          </a:xfrm>
          <a:prstGeom prst="rect">
            <a:avLst/>
          </a:prstGeom>
          <a:noFill/>
          <a:ln/>
        </p:spPr>
        <p:txBody>
          <a:bodyPr wrap="square" lIns="0" tIns="0" rIns="0" bIns="0" rtlCol="0" anchor="ctr"/>
          <a:lstStyle/>
          <a:p>
            <a:pPr marL="0" indent="0" algn="ctr">
              <a:buNone/>
            </a:pPr>
            <a:r>
              <a:rPr lang="en-US" sz="2500" b="1" dirty="0">
                <a:solidFill>
                  <a:srgbClr val="D40000"/>
                </a:solidFill>
                <a:latin typeface="Times New Roman" pitchFamily="34" charset="0"/>
                <a:ea typeface="Times New Roman" pitchFamily="34" charset="-122"/>
                <a:cs typeface="Times New Roman" pitchFamily="34" charset="-120"/>
              </a:rPr>
              <a:t>4–8%</a:t>
            </a:r>
            <a:endParaRPr lang="en-US" sz="2500" dirty="0"/>
          </a:p>
        </p:txBody>
      </p:sp>
      <p:sp>
        <p:nvSpPr>
          <p:cNvPr id="12" name="Text 9"/>
          <p:cNvSpPr txBox="1"/>
          <p:nvPr/>
        </p:nvSpPr>
        <p:spPr>
          <a:xfrm>
            <a:off x="6108192" y="2651760"/>
            <a:ext cx="1682496" cy="1234440"/>
          </a:xfrm>
          <a:prstGeom prst="rect">
            <a:avLst/>
          </a:prstGeom>
          <a:noFill/>
          <a:ln/>
        </p:spPr>
        <p:txBody>
          <a:bodyPr wrap="square" lIns="63500" tIns="63500" rIns="63500" bIns="63500" rtlCol="0" anchor="t"/>
          <a:lstStyle/>
          <a:p>
            <a:pPr marL="0" indent="0" algn="ctr">
              <a:buNone/>
            </a:pPr>
            <a:r>
              <a:rPr lang="en-US" sz="1400" dirty="0">
                <a:solidFill>
                  <a:srgbClr val="1A1A1A"/>
                </a:solidFill>
                <a:latin typeface="Times New Roman" pitchFamily="34" charset="0"/>
                <a:ea typeface="Times New Roman" pitchFamily="34" charset="-122"/>
                <a:cs typeface="Times New Roman" pitchFamily="34" charset="-120"/>
              </a:rPr>
              <a:t>rise in mortality for each hour of delayed treatment</a:t>
            </a:r>
            <a:endParaRPr lang="en-US" sz="1400" dirty="0"/>
          </a:p>
        </p:txBody>
      </p:sp>
      <p:sp>
        <p:nvSpPr>
          <p:cNvPr id="13" name="Shape 10"/>
          <p:cNvSpPr/>
          <p:nvPr/>
        </p:nvSpPr>
        <p:spPr>
          <a:xfrm>
            <a:off x="8033004" y="1783080"/>
            <a:ext cx="1828800" cy="2148840"/>
          </a:xfrm>
          <a:prstGeom prst="roundRect">
            <a:avLst>
              <a:gd name="adj" fmla="val 5000"/>
            </a:avLst>
          </a:prstGeom>
          <a:solidFill>
            <a:srgbClr val="EEF3FC"/>
          </a:solidFill>
          <a:ln w="15875">
            <a:solidFill>
              <a:srgbClr val="DCE4F5"/>
            </a:solidFill>
            <a:prstDash val="solid"/>
          </a:ln>
        </p:spPr>
      </p:sp>
      <p:sp>
        <p:nvSpPr>
          <p:cNvPr id="14" name="Text 11"/>
          <p:cNvSpPr txBox="1"/>
          <p:nvPr/>
        </p:nvSpPr>
        <p:spPr>
          <a:xfrm>
            <a:off x="8060436" y="1874520"/>
            <a:ext cx="1773936" cy="731520"/>
          </a:xfrm>
          <a:prstGeom prst="rect">
            <a:avLst/>
          </a:prstGeom>
          <a:noFill/>
          <a:ln/>
        </p:spPr>
        <p:txBody>
          <a:bodyPr wrap="square" lIns="0" tIns="0" rIns="0" bIns="0" rtlCol="0" anchor="ctr"/>
          <a:lstStyle/>
          <a:p>
            <a:pPr marL="0" indent="0" algn="ctr">
              <a:buNone/>
            </a:pPr>
            <a:r>
              <a:rPr lang="en-US" sz="2500" b="1" dirty="0">
                <a:solidFill>
                  <a:srgbClr val="E08A00"/>
                </a:solidFill>
                <a:latin typeface="Times New Roman" pitchFamily="34" charset="0"/>
                <a:ea typeface="Times New Roman" pitchFamily="34" charset="-122"/>
                <a:cs typeface="Times New Roman" pitchFamily="34" charset="-120"/>
              </a:rPr>
              <a:t>6–12 h</a:t>
            </a:r>
            <a:endParaRPr lang="en-US" sz="2500" dirty="0"/>
          </a:p>
        </p:txBody>
      </p:sp>
      <p:sp>
        <p:nvSpPr>
          <p:cNvPr id="15" name="Text 12"/>
          <p:cNvSpPr txBox="1"/>
          <p:nvPr/>
        </p:nvSpPr>
        <p:spPr>
          <a:xfrm>
            <a:off x="8106156" y="2651760"/>
            <a:ext cx="1682496" cy="1234440"/>
          </a:xfrm>
          <a:prstGeom prst="rect">
            <a:avLst/>
          </a:prstGeom>
          <a:noFill/>
          <a:ln/>
        </p:spPr>
        <p:txBody>
          <a:bodyPr wrap="square" lIns="63500" tIns="63500" rIns="63500" bIns="63500" rtlCol="0" anchor="t"/>
          <a:lstStyle/>
          <a:p>
            <a:pPr marL="0" indent="0" algn="ctr">
              <a:buNone/>
            </a:pPr>
            <a:r>
              <a:rPr lang="en-US" sz="1400" dirty="0">
                <a:solidFill>
                  <a:srgbClr val="1A1A1A"/>
                </a:solidFill>
                <a:latin typeface="Times New Roman" pitchFamily="34" charset="0"/>
                <a:ea typeface="Times New Roman" pitchFamily="34" charset="-122"/>
                <a:cs typeface="Times New Roman" pitchFamily="34" charset="-120"/>
              </a:rPr>
              <a:t>early-warning window before sepsis onset</a:t>
            </a:r>
            <a:endParaRPr lang="en-US" sz="1400" dirty="0"/>
          </a:p>
        </p:txBody>
      </p:sp>
      <p:sp>
        <p:nvSpPr>
          <p:cNvPr id="16" name="Shape 13"/>
          <p:cNvSpPr/>
          <p:nvPr/>
        </p:nvSpPr>
        <p:spPr>
          <a:xfrm>
            <a:off x="10030968" y="1783080"/>
            <a:ext cx="1828800" cy="2148840"/>
          </a:xfrm>
          <a:prstGeom prst="roundRect">
            <a:avLst>
              <a:gd name="adj" fmla="val 5000"/>
            </a:avLst>
          </a:prstGeom>
          <a:solidFill>
            <a:srgbClr val="EEF3FC"/>
          </a:solidFill>
          <a:ln w="15875">
            <a:solidFill>
              <a:srgbClr val="DCE4F5"/>
            </a:solidFill>
            <a:prstDash val="solid"/>
          </a:ln>
        </p:spPr>
      </p:sp>
      <p:sp>
        <p:nvSpPr>
          <p:cNvPr id="17" name="Text 14"/>
          <p:cNvSpPr txBox="1"/>
          <p:nvPr/>
        </p:nvSpPr>
        <p:spPr>
          <a:xfrm>
            <a:off x="10058400" y="1874520"/>
            <a:ext cx="1773936" cy="731520"/>
          </a:xfrm>
          <a:prstGeom prst="rect">
            <a:avLst/>
          </a:prstGeom>
          <a:noFill/>
          <a:ln/>
        </p:spPr>
        <p:txBody>
          <a:bodyPr wrap="square" lIns="0" tIns="0" rIns="0" bIns="0" rtlCol="0" anchor="ctr"/>
          <a:lstStyle/>
          <a:p>
            <a:pPr marL="0" indent="0" algn="ctr">
              <a:buNone/>
            </a:pPr>
            <a:r>
              <a:rPr lang="en-US" sz="2500" b="1" dirty="0">
                <a:solidFill>
                  <a:srgbClr val="0033CC"/>
                </a:solidFill>
                <a:latin typeface="Times New Roman" pitchFamily="34" charset="0"/>
                <a:ea typeface="Times New Roman" pitchFamily="34" charset="-122"/>
                <a:cs typeface="Times New Roman" pitchFamily="34" charset="-120"/>
              </a:rPr>
              <a:t>0.85–0.91</a:t>
            </a:r>
            <a:endParaRPr lang="en-US" sz="2500" dirty="0"/>
          </a:p>
        </p:txBody>
      </p:sp>
      <p:sp>
        <p:nvSpPr>
          <p:cNvPr id="18" name="Text 15"/>
          <p:cNvSpPr txBox="1"/>
          <p:nvPr/>
        </p:nvSpPr>
        <p:spPr>
          <a:xfrm>
            <a:off x="10104120" y="2651760"/>
            <a:ext cx="1682496" cy="1234440"/>
          </a:xfrm>
          <a:prstGeom prst="rect">
            <a:avLst/>
          </a:prstGeom>
          <a:noFill/>
          <a:ln/>
        </p:spPr>
        <p:txBody>
          <a:bodyPr wrap="square" lIns="63500" tIns="63500" rIns="63500" bIns="63500" rtlCol="0" anchor="t"/>
          <a:lstStyle/>
          <a:p>
            <a:pPr marL="0" indent="0" algn="ctr">
              <a:buNone/>
            </a:pPr>
            <a:r>
              <a:rPr lang="en-US" sz="1400" dirty="0">
                <a:solidFill>
                  <a:srgbClr val="1A1A1A"/>
                </a:solidFill>
                <a:latin typeface="Times New Roman" pitchFamily="34" charset="0"/>
                <a:ea typeface="Times New Roman" pitchFamily="34" charset="-122"/>
                <a:cs typeface="Times New Roman" pitchFamily="34" charset="-120"/>
              </a:rPr>
              <a:t>AUROC of ensemble models on PhysioNet 2019</a:t>
            </a:r>
            <a:endParaRPr lang="en-US" sz="1400" dirty="0"/>
          </a:p>
        </p:txBody>
      </p:sp>
      <p:sp>
        <p:nvSpPr>
          <p:cNvPr id="19" name="Shape 16"/>
          <p:cNvSpPr/>
          <p:nvPr/>
        </p:nvSpPr>
        <p:spPr>
          <a:xfrm>
            <a:off x="6035040" y="4069080"/>
            <a:ext cx="5824728" cy="2148840"/>
          </a:xfrm>
          <a:prstGeom prst="roundRect">
            <a:avLst>
              <a:gd name="adj" fmla="val 4255"/>
            </a:avLst>
          </a:prstGeom>
          <a:solidFill>
            <a:srgbClr val="F0F0F0"/>
          </a:solidFill>
          <a:ln w="15875">
            <a:solidFill>
              <a:srgbClr val="2B3A6B"/>
            </a:solidFill>
            <a:prstDash val="solid"/>
          </a:ln>
        </p:spPr>
      </p:sp>
      <p:sp>
        <p:nvSpPr>
          <p:cNvPr id="20" name="Text 17"/>
          <p:cNvSpPr txBox="1"/>
          <p:nvPr/>
        </p:nvSpPr>
        <p:spPr>
          <a:xfrm>
            <a:off x="6172200" y="4114800"/>
            <a:ext cx="5577840" cy="2057400"/>
          </a:xfrm>
          <a:prstGeom prst="rect">
            <a:avLst/>
          </a:prstGeom>
          <a:noFill/>
          <a:ln/>
        </p:spPr>
        <p:txBody>
          <a:bodyPr wrap="square" lIns="63500" tIns="63500" rIns="63500" bIns="63500" rtlCol="0" anchor="ctr"/>
          <a:lstStyle/>
          <a:p>
            <a:pPr marL="0" indent="0" algn="just">
              <a:buNone/>
            </a:pPr>
            <a:r>
              <a:rPr lang="en-US" sz="1700" b="1" dirty="0">
                <a:solidFill>
                  <a:srgbClr val="1A1A1A"/>
                </a:solidFill>
                <a:latin typeface="Times New Roman" pitchFamily="34" charset="0"/>
                <a:ea typeface="Times New Roman" pitchFamily="34" charset="-122"/>
                <a:cs typeface="Times New Roman" pitchFamily="34" charset="-120"/>
              </a:rPr>
              <a:t>Major Takeaway: </a:t>
            </a:r>
            <a:r>
              <a:rPr lang="en-US" sz="1700" dirty="0">
                <a:solidFill>
                  <a:srgbClr val="1A1A1A"/>
                </a:solidFill>
                <a:latin typeface="Times New Roman" pitchFamily="34" charset="0"/>
                <a:ea typeface="Times New Roman" pitchFamily="34" charset="-122"/>
                <a:cs typeface="Times New Roman" pitchFamily="34" charset="-120"/>
              </a:rPr>
              <a:t>Sepsis is a major problem and early detection saves lives. AI can predict it early, but doctors also need to trust the explanation behind each prediction.</a:t>
            </a:r>
          </a:p>
          <a:p>
            <a:pPr marL="0" indent="0" algn="just">
              <a:buNone/>
            </a:pPr>
            <a:endParaRPr lang="en-US" sz="1700" dirty="0"/>
          </a:p>
        </p:txBody>
      </p:sp>
      <p:sp>
        <p:nvSpPr>
          <p:cNvPr id="21" name="Text 18"/>
          <p:cNvSpPr txBox="1"/>
          <p:nvPr/>
        </p:nvSpPr>
        <p:spPr>
          <a:xfrm>
            <a:off x="329184" y="6263640"/>
            <a:ext cx="11530584" cy="457200"/>
          </a:xfrm>
          <a:prstGeom prst="rect">
            <a:avLst/>
          </a:prstGeom>
          <a:noFill/>
          <a:ln/>
        </p:spPr>
        <p:txBody>
          <a:bodyPr wrap="square" lIns="63500" tIns="63500" rIns="63500" bIns="63500" rtlCol="0" anchor="t"/>
          <a:lstStyle/>
          <a:p>
            <a:pPr marL="0" indent="0">
              <a:buNone/>
            </a:pPr>
            <a:r>
              <a:rPr lang="en-US" sz="1200" dirty="0">
                <a:solidFill>
                  <a:srgbClr val="555555"/>
                </a:solidFill>
                <a:latin typeface="Times New Roman" pitchFamily="34" charset="0"/>
                <a:ea typeface="Times New Roman" pitchFamily="34" charset="-122"/>
                <a:cs typeface="Times New Roman" pitchFamily="34" charset="-120"/>
              </a:rPr>
              <a:t>References: Singer et al. (2016); CDC sepsis data reports; WHO sepsis fact sheet; Paoli et al. (2018); Kumar et al. (2006); Seymour et al. (2017); PhysioNet/CinC Challenge 2019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Scope and Feasibility study</a:t>
            </a:r>
            <a:endParaRPr lang="en-US" sz="2400" dirty="0"/>
          </a:p>
        </p:txBody>
      </p:sp>
      <p:sp>
        <p:nvSpPr>
          <p:cNvPr id="4" name="Shape 1"/>
          <p:cNvSpPr/>
          <p:nvPr/>
        </p:nvSpPr>
        <p:spPr>
          <a:xfrm>
            <a:off x="329184" y="1783080"/>
            <a:ext cx="5669280" cy="4434840"/>
          </a:xfrm>
          <a:prstGeom prst="roundRect">
            <a:avLst>
              <a:gd name="adj" fmla="val 2062"/>
            </a:avLst>
          </a:prstGeom>
          <a:solidFill>
            <a:srgbClr val="F0F0F0"/>
          </a:solidFill>
          <a:ln w="15875">
            <a:solidFill>
              <a:srgbClr val="2B3A6B"/>
            </a:solidFill>
            <a:prstDash val="solid"/>
          </a:ln>
        </p:spPr>
      </p:sp>
      <p:sp>
        <p:nvSpPr>
          <p:cNvPr id="5" name="Text 2"/>
          <p:cNvSpPr txBox="1"/>
          <p:nvPr/>
        </p:nvSpPr>
        <p:spPr>
          <a:xfrm>
            <a:off x="329184" y="1856232"/>
            <a:ext cx="5669280" cy="457200"/>
          </a:xfrm>
          <a:prstGeom prst="rect">
            <a:avLst/>
          </a:prstGeom>
          <a:noFill/>
          <a:ln/>
        </p:spPr>
        <p:txBody>
          <a:bodyPr wrap="square" lIns="63500" tIns="63500" rIns="63500" bIns="63500" rtlCol="0" anchor="t"/>
          <a:lstStyle/>
          <a:p>
            <a:pPr marL="0" indent="0" algn="ctr">
              <a:buNone/>
            </a:pPr>
            <a:r>
              <a:rPr lang="en-US" sz="2000" b="1" dirty="0">
                <a:solidFill>
                  <a:srgbClr val="1A1A1A"/>
                </a:solidFill>
                <a:latin typeface="Times New Roman" pitchFamily="34" charset="0"/>
                <a:ea typeface="Times New Roman" pitchFamily="34" charset="-122"/>
                <a:cs typeface="Times New Roman" pitchFamily="34" charset="-120"/>
              </a:rPr>
              <a:t>Scope</a:t>
            </a:r>
            <a:endParaRPr lang="en-US" sz="2000" dirty="0"/>
          </a:p>
        </p:txBody>
      </p:sp>
      <p:sp>
        <p:nvSpPr>
          <p:cNvPr id="6" name="Text 3"/>
          <p:cNvSpPr txBox="1"/>
          <p:nvPr/>
        </p:nvSpPr>
        <p:spPr>
          <a:xfrm>
            <a:off x="457200" y="2377440"/>
            <a:ext cx="5440680" cy="3749040"/>
          </a:xfrm>
          <a:prstGeom prst="rect">
            <a:avLst/>
          </a:prstGeom>
          <a:noFill/>
          <a:ln/>
        </p:spPr>
        <p:txBody>
          <a:bodyPr wrap="square" lIns="63500" tIns="63500" rIns="63500" bIns="63500" rtlCol="0" anchor="t"/>
          <a:lstStyle/>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Data: </a:t>
            </a:r>
            <a:r>
              <a:rPr lang="en-US" sz="1600" dirty="0">
                <a:solidFill>
                  <a:srgbClr val="1A1A1A"/>
                </a:solidFill>
                <a:latin typeface="Times New Roman" pitchFamily="34" charset="0"/>
                <a:ea typeface="Times New Roman" pitchFamily="34" charset="-122"/>
                <a:cs typeface="Times New Roman" pitchFamily="34" charset="-120"/>
              </a:rPr>
              <a:t>PhysioNet/CinC 2019 (~40,336 ICU patients)</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Models: </a:t>
            </a:r>
            <a:r>
              <a:rPr lang="en-US" sz="1600" dirty="0">
                <a:solidFill>
                  <a:srgbClr val="1A1A1A"/>
                </a:solidFill>
                <a:latin typeface="Times New Roman" pitchFamily="34" charset="0"/>
                <a:ea typeface="Times New Roman" pitchFamily="34" charset="-122"/>
                <a:cs typeface="Times New Roman" pitchFamily="34" charset="-120"/>
              </a:rPr>
              <a:t>XGBoost, Random Forest, LSTM</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Explainers: </a:t>
            </a:r>
            <a:r>
              <a:rPr lang="en-US" sz="1600" dirty="0">
                <a:solidFill>
                  <a:srgbClr val="1A1A1A"/>
                </a:solidFill>
                <a:latin typeface="Times New Roman" pitchFamily="34" charset="0"/>
                <a:ea typeface="Times New Roman" pitchFamily="34" charset="-122"/>
                <a:cs typeface="Times New Roman" pitchFamily="34" charset="-120"/>
              </a:rPr>
              <a:t>TreeSHAP, Kernel SHAP, Integrated Gradients</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Reliability: </a:t>
            </a:r>
            <a:r>
              <a:rPr lang="en-US" sz="1600" dirty="0">
                <a:solidFill>
                  <a:srgbClr val="1A1A1A"/>
                </a:solidFill>
                <a:latin typeface="Times New Roman" pitchFamily="34" charset="0"/>
                <a:ea typeface="Times New Roman" pitchFamily="34" charset="-122"/>
                <a:cs typeface="Times New Roman" pitchFamily="34" charset="-120"/>
              </a:rPr>
              <a:t>stability, faithfulness, robustness</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Framework: </a:t>
            </a:r>
            <a:r>
              <a:rPr lang="en-US" sz="1600" dirty="0">
                <a:solidFill>
                  <a:srgbClr val="1A1A1A"/>
                </a:solidFill>
                <a:latin typeface="Times New Roman" pitchFamily="34" charset="0"/>
                <a:ea typeface="Times New Roman" pitchFamily="34" charset="-122"/>
                <a:cs typeface="Times New Roman" pitchFamily="34" charset="-120"/>
              </a:rPr>
              <a:t>detect, diagnose, mitigate, abstain</a:t>
            </a:r>
            <a:endParaRPr lang="en-US" sz="1600" dirty="0"/>
          </a:p>
          <a:p>
            <a:pPr marL="342900" indent="-342900">
              <a:spcAft>
                <a:spcPts val="600"/>
              </a:spcAft>
              <a:buSzPct val="100000"/>
              <a:buChar char="•"/>
            </a:pPr>
            <a:r>
              <a:rPr lang="en-US" sz="1600" b="1" dirty="0">
                <a:solidFill>
                  <a:srgbClr val="1A1A1A"/>
                </a:solidFill>
                <a:latin typeface="Times New Roman" pitchFamily="34" charset="0"/>
                <a:ea typeface="Times New Roman" pitchFamily="34" charset="-122"/>
                <a:cs typeface="Times New Roman" pitchFamily="34" charset="-120"/>
              </a:rPr>
              <a:t>Out of scope: </a:t>
            </a:r>
            <a:r>
              <a:rPr lang="en-US" sz="1600" dirty="0">
                <a:solidFill>
                  <a:srgbClr val="1A1A1A"/>
                </a:solidFill>
                <a:latin typeface="Times New Roman" pitchFamily="34" charset="0"/>
                <a:ea typeface="Times New Roman" pitchFamily="34" charset="-122"/>
                <a:cs typeface="Times New Roman" pitchFamily="34" charset="-120"/>
              </a:rPr>
              <a:t>new architectures, AUROC records, prospective clinical validation, multimodal data, real-time deployment</a:t>
            </a:r>
            <a:endParaRPr lang="en-US" sz="1600" dirty="0"/>
          </a:p>
        </p:txBody>
      </p:sp>
      <p:sp>
        <p:nvSpPr>
          <p:cNvPr id="7" name="Shape 4"/>
          <p:cNvSpPr/>
          <p:nvPr/>
        </p:nvSpPr>
        <p:spPr>
          <a:xfrm>
            <a:off x="6172200" y="1783080"/>
            <a:ext cx="5687568" cy="3246120"/>
          </a:xfrm>
          <a:prstGeom prst="roundRect">
            <a:avLst>
              <a:gd name="adj" fmla="val 2817"/>
            </a:avLst>
          </a:prstGeom>
          <a:solidFill>
            <a:srgbClr val="F0F0F0"/>
          </a:solidFill>
          <a:ln w="15875">
            <a:solidFill>
              <a:srgbClr val="2B3A6B"/>
            </a:solidFill>
            <a:prstDash val="solid"/>
          </a:ln>
        </p:spPr>
      </p:sp>
      <p:sp>
        <p:nvSpPr>
          <p:cNvPr id="8" name="Text 5"/>
          <p:cNvSpPr txBox="1"/>
          <p:nvPr/>
        </p:nvSpPr>
        <p:spPr>
          <a:xfrm>
            <a:off x="6172200" y="1856232"/>
            <a:ext cx="5687568" cy="457200"/>
          </a:xfrm>
          <a:prstGeom prst="rect">
            <a:avLst/>
          </a:prstGeom>
          <a:noFill/>
          <a:ln/>
        </p:spPr>
        <p:txBody>
          <a:bodyPr wrap="square" lIns="63500" tIns="63500" rIns="63500" bIns="63500" rtlCol="0" anchor="t"/>
          <a:lstStyle/>
          <a:p>
            <a:pPr marL="0" indent="0" algn="ctr">
              <a:buNone/>
            </a:pPr>
            <a:r>
              <a:rPr lang="en-US" sz="2000" b="1" dirty="0">
                <a:solidFill>
                  <a:srgbClr val="1A1A1A"/>
                </a:solidFill>
                <a:latin typeface="Times New Roman" pitchFamily="34" charset="0"/>
                <a:ea typeface="Times New Roman" pitchFamily="34" charset="-122"/>
                <a:cs typeface="Times New Roman" pitchFamily="34" charset="-120"/>
              </a:rPr>
              <a:t>Feasibility</a:t>
            </a:r>
            <a:endParaRPr lang="en-US" sz="2000" dirty="0"/>
          </a:p>
        </p:txBody>
      </p:sp>
      <p:sp>
        <p:nvSpPr>
          <p:cNvPr id="9" name="Text 6"/>
          <p:cNvSpPr txBox="1"/>
          <p:nvPr/>
        </p:nvSpPr>
        <p:spPr>
          <a:xfrm>
            <a:off x="6291072" y="2331720"/>
            <a:ext cx="5458968" cy="2651760"/>
          </a:xfrm>
          <a:prstGeom prst="rect">
            <a:avLst/>
          </a:prstGeom>
          <a:noFill/>
          <a:ln/>
        </p:spPr>
        <p:txBody>
          <a:bodyPr wrap="square" lIns="63500" tIns="63500" rIns="63500" bIns="63500" rtlCol="0" anchor="t"/>
          <a:lstStyle/>
          <a:p>
            <a:pPr marL="342900" indent="-342900">
              <a:spcAft>
                <a:spcPts val="600"/>
              </a:spcAft>
              <a:buSzPct val="100000"/>
              <a:buChar char="•"/>
            </a:pPr>
            <a:r>
              <a:rPr lang="en-US" sz="1500" b="1" dirty="0">
                <a:solidFill>
                  <a:srgbClr val="1A1A1A"/>
                </a:solidFill>
                <a:latin typeface="Times New Roman" pitchFamily="34" charset="0"/>
                <a:ea typeface="Times New Roman" pitchFamily="34" charset="-122"/>
                <a:cs typeface="Times New Roman" pitchFamily="34" charset="-120"/>
              </a:rPr>
              <a:t>Implementation: </a:t>
            </a:r>
            <a:r>
              <a:rPr lang="en-US" sz="1500" dirty="0">
                <a:solidFill>
                  <a:srgbClr val="1A1A1A"/>
                </a:solidFill>
                <a:latin typeface="Times New Roman" pitchFamily="34" charset="0"/>
                <a:ea typeface="Times New Roman" pitchFamily="34" charset="-122"/>
                <a:cs typeface="Times New Roman" pitchFamily="34" charset="-120"/>
              </a:rPr>
              <a:t>the layer wraps existing models; SHAP, Captum, XGBoost and PyTorch are mature.</a:t>
            </a:r>
            <a:endParaRPr lang="en-US" sz="1500" dirty="0"/>
          </a:p>
          <a:p>
            <a:pPr marL="342900" indent="-342900">
              <a:spcAft>
                <a:spcPts val="600"/>
              </a:spcAft>
              <a:buSzPct val="100000"/>
              <a:buChar char="•"/>
            </a:pPr>
            <a:r>
              <a:rPr lang="en-US" sz="1500" b="1" dirty="0">
                <a:solidFill>
                  <a:srgbClr val="1A1A1A"/>
                </a:solidFill>
                <a:latin typeface="Times New Roman" pitchFamily="34" charset="0"/>
                <a:ea typeface="Times New Roman" pitchFamily="34" charset="-122"/>
                <a:cs typeface="Times New Roman" pitchFamily="34" charset="-120"/>
              </a:rPr>
              <a:t>Evaluation: </a:t>
            </a:r>
            <a:r>
              <a:rPr lang="en-US" sz="1500" dirty="0">
                <a:solidFill>
                  <a:srgbClr val="1A1A1A"/>
                </a:solidFill>
                <a:latin typeface="Times New Roman" pitchFamily="34" charset="0"/>
                <a:ea typeface="Times New Roman" pitchFamily="34" charset="-122"/>
                <a:cs typeface="Times New Roman" pitchFamily="34" charset="-120"/>
              </a:rPr>
              <a:t>failure labels are defined before the detector, so evaluation is not circular.</a:t>
            </a:r>
            <a:endParaRPr lang="en-US" sz="1500" dirty="0"/>
          </a:p>
          <a:p>
            <a:pPr marL="342900" indent="-342900">
              <a:spcAft>
                <a:spcPts val="600"/>
              </a:spcAft>
              <a:buSzPct val="100000"/>
              <a:buChar char="•"/>
            </a:pPr>
            <a:r>
              <a:rPr lang="en-US" sz="1500" b="1" dirty="0">
                <a:solidFill>
                  <a:srgbClr val="1A1A1A"/>
                </a:solidFill>
                <a:latin typeface="Times New Roman" pitchFamily="34" charset="0"/>
                <a:ea typeface="Times New Roman" pitchFamily="34" charset="-122"/>
                <a:cs typeface="Times New Roman" pitchFamily="34" charset="-120"/>
              </a:rPr>
              <a:t>Systematic: </a:t>
            </a:r>
            <a:r>
              <a:rPr lang="en-US" sz="1500" dirty="0">
                <a:solidFill>
                  <a:srgbClr val="1A1A1A"/>
                </a:solidFill>
                <a:latin typeface="Times New Roman" pitchFamily="34" charset="0"/>
                <a:ea typeface="Times New Roman" pitchFamily="34" charset="-122"/>
                <a:cs typeface="Times New Roman" pitchFamily="34" charset="-120"/>
              </a:rPr>
              <a:t>perfect reliability is impossible under collinearity, so we detect rather than eliminate.</a:t>
            </a:r>
            <a:endParaRPr lang="en-US" sz="1500" dirty="0"/>
          </a:p>
          <a:p>
            <a:pPr marL="342900" indent="-342900">
              <a:spcAft>
                <a:spcPts val="600"/>
              </a:spcAft>
              <a:buSzPct val="100000"/>
              <a:buChar char="•"/>
            </a:pPr>
            <a:r>
              <a:rPr lang="en-US" sz="1500" b="1" dirty="0">
                <a:solidFill>
                  <a:srgbClr val="1A1A1A"/>
                </a:solidFill>
                <a:latin typeface="Times New Roman" pitchFamily="34" charset="0"/>
                <a:ea typeface="Times New Roman" pitchFamily="34" charset="-122"/>
                <a:cs typeface="Times New Roman" pitchFamily="34" charset="-120"/>
              </a:rPr>
              <a:t>Practical: </a:t>
            </a:r>
            <a:r>
              <a:rPr lang="en-US" sz="1500" dirty="0">
                <a:solidFill>
                  <a:srgbClr val="1A1A1A"/>
                </a:solidFill>
                <a:latin typeface="Times New Roman" pitchFamily="34" charset="0"/>
                <a:ea typeface="Times New Roman" pitchFamily="34" charset="-122"/>
                <a:cs typeface="Times New Roman" pitchFamily="34" charset="-120"/>
              </a:rPr>
              <a:t>a post-hoc layer, not real-time; latency and cost are acceptable.</a:t>
            </a:r>
            <a:endParaRPr lang="en-US" sz="1500" dirty="0"/>
          </a:p>
        </p:txBody>
      </p:sp>
      <p:sp>
        <p:nvSpPr>
          <p:cNvPr id="10" name="Shape 7"/>
          <p:cNvSpPr/>
          <p:nvPr/>
        </p:nvSpPr>
        <p:spPr>
          <a:xfrm>
            <a:off x="6172200" y="5166360"/>
            <a:ext cx="5687568" cy="1051560"/>
          </a:xfrm>
          <a:prstGeom prst="roundRect">
            <a:avLst>
              <a:gd name="adj" fmla="val 8696"/>
            </a:avLst>
          </a:prstGeom>
          <a:solidFill>
            <a:srgbClr val="F0F0F0"/>
          </a:solidFill>
          <a:ln w="15875">
            <a:solidFill>
              <a:srgbClr val="2B3A6B"/>
            </a:solidFill>
            <a:prstDash val="solid"/>
          </a:ln>
        </p:spPr>
      </p:sp>
      <p:sp>
        <p:nvSpPr>
          <p:cNvPr id="11" name="Text 8"/>
          <p:cNvSpPr txBox="1"/>
          <p:nvPr/>
        </p:nvSpPr>
        <p:spPr>
          <a:xfrm>
            <a:off x="6291072" y="5166360"/>
            <a:ext cx="5458968" cy="1051560"/>
          </a:xfrm>
          <a:prstGeom prst="rect">
            <a:avLst/>
          </a:prstGeom>
          <a:noFill/>
          <a:ln/>
        </p:spPr>
        <p:txBody>
          <a:bodyPr wrap="square" lIns="63500" tIns="63500" rIns="63500" bIns="63500" rtlCol="0" anchor="ctr"/>
          <a:lstStyle/>
          <a:p>
            <a:pPr marL="0" indent="0">
              <a:buNone/>
            </a:pPr>
            <a:r>
              <a:rPr lang="en-US" sz="1500" b="1" dirty="0">
                <a:solidFill>
                  <a:srgbClr val="1A1A1A"/>
                </a:solidFill>
                <a:latin typeface="Times New Roman" pitchFamily="34" charset="0"/>
                <a:ea typeface="Times New Roman" pitchFamily="34" charset="-122"/>
                <a:cs typeface="Times New Roman" pitchFamily="34" charset="-120"/>
              </a:rPr>
              <a:t>One Line Conclusion: </a:t>
            </a:r>
            <a:r>
              <a:rPr lang="en-US" sz="1500" dirty="0">
                <a:solidFill>
                  <a:srgbClr val="1A1A1A"/>
                </a:solidFill>
                <a:latin typeface="Times New Roman" pitchFamily="34" charset="0"/>
                <a:ea typeface="Times New Roman" pitchFamily="34" charset="-122"/>
                <a:cs typeface="Times New Roman" pitchFamily="34" charset="-120"/>
              </a:rPr>
              <a:t>feasible as a phased prototype on existing models; real-time deployment and prospective validation are future extensions.</a:t>
            </a:r>
            <a:endParaRPr lang="en-US" sz="1500" dirty="0"/>
          </a:p>
        </p:txBody>
      </p:sp>
      <p:sp>
        <p:nvSpPr>
          <p:cNvPr id="12" name="Text 9"/>
          <p:cNvSpPr txBox="1"/>
          <p:nvPr/>
        </p:nvSpPr>
        <p:spPr>
          <a:xfrm>
            <a:off x="329184" y="6309360"/>
            <a:ext cx="11530584" cy="320040"/>
          </a:xfrm>
          <a:prstGeom prst="rect">
            <a:avLst/>
          </a:prstGeom>
          <a:noFill/>
          <a:ln/>
        </p:spPr>
        <p:txBody>
          <a:bodyPr wrap="square" lIns="63500" tIns="63500" rIns="63500" bIns="63500" rtlCol="0" anchor="t"/>
          <a:lstStyle/>
          <a:p>
            <a:pPr marL="0" indent="0">
              <a:buNone/>
            </a:pPr>
            <a:r>
              <a:rPr lang="en-US" sz="1200" dirty="0">
                <a:solidFill>
                  <a:srgbClr val="555555"/>
                </a:solidFill>
                <a:latin typeface="Times New Roman" pitchFamily="34" charset="0"/>
                <a:ea typeface="Times New Roman" pitchFamily="34" charset="-122"/>
                <a:cs typeface="Times New Roman" pitchFamily="34" charset="-120"/>
              </a:rPr>
              <a:t>References: physionet.org/content/challenge-2019/1.0.0/  |  github.com/shap/shap  |  captum.ai</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Applications / Use Cases</a:t>
            </a:r>
            <a:endParaRPr lang="en-US" sz="2400" dirty="0"/>
          </a:p>
        </p:txBody>
      </p:sp>
      <p:sp>
        <p:nvSpPr>
          <p:cNvPr id="4" name="Shape 1"/>
          <p:cNvSpPr/>
          <p:nvPr/>
        </p:nvSpPr>
        <p:spPr>
          <a:xfrm>
            <a:off x="329184" y="1783080"/>
            <a:ext cx="3721608" cy="2103120"/>
          </a:xfrm>
          <a:prstGeom prst="roundRect">
            <a:avLst>
              <a:gd name="adj" fmla="val 4348"/>
            </a:avLst>
          </a:prstGeom>
          <a:solidFill>
            <a:srgbClr val="FFFFFF"/>
          </a:solidFill>
          <a:ln w="15875">
            <a:solidFill>
              <a:srgbClr val="D40000"/>
            </a:solidFill>
            <a:prstDash val="solid"/>
          </a:ln>
        </p:spPr>
      </p:sp>
      <p:sp>
        <p:nvSpPr>
          <p:cNvPr id="5" name="Text 2"/>
          <p:cNvSpPr txBox="1"/>
          <p:nvPr/>
        </p:nvSpPr>
        <p:spPr>
          <a:xfrm>
            <a:off x="466344" y="1874520"/>
            <a:ext cx="3447288" cy="1920240"/>
          </a:xfrm>
          <a:prstGeom prst="rect">
            <a:avLst/>
          </a:prstGeom>
          <a:noFill/>
          <a:ln/>
        </p:spPr>
        <p:txBody>
          <a:bodyPr wrap="square" lIns="63500" tIns="63500" rIns="63500" bIns="63500" rtlCol="0" anchor="t"/>
          <a:lstStyle/>
          <a:p>
            <a:pPr marL="0" indent="0">
              <a:buNone/>
            </a:pPr>
            <a:r>
              <a:rPr lang="en-US" sz="1900" b="1" dirty="0">
                <a:solidFill>
                  <a:srgbClr val="D40000"/>
                </a:solidFill>
                <a:latin typeface="Times New Roman" pitchFamily="34" charset="0"/>
                <a:ea typeface="Times New Roman" pitchFamily="34" charset="-122"/>
                <a:cs typeface="Times New Roman" pitchFamily="34" charset="-120"/>
              </a:rPr>
              <a:t>1. ICU decision support</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A reliability label sits beside every sepsis risk score, so doctors know when not to over-rely on feature attributions.</a:t>
            </a:r>
            <a:endParaRPr lang="en-US" sz="1600" dirty="0"/>
          </a:p>
        </p:txBody>
      </p:sp>
      <p:sp>
        <p:nvSpPr>
          <p:cNvPr id="6" name="Shape 3"/>
          <p:cNvSpPr/>
          <p:nvPr/>
        </p:nvSpPr>
        <p:spPr>
          <a:xfrm>
            <a:off x="4242816" y="1783080"/>
            <a:ext cx="3721608" cy="2103120"/>
          </a:xfrm>
          <a:prstGeom prst="roundRect">
            <a:avLst>
              <a:gd name="adj" fmla="val 4348"/>
            </a:avLst>
          </a:prstGeom>
          <a:solidFill>
            <a:srgbClr val="FFFFFF"/>
          </a:solidFill>
          <a:ln w="15875">
            <a:solidFill>
              <a:srgbClr val="E08A00"/>
            </a:solidFill>
            <a:prstDash val="solid"/>
          </a:ln>
        </p:spPr>
      </p:sp>
      <p:sp>
        <p:nvSpPr>
          <p:cNvPr id="7" name="Text 4"/>
          <p:cNvSpPr txBox="1"/>
          <p:nvPr/>
        </p:nvSpPr>
        <p:spPr>
          <a:xfrm>
            <a:off x="4379976" y="1874520"/>
            <a:ext cx="3447288" cy="1920240"/>
          </a:xfrm>
          <a:prstGeom prst="rect">
            <a:avLst/>
          </a:prstGeom>
          <a:noFill/>
          <a:ln/>
        </p:spPr>
        <p:txBody>
          <a:bodyPr wrap="square" lIns="63500" tIns="63500" rIns="63500" bIns="63500" rtlCol="0" anchor="t"/>
          <a:lstStyle/>
          <a:p>
            <a:pPr marL="0" indent="0">
              <a:buNone/>
            </a:pPr>
            <a:r>
              <a:rPr lang="en-US" sz="1900" b="1" dirty="0">
                <a:solidFill>
                  <a:srgbClr val="E08A00"/>
                </a:solidFill>
                <a:latin typeface="Times New Roman" pitchFamily="34" charset="0"/>
                <a:ea typeface="Times New Roman" pitchFamily="34" charset="-122"/>
                <a:cs typeface="Times New Roman" pitchFamily="34" charset="-120"/>
              </a:rPr>
              <a:t>2. Model auditing</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AI governance teams audit deployed sepsis models regularly and catch explanation drift over time.</a:t>
            </a:r>
            <a:endParaRPr lang="en-US" sz="1600" dirty="0"/>
          </a:p>
        </p:txBody>
      </p:sp>
      <p:sp>
        <p:nvSpPr>
          <p:cNvPr id="8" name="Shape 5"/>
          <p:cNvSpPr/>
          <p:nvPr/>
        </p:nvSpPr>
        <p:spPr>
          <a:xfrm>
            <a:off x="8147304" y="1783080"/>
            <a:ext cx="3721608" cy="2103120"/>
          </a:xfrm>
          <a:prstGeom prst="roundRect">
            <a:avLst>
              <a:gd name="adj" fmla="val 4348"/>
            </a:avLst>
          </a:prstGeom>
          <a:solidFill>
            <a:srgbClr val="FFFFFF"/>
          </a:solidFill>
          <a:ln w="15875">
            <a:solidFill>
              <a:srgbClr val="0033CC"/>
            </a:solidFill>
            <a:prstDash val="solid"/>
          </a:ln>
        </p:spPr>
      </p:sp>
      <p:sp>
        <p:nvSpPr>
          <p:cNvPr id="9" name="Text 6"/>
          <p:cNvSpPr txBox="1"/>
          <p:nvPr/>
        </p:nvSpPr>
        <p:spPr>
          <a:xfrm>
            <a:off x="8284464" y="1874520"/>
            <a:ext cx="3447288" cy="1920240"/>
          </a:xfrm>
          <a:prstGeom prst="rect">
            <a:avLst/>
          </a:prstGeom>
          <a:noFill/>
          <a:ln/>
        </p:spPr>
        <p:txBody>
          <a:bodyPr wrap="square" lIns="63500" tIns="63500" rIns="63500" bIns="63500" rtlCol="0" anchor="t"/>
          <a:lstStyle/>
          <a:p>
            <a:pPr marL="0" indent="0">
              <a:buNone/>
            </a:pPr>
            <a:r>
              <a:rPr lang="en-US" sz="1900" b="1" dirty="0">
                <a:solidFill>
                  <a:srgbClr val="0033CC"/>
                </a:solidFill>
                <a:latin typeface="Times New Roman" pitchFamily="34" charset="0"/>
                <a:ea typeface="Times New Roman" pitchFamily="34" charset="-122"/>
                <a:cs typeface="Times New Roman" pitchFamily="34" charset="-120"/>
              </a:rPr>
              <a:t>3. XAI method comparison</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Researchers evaluate how reliable different explanation methods are on clinical time-series data.</a:t>
            </a:r>
            <a:endParaRPr lang="en-US" sz="1600" dirty="0"/>
          </a:p>
        </p:txBody>
      </p:sp>
      <p:sp>
        <p:nvSpPr>
          <p:cNvPr id="10" name="Shape 7"/>
          <p:cNvSpPr/>
          <p:nvPr/>
        </p:nvSpPr>
        <p:spPr>
          <a:xfrm>
            <a:off x="329184" y="4114800"/>
            <a:ext cx="5715000" cy="2103120"/>
          </a:xfrm>
          <a:prstGeom prst="roundRect">
            <a:avLst>
              <a:gd name="adj" fmla="val 4348"/>
            </a:avLst>
          </a:prstGeom>
          <a:solidFill>
            <a:srgbClr val="FFFFFF"/>
          </a:solidFill>
          <a:ln w="15875">
            <a:solidFill>
              <a:srgbClr val="128C8C"/>
            </a:solidFill>
            <a:prstDash val="solid"/>
          </a:ln>
        </p:spPr>
      </p:sp>
      <p:sp>
        <p:nvSpPr>
          <p:cNvPr id="11" name="Text 8"/>
          <p:cNvSpPr txBox="1"/>
          <p:nvPr/>
        </p:nvSpPr>
        <p:spPr>
          <a:xfrm>
            <a:off x="466344" y="4206240"/>
            <a:ext cx="5440680" cy="1920240"/>
          </a:xfrm>
          <a:prstGeom prst="rect">
            <a:avLst/>
          </a:prstGeom>
          <a:noFill/>
          <a:ln/>
        </p:spPr>
        <p:txBody>
          <a:bodyPr wrap="square" lIns="63500" tIns="63500" rIns="63500" bIns="63500" rtlCol="0" anchor="t"/>
          <a:lstStyle/>
          <a:p>
            <a:pPr marL="0" indent="0">
              <a:buNone/>
            </a:pPr>
            <a:r>
              <a:rPr lang="en-US" sz="1900" b="1" dirty="0">
                <a:solidFill>
                  <a:srgbClr val="128C8C"/>
                </a:solidFill>
                <a:latin typeface="Times New Roman" pitchFamily="34" charset="0"/>
                <a:ea typeface="Times New Roman" pitchFamily="34" charset="-122"/>
                <a:cs typeface="Times New Roman" pitchFamily="34" charset="-120"/>
              </a:rPr>
              <a:t>4. Regulatory support</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Quantitative reliability evidence for explainability requirements in AI medical-device submissions.</a:t>
            </a:r>
            <a:endParaRPr lang="en-US" sz="1600" dirty="0"/>
          </a:p>
        </p:txBody>
      </p:sp>
      <p:sp>
        <p:nvSpPr>
          <p:cNvPr id="12" name="Shape 9"/>
          <p:cNvSpPr/>
          <p:nvPr/>
        </p:nvSpPr>
        <p:spPr>
          <a:xfrm>
            <a:off x="6144768" y="4114800"/>
            <a:ext cx="5715000" cy="2103120"/>
          </a:xfrm>
          <a:prstGeom prst="roundRect">
            <a:avLst>
              <a:gd name="adj" fmla="val 4348"/>
            </a:avLst>
          </a:prstGeom>
          <a:solidFill>
            <a:srgbClr val="FFFFFF"/>
          </a:solidFill>
          <a:ln w="15875">
            <a:solidFill>
              <a:srgbClr val="2E8B57"/>
            </a:solidFill>
            <a:prstDash val="solid"/>
          </a:ln>
        </p:spPr>
      </p:sp>
      <p:sp>
        <p:nvSpPr>
          <p:cNvPr id="13" name="Text 10"/>
          <p:cNvSpPr txBox="1"/>
          <p:nvPr/>
        </p:nvSpPr>
        <p:spPr>
          <a:xfrm>
            <a:off x="6281928" y="4206240"/>
            <a:ext cx="5440680" cy="1920240"/>
          </a:xfrm>
          <a:prstGeom prst="rect">
            <a:avLst/>
          </a:prstGeom>
          <a:noFill/>
          <a:ln/>
        </p:spPr>
        <p:txBody>
          <a:bodyPr wrap="square" lIns="63500" tIns="63500" rIns="63500" bIns="63500" rtlCol="0" anchor="t"/>
          <a:lstStyle/>
          <a:p>
            <a:pPr marL="0" indent="0">
              <a:buNone/>
            </a:pPr>
            <a:r>
              <a:rPr lang="en-US" sz="1900" b="1" dirty="0">
                <a:solidFill>
                  <a:srgbClr val="2E8B57"/>
                </a:solidFill>
                <a:latin typeface="Times New Roman" pitchFamily="34" charset="0"/>
                <a:ea typeface="Times New Roman" pitchFamily="34" charset="-122"/>
                <a:cs typeface="Times New Roman" pitchFamily="34" charset="-120"/>
              </a:rPr>
              <a:t>5. Reusable pattern</a:t>
            </a:r>
            <a:endParaRPr lang="en-US" sz="1600" dirty="0"/>
          </a:p>
          <a:p>
            <a:pPr marL="0" indent="0">
              <a:buNone/>
            </a:pPr>
            <a:r>
              <a:rPr lang="en-US" sz="1600" dirty="0">
                <a:solidFill>
                  <a:srgbClr val="1A1A1A"/>
                </a:solidFill>
                <a:latin typeface="Times New Roman" pitchFamily="34" charset="0"/>
                <a:ea typeface="Times New Roman" pitchFamily="34" charset="-122"/>
                <a:cs typeface="Times New Roman" pitchFamily="34" charset="-120"/>
              </a:rPr>
              <a:t>Detect, diagnose, mitigate, abstain applies to any clinical prediction task with correlated features and missing data.</a:t>
            </a:r>
            <a:endParaRPr lang="en-US" sz="1600" dirty="0"/>
          </a:p>
        </p:txBody>
      </p:sp>
    </p:spTree>
    <p:extLst>
      <p:ext uri="{BB962C8B-B14F-4D97-AF65-F5344CB8AC3E}">
        <p14:creationId xmlns:p14="http://schemas.microsoft.com/office/powerpoint/2010/main" val="3532696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75438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Literature Study</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629705603"/>
              </p:ext>
            </p:extLst>
          </p:nvPr>
        </p:nvGraphicFramePr>
        <p:xfrm>
          <a:off x="484570" y="1918002"/>
          <a:ext cx="11521440" cy="4434840"/>
        </p:xfrm>
        <a:graphic>
          <a:graphicData uri="http://schemas.openxmlformats.org/drawingml/2006/table">
            <a:tbl>
              <a:tblPr/>
              <a:tblGrid>
                <a:gridCol w="26517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11480">
                <a:tc>
                  <a:txBody>
                    <a:bodyPr/>
                    <a:lstStyle/>
                    <a:p>
                      <a:pPr marL="0" indent="0">
                        <a:buNone/>
                      </a:pPr>
                      <a:r>
                        <a:rPr lang="en-US" sz="1400" b="1" dirty="0">
                          <a:solidFill>
                            <a:srgbClr val="FFFFFF"/>
                          </a:solidFill>
                          <a:latin typeface="+mj-lt"/>
                          <a:ea typeface="Times New Roman" pitchFamily="34" charset="-122"/>
                          <a:cs typeface="Times New Roman" pitchFamily="34" charset="-120"/>
                        </a:rPr>
                        <a:t>Paper / Study</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400" b="1" dirty="0">
                          <a:solidFill>
                            <a:srgbClr val="FFFFFF"/>
                          </a:solidFill>
                          <a:latin typeface="+mj-lt"/>
                          <a:ea typeface="Times New Roman" pitchFamily="34" charset="-122"/>
                          <a:cs typeface="Times New Roman" pitchFamily="34" charset="-120"/>
                        </a:rPr>
                        <a:t>Problem</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400" b="1" dirty="0">
                          <a:solidFill>
                            <a:srgbClr val="FFFFFF"/>
                          </a:solidFill>
                          <a:latin typeface="+mj-lt"/>
                          <a:ea typeface="Times New Roman" pitchFamily="34" charset="-122"/>
                          <a:cs typeface="Times New Roman" pitchFamily="34" charset="-120"/>
                        </a:rPr>
                        <a:t>Approach / Method</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400" b="1" dirty="0">
                          <a:solidFill>
                            <a:srgbClr val="FFFFFF"/>
                          </a:solidFill>
                          <a:latin typeface="+mj-lt"/>
                          <a:ea typeface="Times New Roman" pitchFamily="34" charset="-122"/>
                          <a:cs typeface="Times New Roman" pitchFamily="34" charset="-120"/>
                        </a:rPr>
                        <a:t>Limitations</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400" b="1" dirty="0">
                          <a:solidFill>
                            <a:srgbClr val="FFFFFF"/>
                          </a:solidFill>
                          <a:latin typeface="+mj-lt"/>
                          <a:ea typeface="Times New Roman" pitchFamily="34" charset="-122"/>
                          <a:cs typeface="Times New Roman" pitchFamily="34" charset="-120"/>
                        </a:rPr>
                        <a:t>Relevance to our work</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extLst>
                  <a:ext uri="{0D108BD9-81ED-4DB2-BD59-A6C34878D82A}">
                    <a16:rowId xmlns:a16="http://schemas.microsoft.com/office/drawing/2014/main" val="10000"/>
                  </a:ext>
                </a:extLst>
              </a:tr>
              <a:tr h="804672">
                <a:tc>
                  <a:txBody>
                    <a:bodyPr/>
                    <a:lstStyle/>
                    <a:p>
                      <a:pPr marL="0" indent="0">
                        <a:buNone/>
                      </a:pPr>
                      <a:r>
                        <a:rPr lang="en-IN" sz="1400" b="1" i="0" kern="1200" dirty="0">
                          <a:solidFill>
                            <a:srgbClr val="0033CC"/>
                          </a:solidFill>
                          <a:effectLst/>
                          <a:latin typeface="+mj-lt"/>
                          <a:ea typeface="+mn-ea"/>
                          <a:cs typeface="+mn-cs"/>
                          <a:hlinkClick r:id="rId3"/>
                        </a:rPr>
                        <a:t>The Attribution Impossibility (2026)</a:t>
                      </a:r>
                      <a:endParaRPr lang="en-US" sz="1400" dirty="0">
                        <a:solidFill>
                          <a:srgbClr val="0033CC"/>
                        </a:solidFill>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IN" sz="1400" b="0" i="0" kern="1200" dirty="0">
                          <a:solidFill>
                            <a:schemeClr val="tx1"/>
                          </a:solidFill>
                          <a:effectLst/>
                          <a:latin typeface="+mj-lt"/>
                          <a:ea typeface="+mn-ea"/>
                          <a:cs typeface="+mn-cs"/>
                        </a:rPr>
                        <a:t>Can feature rankings be faithful, stable, and complete?</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IN" sz="1400" b="0" i="0" kern="1200" dirty="0">
                          <a:solidFill>
                            <a:schemeClr val="tx1"/>
                          </a:solidFill>
                          <a:effectLst/>
                          <a:latin typeface="+mj-lt"/>
                          <a:ea typeface="+mn-ea"/>
                          <a:cs typeface="+mn-cs"/>
                        </a:rPr>
                        <a:t>Theoretical, not clinical</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IN" sz="1400" b="0" i="0" kern="1200" dirty="0">
                          <a:solidFill>
                            <a:schemeClr val="tx1"/>
                          </a:solidFill>
                          <a:effectLst/>
                          <a:latin typeface="+mj-lt"/>
                          <a:ea typeface="+mn-ea"/>
                          <a:cs typeface="+mn-cs"/>
                        </a:rPr>
                        <a:t>Formal proof + Lean 4 verification</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IN" sz="1400" b="0" i="0" kern="1200" dirty="0">
                          <a:solidFill>
                            <a:schemeClr val="tx1"/>
                          </a:solidFill>
                          <a:effectLst/>
                          <a:latin typeface="+mj-lt"/>
                          <a:ea typeface="+mn-ea"/>
                          <a:cs typeface="+mn-cs"/>
                        </a:rPr>
                        <a:t>Mathematical foundation for detecting SHAP instability</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4672">
                <a:tc>
                  <a:txBody>
                    <a:bodyPr/>
                    <a:lstStyle/>
                    <a:p>
                      <a:pPr marL="0" indent="0">
                        <a:buNone/>
                      </a:pPr>
                      <a:r>
                        <a:rPr lang="en-IN" sz="1400" b="1" i="0" kern="1200" dirty="0">
                          <a:solidFill>
                            <a:schemeClr val="tx1"/>
                          </a:solidFill>
                          <a:effectLst/>
                          <a:latin typeface="+mj-lt"/>
                          <a:ea typeface="+mn-ea"/>
                          <a:cs typeface="+mn-cs"/>
                          <a:hlinkClick r:id="rId4"/>
                        </a:rPr>
                        <a:t>First-Mover Bias (2026)</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IN" sz="1400" b="0" i="0" kern="1200" dirty="0">
                          <a:solidFill>
                            <a:schemeClr val="tx1"/>
                          </a:solidFill>
                          <a:effectLst/>
                          <a:latin typeface="+mj-lt"/>
                          <a:ea typeface="+mn-ea"/>
                          <a:cs typeface="+mn-cs"/>
                        </a:rPr>
                        <a:t>Why does </a:t>
                      </a:r>
                      <a:r>
                        <a:rPr lang="en-IN" sz="1400" b="0" i="0" kern="1200" dirty="0" err="1">
                          <a:solidFill>
                            <a:schemeClr val="tx1"/>
                          </a:solidFill>
                          <a:effectLst/>
                          <a:latin typeface="+mj-lt"/>
                          <a:ea typeface="+mn-ea"/>
                          <a:cs typeface="+mn-cs"/>
                        </a:rPr>
                        <a:t>XGBoost</a:t>
                      </a:r>
                      <a:r>
                        <a:rPr lang="en-IN" sz="1400" b="0" i="0" kern="1200" dirty="0">
                          <a:solidFill>
                            <a:schemeClr val="tx1"/>
                          </a:solidFill>
                          <a:effectLst/>
                          <a:latin typeface="+mj-lt"/>
                          <a:ea typeface="+mn-ea"/>
                          <a:cs typeface="+mn-cs"/>
                        </a:rPr>
                        <a:t> SHAP fail?</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IN" sz="1400" b="0" i="0" kern="1200" dirty="0">
                          <a:solidFill>
                            <a:schemeClr val="tx1"/>
                          </a:solidFill>
                          <a:effectLst/>
                          <a:latin typeface="+mj-lt"/>
                          <a:ea typeface="+mn-ea"/>
                          <a:cs typeface="+mn-cs"/>
                        </a:rPr>
                        <a:t>Isolates mechanism: sequential boosting concentrates on first feature</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IN" sz="1400" b="0" i="0" kern="1200" dirty="0">
                          <a:solidFill>
                            <a:schemeClr val="tx1"/>
                          </a:solidFill>
                          <a:effectLst/>
                          <a:latin typeface="+mj-lt"/>
                          <a:ea typeface="+mn-ea"/>
                          <a:cs typeface="+mn-cs"/>
                        </a:rPr>
                        <a:t>Not applied to sepsis</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IN" sz="1400" b="0" i="0" kern="1200" dirty="0">
                          <a:solidFill>
                            <a:schemeClr val="tx1"/>
                          </a:solidFill>
                          <a:effectLst/>
                          <a:latin typeface="+mj-lt"/>
                          <a:ea typeface="+mn-ea"/>
                          <a:cs typeface="+mn-cs"/>
                        </a:rPr>
                        <a:t>Explains failure mode for our </a:t>
                      </a:r>
                      <a:r>
                        <a:rPr lang="en-IN" sz="1400" b="0" i="0" kern="1200" dirty="0" err="1">
                          <a:solidFill>
                            <a:schemeClr val="tx1"/>
                          </a:solidFill>
                          <a:effectLst/>
                          <a:latin typeface="+mj-lt"/>
                          <a:ea typeface="+mn-ea"/>
                          <a:cs typeface="+mn-cs"/>
                        </a:rPr>
                        <a:t>XGBoost</a:t>
                      </a:r>
                      <a:r>
                        <a:rPr lang="en-IN" sz="1400" b="0" i="0" kern="1200" dirty="0">
                          <a:solidFill>
                            <a:schemeClr val="tx1"/>
                          </a:solidFill>
                          <a:effectLst/>
                          <a:latin typeface="+mj-lt"/>
                          <a:ea typeface="+mn-ea"/>
                          <a:cs typeface="+mn-cs"/>
                        </a:rPr>
                        <a:t> model</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804672">
                <a:tc>
                  <a:txBody>
                    <a:bodyPr/>
                    <a:lstStyle/>
                    <a:p>
                      <a:r>
                        <a:rPr lang="en-IN" sz="1400" b="1" i="0" kern="1200" dirty="0">
                          <a:solidFill>
                            <a:schemeClr val="tx1"/>
                          </a:solidFill>
                          <a:effectLst/>
                          <a:latin typeface="+mj-lt"/>
                          <a:ea typeface="+mn-ea"/>
                          <a:cs typeface="+mn-cs"/>
                          <a:hlinkClick r:id="rId5"/>
                        </a:rPr>
                        <a:t> Aas, </a:t>
                      </a:r>
                      <a:r>
                        <a:rPr lang="en-IN" sz="1400" b="1" i="0" kern="1200" dirty="0" err="1">
                          <a:solidFill>
                            <a:schemeClr val="tx1"/>
                          </a:solidFill>
                          <a:effectLst/>
                          <a:latin typeface="+mj-lt"/>
                          <a:ea typeface="+mn-ea"/>
                          <a:cs typeface="+mn-cs"/>
                          <a:hlinkClick r:id="rId5"/>
                        </a:rPr>
                        <a:t>Jullum</a:t>
                      </a:r>
                      <a:r>
                        <a:rPr lang="en-IN" sz="1400" b="1" i="0" kern="1200" dirty="0">
                          <a:solidFill>
                            <a:schemeClr val="tx1"/>
                          </a:solidFill>
                          <a:effectLst/>
                          <a:latin typeface="+mj-lt"/>
                          <a:ea typeface="+mn-ea"/>
                          <a:cs typeface="+mn-cs"/>
                          <a:hlinkClick r:id="rId5"/>
                        </a:rPr>
                        <a:t> &amp; Løland (2021)</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IN" sz="1400" b="0" i="0" kern="1200" dirty="0">
                          <a:solidFill>
                            <a:schemeClr val="tx1"/>
                          </a:solidFill>
                          <a:effectLst/>
                          <a:latin typeface="+mj-lt"/>
                          <a:ea typeface="+mn-ea"/>
                          <a:cs typeface="+mn-cs"/>
                        </a:rPr>
                        <a:t>How to handle dependent features?</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IN" sz="1400" b="0" i="0" kern="1200" dirty="0">
                          <a:solidFill>
                            <a:schemeClr val="tx1"/>
                          </a:solidFill>
                          <a:effectLst/>
                          <a:latin typeface="+mj-lt"/>
                          <a:ea typeface="+mn-ea"/>
                          <a:cs typeface="+mn-cs"/>
                        </a:rPr>
                        <a:t>Conditional distribution estimation (Gaussian, Copula)</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IN" sz="1400" b="0" i="0" kern="1200" dirty="0">
                          <a:solidFill>
                            <a:schemeClr val="tx1"/>
                          </a:solidFill>
                          <a:effectLst/>
                          <a:latin typeface="+mj-lt"/>
                          <a:ea typeface="+mn-ea"/>
                          <a:cs typeface="+mn-cs"/>
                        </a:rPr>
                        <a:t>Not applied to sepsis</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IN" sz="1400" b="0" i="0" kern="1200" dirty="0">
                          <a:solidFill>
                            <a:schemeClr val="tx1"/>
                          </a:solidFill>
                          <a:effectLst/>
                          <a:latin typeface="+mj-lt"/>
                          <a:ea typeface="+mn-ea"/>
                          <a:cs typeface="+mn-cs"/>
                        </a:rPr>
                        <a:t>Mitigation for feature correlation</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4672">
                <a:tc>
                  <a:txBody>
                    <a:bodyPr/>
                    <a:lstStyle/>
                    <a:p>
                      <a:pPr marL="0" indent="0">
                        <a:buNone/>
                      </a:pPr>
                      <a:r>
                        <a:rPr lang="en-US" sz="1400" b="1" dirty="0">
                          <a:solidFill>
                            <a:srgbClr val="0033CC"/>
                          </a:solidFill>
                          <a:latin typeface="+mj-lt"/>
                          <a:ea typeface="Times New Roman" pitchFamily="34" charset="-122"/>
                          <a:cs typeface="Times New Roman" pitchFamily="34" charset="-120"/>
                          <a:hlinkClick r:id="rId6"/>
                        </a:rPr>
                        <a:t>LSTM-GAT on PhysioNet 2019, Khorram &amp; Kouchaki (2026)</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mj-lt"/>
                          <a:ea typeface="Times New Roman" pitchFamily="34" charset="-122"/>
                          <a:cs typeface="Times New Roman" pitchFamily="34" charset="-120"/>
                        </a:rPr>
                        <a:t>Early sepsis prediction</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mj-lt"/>
                          <a:ea typeface="Times New Roman" pitchFamily="34" charset="-122"/>
                          <a:cs typeface="Times New Roman" pitchFamily="34" charset="-120"/>
                        </a:rPr>
                        <a:t>LSTM + graph attention, 5 seeds; AUROC 0.853</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mj-lt"/>
                          <a:ea typeface="Times New Roman" pitchFamily="34" charset="-122"/>
                          <a:cs typeface="Times New Roman" pitchFamily="34" charset="-120"/>
                        </a:rPr>
                        <a:t>No reliability evaluation</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mj-lt"/>
                          <a:ea typeface="Times New Roman" pitchFamily="34" charset="-122"/>
                          <a:cs typeface="Times New Roman" pitchFamily="34" charset="-120"/>
                        </a:rPr>
                        <a:t>Deep-learning baseline for comparison</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804672">
                <a:tc>
                  <a:txBody>
                    <a:bodyPr/>
                    <a:lstStyle/>
                    <a:p>
                      <a:pPr marL="0" indent="0">
                        <a:buNone/>
                      </a:pPr>
                      <a:r>
                        <a:rPr lang="en-US" sz="1400" b="1" dirty="0">
                          <a:solidFill>
                            <a:srgbClr val="0033CC"/>
                          </a:solidFill>
                          <a:latin typeface="+mj-lt"/>
                          <a:ea typeface="Times New Roman" pitchFamily="34" charset="-122"/>
                          <a:cs typeface="Times New Roman" pitchFamily="34" charset="-120"/>
                          <a:hlinkClick r:id="rId7"/>
                        </a:rPr>
                        <a:t>XAI for sepsis systematic review (2026)</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mj-lt"/>
                          <a:ea typeface="Times New Roman" pitchFamily="34" charset="-122"/>
                          <a:cs typeface="Times New Roman" pitchFamily="34" charset="-120"/>
                        </a:rPr>
                        <a:t>How is XAI used in sepsis?</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mj-lt"/>
                          <a:ea typeface="Times New Roman" pitchFamily="34" charset="-122"/>
                          <a:cs typeface="Times New Roman" pitchFamily="34" charset="-120"/>
                        </a:rPr>
                        <a:t>PRISMA review of 37 studies</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mj-lt"/>
                          <a:ea typeface="Times New Roman" pitchFamily="34" charset="-122"/>
                          <a:cs typeface="Times New Roman" pitchFamily="34" charset="-120"/>
                        </a:rPr>
                        <a:t>Diagnoses the gap only</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mj-lt"/>
                          <a:ea typeface="Times New Roman" pitchFamily="34" charset="-122"/>
                          <a:cs typeface="Times New Roman" pitchFamily="34" charset="-120"/>
                        </a:rPr>
                        <a:t>Establishes the need for reliability</a:t>
                      </a:r>
                      <a:endParaRPr lang="en-US" sz="1400" dirty="0">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Proposed Approach</a:t>
            </a:r>
            <a:endParaRPr lang="en-US" sz="2400" dirty="0"/>
          </a:p>
        </p:txBody>
      </p:sp>
      <p:sp>
        <p:nvSpPr>
          <p:cNvPr id="4" name="Text 1"/>
          <p:cNvSpPr/>
          <p:nvPr/>
        </p:nvSpPr>
        <p:spPr>
          <a:xfrm>
            <a:off x="329184"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ICU time-series</a:t>
            </a:r>
            <a:endParaRPr lang="en-US" sz="15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40 variables, hourly</a:t>
            </a:r>
            <a:endParaRPr lang="en-US" sz="1500" dirty="0"/>
          </a:p>
        </p:txBody>
      </p:sp>
      <p:sp>
        <p:nvSpPr>
          <p:cNvPr id="5" name="Shape 2"/>
          <p:cNvSpPr/>
          <p:nvPr/>
        </p:nvSpPr>
        <p:spPr>
          <a:xfrm>
            <a:off x="1792224" y="2468880"/>
            <a:ext cx="214884" cy="0"/>
          </a:xfrm>
          <a:prstGeom prst="line">
            <a:avLst/>
          </a:prstGeom>
          <a:noFill/>
          <a:ln w="19050">
            <a:solidFill>
              <a:srgbClr val="555555"/>
            </a:solidFill>
            <a:prstDash val="solid"/>
            <a:tailEnd type="triangle"/>
          </a:ln>
        </p:spPr>
      </p:sp>
      <p:sp>
        <p:nvSpPr>
          <p:cNvPr id="6" name="Text 3"/>
          <p:cNvSpPr/>
          <p:nvPr/>
        </p:nvSpPr>
        <p:spPr>
          <a:xfrm>
            <a:off x="2007108"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Prediction models</a:t>
            </a:r>
            <a:endParaRPr lang="en-US" sz="15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XGBoost, RF, LSTM</a:t>
            </a:r>
            <a:endParaRPr lang="en-US" sz="1500" dirty="0"/>
          </a:p>
        </p:txBody>
      </p:sp>
      <p:sp>
        <p:nvSpPr>
          <p:cNvPr id="7" name="Shape 4"/>
          <p:cNvSpPr/>
          <p:nvPr/>
        </p:nvSpPr>
        <p:spPr>
          <a:xfrm>
            <a:off x="3470148" y="2468880"/>
            <a:ext cx="214884" cy="0"/>
          </a:xfrm>
          <a:prstGeom prst="line">
            <a:avLst/>
          </a:prstGeom>
          <a:noFill/>
          <a:ln w="19050">
            <a:solidFill>
              <a:srgbClr val="555555"/>
            </a:solidFill>
            <a:prstDash val="solid"/>
            <a:tailEnd type="triangle"/>
          </a:ln>
        </p:spPr>
      </p:sp>
      <p:sp>
        <p:nvSpPr>
          <p:cNvPr id="8" name="Text 5"/>
          <p:cNvSpPr/>
          <p:nvPr/>
        </p:nvSpPr>
        <p:spPr>
          <a:xfrm>
            <a:off x="3685032" y="1783080"/>
            <a:ext cx="1463040" cy="1371600"/>
          </a:xfrm>
          <a:prstGeom prst="roundRect">
            <a:avLst>
              <a:gd name="adj" fmla="val 6667"/>
            </a:avLst>
          </a:prstGeom>
          <a:solidFill>
            <a:srgbClr val="EEF3FC"/>
          </a:solidFill>
          <a:ln w="12700">
            <a:solidFill>
              <a:srgbClr val="B8C4E0"/>
            </a:solidFill>
          </a:ln>
        </p:spPr>
        <p:txBody>
          <a:bodyPr wrap="square" lIns="50800" tIns="50800" rIns="50800" bIns="50800"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Explanations</a:t>
            </a:r>
            <a:endParaRPr lang="en-US" sz="1500" dirty="0"/>
          </a:p>
          <a:p>
            <a:pPr marL="0" indent="0" algn="ctr">
              <a:buNone/>
            </a:pPr>
            <a:r>
              <a:rPr lang="en-US" sz="1200" dirty="0">
                <a:solidFill>
                  <a:srgbClr val="1A1A1A"/>
                </a:solidFill>
                <a:latin typeface="Times New Roman" pitchFamily="34" charset="0"/>
                <a:ea typeface="Times New Roman" pitchFamily="34" charset="-122"/>
                <a:cs typeface="Times New Roman" pitchFamily="34" charset="-120"/>
              </a:rPr>
              <a:t>TreeSHAP, Kernel SHAP, IG</a:t>
            </a:r>
            <a:endParaRPr lang="en-US" sz="1500" dirty="0"/>
          </a:p>
        </p:txBody>
      </p:sp>
      <p:sp>
        <p:nvSpPr>
          <p:cNvPr id="9" name="Shape 6"/>
          <p:cNvSpPr/>
          <p:nvPr/>
        </p:nvSpPr>
        <p:spPr>
          <a:xfrm>
            <a:off x="5148072" y="2468880"/>
            <a:ext cx="214884" cy="0"/>
          </a:xfrm>
          <a:prstGeom prst="line">
            <a:avLst/>
          </a:prstGeom>
          <a:noFill/>
          <a:ln w="19050">
            <a:solidFill>
              <a:srgbClr val="555555"/>
            </a:solidFill>
            <a:prstDash val="solid"/>
            <a:tailEnd type="triangle"/>
          </a:ln>
        </p:spPr>
      </p:sp>
      <p:sp>
        <p:nvSpPr>
          <p:cNvPr id="10" name="Text 7"/>
          <p:cNvSpPr/>
          <p:nvPr/>
        </p:nvSpPr>
        <p:spPr>
          <a:xfrm>
            <a:off x="5362956"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1. Detect</a:t>
            </a:r>
            <a:endParaRPr lang="en-US" sz="1500" dirty="0"/>
          </a:p>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Stability, faithfulness, robustness</a:t>
            </a:r>
            <a:endParaRPr lang="en-US" sz="1500" dirty="0"/>
          </a:p>
        </p:txBody>
      </p:sp>
      <p:sp>
        <p:nvSpPr>
          <p:cNvPr id="11" name="Shape 8"/>
          <p:cNvSpPr/>
          <p:nvPr/>
        </p:nvSpPr>
        <p:spPr>
          <a:xfrm>
            <a:off x="6825996" y="2468880"/>
            <a:ext cx="214884" cy="0"/>
          </a:xfrm>
          <a:prstGeom prst="line">
            <a:avLst/>
          </a:prstGeom>
          <a:noFill/>
          <a:ln w="19050">
            <a:solidFill>
              <a:srgbClr val="555555"/>
            </a:solidFill>
            <a:prstDash val="solid"/>
            <a:tailEnd type="triangle"/>
          </a:ln>
        </p:spPr>
      </p:sp>
      <p:sp>
        <p:nvSpPr>
          <p:cNvPr id="12" name="Text 9"/>
          <p:cNvSpPr/>
          <p:nvPr/>
        </p:nvSpPr>
        <p:spPr>
          <a:xfrm>
            <a:off x="7040880"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2. Diagnose</a:t>
            </a:r>
            <a:endParaRPr lang="en-US" sz="1500" dirty="0"/>
          </a:p>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Find the failure mode</a:t>
            </a:r>
            <a:endParaRPr lang="en-US" sz="1500" dirty="0"/>
          </a:p>
        </p:txBody>
      </p:sp>
      <p:sp>
        <p:nvSpPr>
          <p:cNvPr id="13" name="Shape 10"/>
          <p:cNvSpPr/>
          <p:nvPr/>
        </p:nvSpPr>
        <p:spPr>
          <a:xfrm>
            <a:off x="8503920" y="2468880"/>
            <a:ext cx="214884" cy="0"/>
          </a:xfrm>
          <a:prstGeom prst="line">
            <a:avLst/>
          </a:prstGeom>
          <a:noFill/>
          <a:ln w="19050">
            <a:solidFill>
              <a:srgbClr val="555555"/>
            </a:solidFill>
            <a:prstDash val="solid"/>
            <a:tailEnd type="triangle"/>
          </a:ln>
        </p:spPr>
      </p:sp>
      <p:sp>
        <p:nvSpPr>
          <p:cNvPr id="14" name="Text 11"/>
          <p:cNvSpPr/>
          <p:nvPr/>
        </p:nvSpPr>
        <p:spPr>
          <a:xfrm>
            <a:off x="8718804"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3. Mitigate</a:t>
            </a:r>
            <a:endParaRPr lang="en-US" sz="1500" dirty="0"/>
          </a:p>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Targeted fix per mode</a:t>
            </a:r>
            <a:endParaRPr lang="en-US" sz="1500" dirty="0"/>
          </a:p>
        </p:txBody>
      </p:sp>
      <p:sp>
        <p:nvSpPr>
          <p:cNvPr id="15" name="Shape 12"/>
          <p:cNvSpPr/>
          <p:nvPr/>
        </p:nvSpPr>
        <p:spPr>
          <a:xfrm>
            <a:off x="10181844" y="2468880"/>
            <a:ext cx="214884" cy="0"/>
          </a:xfrm>
          <a:prstGeom prst="line">
            <a:avLst/>
          </a:prstGeom>
          <a:noFill/>
          <a:ln w="19050">
            <a:solidFill>
              <a:srgbClr val="555555"/>
            </a:solidFill>
            <a:prstDash val="solid"/>
            <a:tailEnd type="triangle"/>
          </a:ln>
        </p:spPr>
      </p:sp>
      <p:sp>
        <p:nvSpPr>
          <p:cNvPr id="16" name="Text 13"/>
          <p:cNvSpPr/>
          <p:nvPr/>
        </p:nvSpPr>
        <p:spPr>
          <a:xfrm>
            <a:off x="10396728" y="1783080"/>
            <a:ext cx="1463040" cy="1371600"/>
          </a:xfrm>
          <a:prstGeom prst="roundRect">
            <a:avLst>
              <a:gd name="adj" fmla="val 6667"/>
            </a:avLst>
          </a:prstGeom>
          <a:solidFill>
            <a:srgbClr val="0033CC"/>
          </a:solidFill>
          <a:ln w="12700">
            <a:solidFill>
              <a:srgbClr val="0033CC"/>
            </a:solidFill>
          </a:ln>
        </p:spPr>
        <p:txBody>
          <a:bodyPr wrap="square" lIns="50800" tIns="50800" rIns="50800" bIns="5080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4. Abstain</a:t>
            </a:r>
            <a:endParaRPr lang="en-US" sz="1500" dirty="0"/>
          </a:p>
          <a:p>
            <a:pPr marL="0" indent="0" algn="ctr">
              <a:buNone/>
            </a:pPr>
            <a:r>
              <a:rPr lang="en-US" sz="1200" dirty="0">
                <a:solidFill>
                  <a:srgbClr val="FFFFFF"/>
                </a:solidFill>
                <a:latin typeface="Times New Roman" pitchFamily="34" charset="0"/>
                <a:ea typeface="Times New Roman" pitchFamily="34" charset="-122"/>
                <a:cs typeface="Times New Roman" pitchFamily="34" charset="-120"/>
              </a:rPr>
              <a:t>Flag if R(x) &lt; 0.5</a:t>
            </a:r>
            <a:endParaRPr lang="en-US" sz="1500" dirty="0"/>
          </a:p>
        </p:txBody>
      </p:sp>
      <p:sp>
        <p:nvSpPr>
          <p:cNvPr id="17" name="Text 14"/>
          <p:cNvSpPr txBox="1"/>
          <p:nvPr/>
        </p:nvSpPr>
        <p:spPr>
          <a:xfrm>
            <a:off x="329184" y="3291840"/>
            <a:ext cx="11530584" cy="411480"/>
          </a:xfrm>
          <a:prstGeom prst="rect">
            <a:avLst/>
          </a:prstGeom>
          <a:noFill/>
          <a:ln/>
        </p:spPr>
        <p:txBody>
          <a:bodyPr wrap="square" lIns="63500" tIns="63500" rIns="63500" bIns="63500" rtlCol="0" anchor="t"/>
          <a:lstStyle/>
          <a:p>
            <a:pPr marL="0" indent="0">
              <a:buNone/>
            </a:pPr>
            <a:r>
              <a:rPr lang="en-US" sz="1500" i="1" dirty="0">
                <a:solidFill>
                  <a:srgbClr val="444444"/>
                </a:solidFill>
                <a:latin typeface="Times New Roman" pitchFamily="34" charset="0"/>
                <a:ea typeface="Times New Roman" pitchFamily="34" charset="-122"/>
                <a:cs typeface="Times New Roman" pitchFamily="34" charset="-120"/>
              </a:rPr>
              <a:t>Blue boxes = our contribution. Output: a reliable explanation, or an “Explanation unreliable” warning.</a:t>
            </a:r>
            <a:endParaRPr lang="en-US" sz="1500" dirty="0"/>
          </a:p>
        </p:txBody>
      </p:sp>
      <p:sp>
        <p:nvSpPr>
          <p:cNvPr id="18" name="Shape 15"/>
          <p:cNvSpPr/>
          <p:nvPr/>
        </p:nvSpPr>
        <p:spPr>
          <a:xfrm>
            <a:off x="329184" y="3840480"/>
            <a:ext cx="5577840" cy="1920240"/>
          </a:xfrm>
          <a:prstGeom prst="roundRect">
            <a:avLst>
              <a:gd name="adj" fmla="val 4762"/>
            </a:avLst>
          </a:prstGeom>
          <a:solidFill>
            <a:srgbClr val="EEF3FC"/>
          </a:solidFill>
          <a:ln w="15875">
            <a:solidFill>
              <a:srgbClr val="DCE4F5"/>
            </a:solidFill>
            <a:prstDash val="solid"/>
          </a:ln>
        </p:spPr>
      </p:sp>
      <p:sp>
        <p:nvSpPr>
          <p:cNvPr id="19" name="Text 16"/>
          <p:cNvSpPr txBox="1"/>
          <p:nvPr/>
        </p:nvSpPr>
        <p:spPr>
          <a:xfrm>
            <a:off x="457200" y="3904488"/>
            <a:ext cx="5349240" cy="1783080"/>
          </a:xfrm>
          <a:prstGeom prst="rect">
            <a:avLst/>
          </a:prstGeom>
          <a:noFill/>
          <a:ln/>
        </p:spPr>
        <p:txBody>
          <a:bodyPr wrap="square" lIns="63500" tIns="63500" rIns="63500" bIns="63500" rtlCol="0" anchor="t"/>
          <a:lstStyle/>
          <a:p>
            <a:pPr marL="0" indent="0">
              <a:buNone/>
            </a:pPr>
            <a:r>
              <a:rPr lang="en-US" sz="2000" b="1" dirty="0">
                <a:solidFill>
                  <a:srgbClr val="0033CC"/>
                </a:solidFill>
                <a:latin typeface="Times New Roman" pitchFamily="34" charset="0"/>
                <a:ea typeface="Times New Roman" pitchFamily="34" charset="-122"/>
                <a:cs typeface="Times New Roman" pitchFamily="34" charset="-120"/>
              </a:rPr>
              <a:t>Reliability score</a:t>
            </a:r>
            <a:endParaRPr lang="en-US" sz="1600" dirty="0"/>
          </a:p>
          <a:p>
            <a:pPr marL="0" indent="0">
              <a:buNone/>
            </a:pPr>
            <a:r>
              <a:rPr lang="en-US" sz="1900" dirty="0">
                <a:solidFill>
                  <a:srgbClr val="1A1A1A"/>
                </a:solidFill>
                <a:latin typeface="Times New Roman" pitchFamily="34" charset="0"/>
                <a:ea typeface="Times New Roman" pitchFamily="34" charset="-122"/>
                <a:cs typeface="Times New Roman" pitchFamily="34" charset="-120"/>
              </a:rPr>
              <a:t>R(x) = w_s · Stability(x) + w_f · Faithfulness(x)</a:t>
            </a:r>
            <a:endParaRPr lang="en-US" sz="1600" dirty="0"/>
          </a:p>
          <a:p>
            <a:pPr marL="0" indent="0">
              <a:buNone/>
            </a:pPr>
            <a:r>
              <a:rPr lang="en-US" sz="1900" dirty="0">
                <a:solidFill>
                  <a:srgbClr val="1A1A1A"/>
                </a:solidFill>
                <a:latin typeface="Times New Roman" pitchFamily="34" charset="0"/>
                <a:ea typeface="Times New Roman" pitchFamily="34" charset="-122"/>
                <a:cs typeface="Times New Roman" pitchFamily="34" charset="-120"/>
              </a:rPr>
              <a:t>          + w_r · Robustness(x)</a:t>
            </a:r>
            <a:endParaRPr lang="en-US" sz="1600" dirty="0"/>
          </a:p>
          <a:p>
            <a:pPr marL="0" indent="0">
              <a:buNone/>
            </a:pPr>
            <a:r>
              <a:rPr lang="en-US" sz="1500" dirty="0">
                <a:solidFill>
                  <a:srgbClr val="1A1A1A"/>
                </a:solidFill>
                <a:latin typeface="Times New Roman" pitchFamily="34" charset="0"/>
                <a:ea typeface="Times New Roman" pitchFamily="34" charset="-122"/>
                <a:cs typeface="Times New Roman" pitchFamily="34" charset="-120"/>
              </a:rPr>
              <a:t>Weights start at 1/3 each and are tuned on the validation set.</a:t>
            </a:r>
            <a:endParaRPr lang="en-US" sz="1600" dirty="0"/>
          </a:p>
        </p:txBody>
      </p:sp>
      <p:sp>
        <p:nvSpPr>
          <p:cNvPr id="20" name="Shape 17"/>
          <p:cNvSpPr/>
          <p:nvPr/>
        </p:nvSpPr>
        <p:spPr>
          <a:xfrm>
            <a:off x="6135624" y="3840480"/>
            <a:ext cx="5724144" cy="1920240"/>
          </a:xfrm>
          <a:prstGeom prst="roundRect">
            <a:avLst>
              <a:gd name="adj" fmla="val 4762"/>
            </a:avLst>
          </a:prstGeom>
          <a:solidFill>
            <a:srgbClr val="FFFFFF"/>
          </a:solidFill>
          <a:ln w="15875">
            <a:solidFill>
              <a:srgbClr val="D40000"/>
            </a:solidFill>
            <a:prstDash val="solid"/>
          </a:ln>
        </p:spPr>
      </p:sp>
      <p:sp>
        <p:nvSpPr>
          <p:cNvPr id="21" name="Text 18"/>
          <p:cNvSpPr txBox="1"/>
          <p:nvPr/>
        </p:nvSpPr>
        <p:spPr>
          <a:xfrm>
            <a:off x="6263640" y="3904488"/>
            <a:ext cx="5486400" cy="1783080"/>
          </a:xfrm>
          <a:prstGeom prst="rect">
            <a:avLst/>
          </a:prstGeom>
          <a:noFill/>
          <a:ln/>
        </p:spPr>
        <p:txBody>
          <a:bodyPr wrap="square" lIns="63500" tIns="63500" rIns="63500" bIns="63500" rtlCol="0" anchor="t"/>
          <a:lstStyle/>
          <a:p>
            <a:pPr marL="0" indent="0">
              <a:buNone/>
            </a:pPr>
            <a:r>
              <a:rPr lang="en-US" sz="2000" b="1" dirty="0">
                <a:solidFill>
                  <a:srgbClr val="D40000"/>
                </a:solidFill>
                <a:latin typeface="Times New Roman" pitchFamily="34" charset="0"/>
                <a:ea typeface="Times New Roman" pitchFamily="34" charset="-122"/>
                <a:cs typeface="Times New Roman" pitchFamily="34" charset="-120"/>
              </a:rPr>
              <a:t>Example output</a:t>
            </a:r>
            <a:endParaRPr lang="en-US" sz="1600" dirty="0"/>
          </a:p>
          <a:p>
            <a:pPr marL="0" indent="0">
              <a:buNone/>
            </a:pPr>
            <a:r>
              <a:rPr lang="en-US" sz="1700" i="1" dirty="0">
                <a:solidFill>
                  <a:srgbClr val="1A1A1A"/>
                </a:solidFill>
                <a:latin typeface="Times New Roman" pitchFamily="34" charset="0"/>
                <a:ea typeface="Times New Roman" pitchFamily="34" charset="-122"/>
                <a:cs typeface="Times New Roman" pitchFamily="34" charset="-120"/>
              </a:rPr>
              <a:t>“Prediction: 82% sepsis risk. Explanation reliability: LOW. Top feature ranking is unstable across model retraining. Use clinical judgment.”</a:t>
            </a:r>
            <a:endParaRPr lang="en-US" sz="1600" dirty="0"/>
          </a:p>
        </p:txBody>
      </p:sp>
      <p:sp>
        <p:nvSpPr>
          <p:cNvPr id="22" name="Text 19"/>
          <p:cNvSpPr txBox="1"/>
          <p:nvPr/>
        </p:nvSpPr>
        <p:spPr>
          <a:xfrm>
            <a:off x="329184" y="5943600"/>
            <a:ext cx="11530584" cy="365760"/>
          </a:xfrm>
          <a:prstGeom prst="rect">
            <a:avLst/>
          </a:prstGeom>
          <a:noFill/>
          <a:ln/>
        </p:spPr>
        <p:txBody>
          <a:bodyPr wrap="square" lIns="63500" tIns="63500" rIns="63500" bIns="63500" rtlCol="0" anchor="t"/>
          <a:lstStyle/>
          <a:p>
            <a:pPr marL="0" indent="0">
              <a:buNone/>
            </a:pPr>
            <a:r>
              <a:rPr lang="en-US" sz="1300" i="1" dirty="0">
                <a:solidFill>
                  <a:srgbClr val="555555"/>
                </a:solidFill>
                <a:latin typeface="Times New Roman" pitchFamily="34" charset="0"/>
                <a:ea typeface="Times New Roman" pitchFamily="34" charset="-122"/>
                <a:cs typeface="Times New Roman" pitchFamily="34" charset="-120"/>
              </a:rPr>
              <a:t>Stack: Python | XGBoost / scikit-learn | PyTorch | SHAP | Captum | SciPy | Pandas / NumPy | Streamlit (optional)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Reliability Layer: Detect</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4194445127"/>
              </p:ext>
            </p:extLst>
          </p:nvPr>
        </p:nvGraphicFramePr>
        <p:xfrm>
          <a:off x="329184" y="1783080"/>
          <a:ext cx="11521440" cy="3429000"/>
        </p:xfrm>
        <a:graphic>
          <a:graphicData uri="http://schemas.openxmlformats.org/drawingml/2006/table">
            <a:tbl>
              <a:tblPr/>
              <a:tblGrid>
                <a:gridCol w="265176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11480">
                <a:tc>
                  <a:txBody>
                    <a:bodyPr/>
                    <a:lstStyle/>
                    <a:p>
                      <a:pPr marL="0" indent="0">
                        <a:buNone/>
                      </a:pPr>
                      <a:r>
                        <a:rPr lang="en-IN" sz="1500" b="1" i="0" kern="1200" dirty="0">
                          <a:solidFill>
                            <a:schemeClr val="bg1"/>
                          </a:solidFill>
                          <a:effectLst/>
                          <a:latin typeface="+mj-lt"/>
                          <a:ea typeface="+mn-ea"/>
                          <a:cs typeface="+mn-cs"/>
                        </a:rPr>
                        <a:t>Metric</a:t>
                      </a:r>
                      <a:endParaRPr lang="en-US" sz="1500" b="1" dirty="0">
                        <a:solidFill>
                          <a:schemeClr val="bg1"/>
                        </a:solidFill>
                        <a:latin typeface="+mj-lt"/>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What we do</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Flag it when</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extLst>
                  <a:ext uri="{0D108BD9-81ED-4DB2-BD59-A6C34878D82A}">
                    <a16:rowId xmlns:a16="http://schemas.microsoft.com/office/drawing/2014/main" val="10000"/>
                  </a:ext>
                </a:extLst>
              </a:tr>
              <a:tr h="86868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A. Stability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Train the same model 10 times with different seeds and compare the explanation for the same patient (Spearman rank correlation, top-k Jaccard overlap)</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Jaccard is below 0.6</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B. Faithfulness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Get explanations from two methods (SHAP and Integrated Gradients) and see how much their top features overlap</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The two methods disagree strongly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86868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C. Robustness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Change one input a little, for example heart rate by ±5 bpm, and see how much the explanation moves (cosine similarity, distance, change rate)</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Cosine similarity is below 0.8</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D. Temporal stability (LSTM)</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Check that the important time steps stay the same at 6 h, 8 h and 10 h before onset</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The important time window shifts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bl>
          </a:graphicData>
        </a:graphic>
      </p:graphicFrame>
      <p:sp>
        <p:nvSpPr>
          <p:cNvPr id="5" name="Text 1"/>
          <p:cNvSpPr txBox="1"/>
          <p:nvPr/>
        </p:nvSpPr>
        <p:spPr>
          <a:xfrm>
            <a:off x="329184" y="5303520"/>
            <a:ext cx="11530584" cy="365760"/>
          </a:xfrm>
          <a:prstGeom prst="rect">
            <a:avLst/>
          </a:prstGeom>
          <a:noFill/>
          <a:ln/>
        </p:spPr>
        <p:txBody>
          <a:bodyPr wrap="square" lIns="63500" tIns="63500" rIns="63500" bIns="63500" rtlCol="0" anchor="t"/>
          <a:lstStyle/>
          <a:p>
            <a:pPr marL="0" indent="0">
              <a:buNone/>
            </a:pPr>
            <a:r>
              <a:rPr lang="en-US" sz="1700" b="1" dirty="0">
                <a:solidFill>
                  <a:srgbClr val="0033CC"/>
                </a:solidFill>
                <a:latin typeface="Times New Roman" pitchFamily="34" charset="0"/>
                <a:ea typeface="Times New Roman" pitchFamily="34" charset="-122"/>
                <a:cs typeface="Times New Roman" pitchFamily="34" charset="-120"/>
              </a:rPr>
              <a:t>Independent failure labels (defined before we build the detector, so the test is fair)</a:t>
            </a:r>
            <a:endParaRPr lang="en-US" sz="1700" dirty="0"/>
          </a:p>
        </p:txBody>
      </p:sp>
      <p:sp>
        <p:nvSpPr>
          <p:cNvPr id="6" name="Text 2"/>
          <p:cNvSpPr/>
          <p:nvPr/>
        </p:nvSpPr>
        <p:spPr>
          <a:xfrm>
            <a:off x="329184" y="5760720"/>
            <a:ext cx="2743200" cy="548640"/>
          </a:xfrm>
          <a:prstGeom prst="roundRect">
            <a:avLst>
              <a:gd name="adj" fmla="val 16667"/>
            </a:avLst>
          </a:prstGeom>
          <a:solidFill>
            <a:srgbClr val="EEF3FC"/>
          </a:solidFill>
          <a:ln w="12700">
            <a:solidFill>
              <a:srgbClr val="B8C4E0"/>
            </a:solidFill>
          </a:ln>
        </p:spPr>
        <p:txBody>
          <a:bodyPr wrap="square"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Retraining instability</a:t>
            </a:r>
            <a:endParaRPr lang="en-US" sz="1500" dirty="0"/>
          </a:p>
        </p:txBody>
      </p:sp>
      <p:sp>
        <p:nvSpPr>
          <p:cNvPr id="7" name="Text 3"/>
          <p:cNvSpPr/>
          <p:nvPr/>
        </p:nvSpPr>
        <p:spPr>
          <a:xfrm>
            <a:off x="3255264" y="5770051"/>
            <a:ext cx="2743200" cy="548640"/>
          </a:xfrm>
          <a:prstGeom prst="roundRect">
            <a:avLst>
              <a:gd name="adj" fmla="val 16667"/>
            </a:avLst>
          </a:prstGeom>
          <a:solidFill>
            <a:srgbClr val="EEF3FC"/>
          </a:solidFill>
          <a:ln w="12700">
            <a:solidFill>
              <a:srgbClr val="B8C4E0"/>
            </a:solidFill>
          </a:ln>
        </p:spPr>
        <p:txBody>
          <a:bodyPr wrap="square"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Perturbation sensitivity</a:t>
            </a:r>
            <a:endParaRPr lang="en-US" sz="1500" dirty="0"/>
          </a:p>
        </p:txBody>
      </p:sp>
      <p:sp>
        <p:nvSpPr>
          <p:cNvPr id="8" name="Text 4"/>
          <p:cNvSpPr/>
          <p:nvPr/>
        </p:nvSpPr>
        <p:spPr>
          <a:xfrm>
            <a:off x="6181344" y="5760720"/>
            <a:ext cx="2743200" cy="548640"/>
          </a:xfrm>
          <a:prstGeom prst="roundRect">
            <a:avLst>
              <a:gd name="adj" fmla="val 16667"/>
            </a:avLst>
          </a:prstGeom>
          <a:solidFill>
            <a:srgbClr val="EEF3FC"/>
          </a:solidFill>
          <a:ln w="12700">
            <a:solidFill>
              <a:srgbClr val="B8C4E0"/>
            </a:solidFill>
          </a:ln>
        </p:spPr>
        <p:txBody>
          <a:bodyPr wrap="square"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Missingness sensitivity</a:t>
            </a:r>
            <a:endParaRPr lang="en-US" sz="1500" dirty="0"/>
          </a:p>
        </p:txBody>
      </p:sp>
      <p:sp>
        <p:nvSpPr>
          <p:cNvPr id="9" name="Text 5"/>
          <p:cNvSpPr/>
          <p:nvPr/>
        </p:nvSpPr>
        <p:spPr>
          <a:xfrm>
            <a:off x="9107424" y="5760720"/>
            <a:ext cx="2743200" cy="548640"/>
          </a:xfrm>
          <a:prstGeom prst="roundRect">
            <a:avLst>
              <a:gd name="adj" fmla="val 16667"/>
            </a:avLst>
          </a:prstGeom>
          <a:solidFill>
            <a:srgbClr val="EEF3FC"/>
          </a:solidFill>
          <a:ln w="12700">
            <a:solidFill>
              <a:srgbClr val="B8C4E0"/>
            </a:solidFill>
          </a:ln>
        </p:spPr>
        <p:txBody>
          <a:bodyPr wrap="square" rtlCol="0" anchor="ctr"/>
          <a:lstStyle/>
          <a:p>
            <a:pPr marL="0" indent="0" algn="ctr">
              <a:buNone/>
            </a:pPr>
            <a:r>
              <a:rPr lang="en-US" sz="1500" b="1" dirty="0">
                <a:solidFill>
                  <a:srgbClr val="1A1A1A"/>
                </a:solidFill>
                <a:latin typeface="Times New Roman" pitchFamily="34" charset="0"/>
                <a:ea typeface="Times New Roman" pitchFamily="34" charset="-122"/>
                <a:cs typeface="Times New Roman" pitchFamily="34" charset="-120"/>
              </a:rPr>
              <a:t>Explainer disagreement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15171"/>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Diagnose, Mitigate and Abstain</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9184" y="1783080"/>
          <a:ext cx="11521440" cy="2926080"/>
        </p:xfrm>
        <a:graphic>
          <a:graphicData uri="http://schemas.openxmlformats.org/drawingml/2006/table">
            <a:tbl>
              <a:tblPr/>
              <a:tblGrid>
                <a:gridCol w="29260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11480">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Failure mode</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Diagnosis</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Mitigation</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Feature correlation</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Pairwise correlation among top-K features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Dependence-aware attribution (Latent SHAP)</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Missingness sensitivity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Compare imputed vs dropped explanations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Informative missingness modelling</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Model instability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Retraining variance</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Ensemble attribution across models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Perturbation sensitivity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Explanation change under small input changes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ReCalX-style calibration</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502920">
                <a:tc>
                  <a:txBody>
                    <a:bodyPr/>
                    <a:lstStyle/>
                    <a:p>
                      <a:pPr marL="0" indent="0">
                        <a:buNone/>
                      </a:pPr>
                      <a:r>
                        <a:rPr lang="en-US" sz="1400" b="1" dirty="0">
                          <a:solidFill>
                            <a:srgbClr val="0033CC"/>
                          </a:solidFill>
                          <a:latin typeface="Times New Roman" pitchFamily="34" charset="0"/>
                          <a:ea typeface="Times New Roman" pitchFamily="34" charset="-122"/>
                          <a:cs typeface="Times New Roman" pitchFamily="34" charset="-120"/>
                        </a:rPr>
                        <a:t>Temporal instability</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Important time window shifts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DeltaSHAP (explains changes between time steps)</a:t>
                      </a:r>
                      <a:endParaRPr lang="en-US" sz="14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1"/>
          <p:cNvSpPr/>
          <p:nvPr/>
        </p:nvSpPr>
        <p:spPr>
          <a:xfrm>
            <a:off x="329184" y="4983480"/>
            <a:ext cx="11530584" cy="1417320"/>
          </a:xfrm>
          <a:prstGeom prst="roundRect">
            <a:avLst>
              <a:gd name="adj" fmla="val 6452"/>
            </a:avLst>
          </a:prstGeom>
          <a:solidFill>
            <a:srgbClr val="FFF3F3"/>
          </a:solidFill>
          <a:ln w="15875">
            <a:solidFill>
              <a:srgbClr val="D40000"/>
            </a:solidFill>
            <a:prstDash val="solid"/>
          </a:ln>
        </p:spPr>
      </p:sp>
      <p:sp>
        <p:nvSpPr>
          <p:cNvPr id="6" name="Text 2"/>
          <p:cNvSpPr txBox="1"/>
          <p:nvPr/>
        </p:nvSpPr>
        <p:spPr>
          <a:xfrm>
            <a:off x="502920" y="5029200"/>
            <a:ext cx="11155680" cy="1325880"/>
          </a:xfrm>
          <a:prstGeom prst="rect">
            <a:avLst/>
          </a:prstGeom>
          <a:noFill/>
          <a:ln/>
        </p:spPr>
        <p:txBody>
          <a:bodyPr wrap="square" lIns="63500" tIns="63500" rIns="63500" bIns="63500" rtlCol="0" anchor="ctr"/>
          <a:lstStyle/>
          <a:p>
            <a:pPr marL="0" indent="0">
              <a:buNone/>
            </a:pPr>
            <a:r>
              <a:rPr lang="en-US" sz="2000" b="1" dirty="0">
                <a:solidFill>
                  <a:srgbClr val="D40000"/>
                </a:solidFill>
                <a:latin typeface="Times New Roman" pitchFamily="34" charset="0"/>
                <a:ea typeface="Times New Roman" pitchFamily="34" charset="-122"/>
                <a:cs typeface="Times New Roman" pitchFamily="34" charset="-120"/>
              </a:rPr>
              <a:t>Stage 4 – Abstain</a:t>
            </a:r>
            <a:endParaRPr lang="en-US" sz="1600" dirty="0"/>
          </a:p>
          <a:p>
            <a:pPr marL="0" indent="0">
              <a:buNone/>
            </a:pPr>
            <a:r>
              <a:rPr lang="en-US" sz="1700" dirty="0">
                <a:solidFill>
                  <a:srgbClr val="1A1A1A"/>
                </a:solidFill>
                <a:latin typeface="Times New Roman" pitchFamily="34" charset="0"/>
                <a:ea typeface="Times New Roman" pitchFamily="34" charset="-122"/>
                <a:cs typeface="Times New Roman" pitchFamily="34" charset="-120"/>
              </a:rPr>
              <a:t>If R(x) &lt; 0.5, show the risk score with a LOW-reliability warning instead of a feature ranking: “Top feature ranking is unstable across model retraining. Use clinical judgment.”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Novelty Statement</a:t>
            </a:r>
            <a:endParaRPr lang="en-US" sz="2400" dirty="0"/>
          </a:p>
        </p:txBody>
      </p:sp>
      <p:sp>
        <p:nvSpPr>
          <p:cNvPr id="4" name="Shape 1"/>
          <p:cNvSpPr/>
          <p:nvPr/>
        </p:nvSpPr>
        <p:spPr>
          <a:xfrm>
            <a:off x="329184" y="1783080"/>
            <a:ext cx="11530584" cy="1143000"/>
          </a:xfrm>
          <a:prstGeom prst="roundRect">
            <a:avLst>
              <a:gd name="adj" fmla="val 8000"/>
            </a:avLst>
          </a:prstGeom>
          <a:solidFill>
            <a:srgbClr val="EEF3FC"/>
          </a:solidFill>
          <a:ln w="15875">
            <a:solidFill>
              <a:srgbClr val="0033CC"/>
            </a:solidFill>
            <a:prstDash val="solid"/>
          </a:ln>
        </p:spPr>
      </p:sp>
      <p:sp>
        <p:nvSpPr>
          <p:cNvPr id="5" name="Text 2"/>
          <p:cNvSpPr txBox="1"/>
          <p:nvPr/>
        </p:nvSpPr>
        <p:spPr>
          <a:xfrm>
            <a:off x="502920" y="1783080"/>
            <a:ext cx="11155680" cy="1143000"/>
          </a:xfrm>
          <a:prstGeom prst="rect">
            <a:avLst/>
          </a:prstGeom>
          <a:noFill/>
          <a:ln/>
        </p:spPr>
        <p:txBody>
          <a:bodyPr wrap="square" lIns="63500" tIns="63500" rIns="63500" bIns="63500" rtlCol="0" anchor="ctr"/>
          <a:lstStyle/>
          <a:p>
            <a:pPr marL="0" indent="0">
              <a:buNone/>
            </a:pPr>
            <a:r>
              <a:rPr lang="en-US" sz="1900" b="1" dirty="0">
                <a:solidFill>
                  <a:srgbClr val="D40000"/>
                </a:solidFill>
                <a:latin typeface="Times New Roman" pitchFamily="34" charset="0"/>
                <a:ea typeface="Times New Roman" pitchFamily="34" charset="-122"/>
                <a:cs typeface="Times New Roman" pitchFamily="34" charset="-120"/>
              </a:rPr>
              <a:t>Novelty: </a:t>
            </a:r>
            <a:r>
              <a:rPr lang="en-US" sz="1900" dirty="0">
                <a:solidFill>
                  <a:srgbClr val="1A1A1A"/>
                </a:solidFill>
                <a:latin typeface="Times New Roman" pitchFamily="34" charset="0"/>
                <a:ea typeface="Times New Roman" pitchFamily="34" charset="-122"/>
                <a:cs typeface="Times New Roman" pitchFamily="34" charset="-120"/>
              </a:rPr>
              <a:t>the first systematic reliability evaluation framework for SHAP explanations in early sepsis prediction, with detection, diagnosis, mitigation and explanation-level abstention.</a:t>
            </a:r>
            <a:endParaRPr lang="en-US" sz="1900" dirty="0"/>
          </a:p>
        </p:txBody>
      </p:sp>
      <p:graphicFrame>
        <p:nvGraphicFramePr>
          <p:cNvPr id="21" name="Table 0"/>
          <p:cNvGraphicFramePr>
            <a:graphicFrameLocks noGrp="1"/>
          </p:cNvGraphicFramePr>
          <p:nvPr/>
        </p:nvGraphicFramePr>
        <p:xfrm>
          <a:off x="329184" y="3154680"/>
          <a:ext cx="11521440" cy="3154680"/>
        </p:xfrm>
        <a:graphic>
          <a:graphicData uri="http://schemas.openxmlformats.org/drawingml/2006/table">
            <a:tbl>
              <a:tblPr/>
              <a:tblGrid>
                <a:gridCol w="384048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411480">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Existing work</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tc>
                  <a:txBody>
                    <a:bodyP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What is missing</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0033CC"/>
                    </a:solidFill>
                  </a:tcPr>
                </a:tc>
                <a:extLst>
                  <a:ext uri="{0D108BD9-81ED-4DB2-BD59-A6C34878D82A}">
                    <a16:rowId xmlns:a16="http://schemas.microsoft.com/office/drawing/2014/main" val="10000"/>
                  </a:ext>
                </a:extLst>
              </a:tr>
              <a:tr h="457200">
                <a:tc>
                  <a:txBody>
                    <a:bodyPr/>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Systematic reviews</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500" dirty="0">
                          <a:solidFill>
                            <a:srgbClr val="1A1A1A"/>
                          </a:solidFill>
                          <a:latin typeface="Times New Roman" pitchFamily="34" charset="0"/>
                          <a:ea typeface="Times New Roman" pitchFamily="34" charset="-122"/>
                          <a:cs typeface="Times New Roman" pitchFamily="34" charset="-120"/>
                        </a:rPr>
                        <a:t>Only point out the problem, no solution</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Loss landscape research</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500" dirty="0">
                          <a:solidFill>
                            <a:srgbClr val="1A1A1A"/>
                          </a:solidFill>
                          <a:latin typeface="Times New Roman" pitchFamily="34" charset="0"/>
                          <a:ea typeface="Times New Roman" pitchFamily="34" charset="-122"/>
                          <a:cs typeface="Times New Roman" pitchFamily="34" charset="-120"/>
                        </a:rPr>
                        <a:t>Uses general data, not sepsis or time-series</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457200">
                <a:tc>
                  <a:txBody>
                    <a:bodyPr/>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LSTM-GAT prediction</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500" dirty="0">
                          <a:solidFill>
                            <a:srgbClr val="1A1A1A"/>
                          </a:solidFill>
                          <a:latin typeface="Times New Roman" pitchFamily="34" charset="0"/>
                          <a:ea typeface="Times New Roman" pitchFamily="34" charset="-122"/>
                          <a:cs typeface="Times New Roman" pitchFamily="34" charset="-120"/>
                        </a:rPr>
                        <a:t>No reliability evaluation</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ACXAI (2026)</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500" dirty="0">
                          <a:solidFill>
                            <a:srgbClr val="1A1A1A"/>
                          </a:solidFill>
                          <a:latin typeface="Times New Roman" pitchFamily="34" charset="0"/>
                          <a:ea typeface="Times New Roman" pitchFamily="34" charset="-122"/>
                          <a:cs typeface="Times New Roman" pitchFamily="34" charset="-120"/>
                        </a:rPr>
                        <a:t>Focuses on generating explanations, not detecting unreliable ones; not sepsis</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457200">
                <a:tc>
                  <a:txBody>
                    <a:bodyPr/>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ReCalX (2025)</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tc>
                  <a:txBody>
                    <a:bodyPr/>
                    <a:lstStyle/>
                    <a:p>
                      <a:pPr marL="0" indent="0">
                        <a:buNone/>
                      </a:pPr>
                      <a:r>
                        <a:rPr lang="en-US" sz="1500" dirty="0">
                          <a:solidFill>
                            <a:srgbClr val="1A1A1A"/>
                          </a:solidFill>
                          <a:latin typeface="Times New Roman" pitchFamily="34" charset="0"/>
                          <a:ea typeface="Times New Roman" pitchFamily="34" charset="-122"/>
                          <a:cs typeface="Times New Roman" pitchFamily="34" charset="-120"/>
                        </a:rPr>
                        <a:t>Fixes only one failure mode</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Attribution Impossibility</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tc>
                  <a:txBody>
                    <a:bodyPr/>
                    <a:lstStyle/>
                    <a:p>
                      <a:pPr marL="0" indent="0">
                        <a:buNone/>
                      </a:pPr>
                      <a:r>
                        <a:rPr lang="en-US" sz="1500" dirty="0">
                          <a:solidFill>
                            <a:srgbClr val="1A1A1A"/>
                          </a:solidFill>
                          <a:latin typeface="Times New Roman" pitchFamily="34" charset="0"/>
                          <a:ea typeface="Times New Roman" pitchFamily="34" charset="-122"/>
                          <a:cs typeface="Times New Roman" pitchFamily="34" charset="-120"/>
                        </a:rPr>
                        <a:t>Theory only, no clinical framework</a:t>
                      </a:r>
                      <a:endParaRPr lang="en-US" sz="1500" dirty="0">
                        <a:latin typeface="Times New Roman" charset="0"/>
                        <a:ea typeface="Times New Roman" charset="0"/>
                        <a:cs typeface="Times New Roman" charset="0"/>
                      </a:endParaRPr>
                    </a:p>
                  </a:txBody>
                  <a:tcPr anchor="ctr">
                    <a:lnL w="9525" cap="flat" cmpd="sng" algn="ctr">
                      <a:solidFill>
                        <a:srgbClr val="B8C4E0"/>
                      </a:solidFill>
                      <a:prstDash val="solid"/>
                      <a:round/>
                      <a:headEnd type="none" w="med" len="med"/>
                      <a:tailEnd type="none" w="med" len="med"/>
                    </a:lnL>
                    <a:lnR w="9525" cap="flat" cmpd="sng" algn="ctr">
                      <a:solidFill>
                        <a:srgbClr val="B8C4E0"/>
                      </a:solidFill>
                      <a:prstDash val="solid"/>
                      <a:round/>
                      <a:headEnd type="none" w="med" len="med"/>
                      <a:tailEnd type="none" w="med" len="med"/>
                    </a:lnR>
                    <a:lnT w="9525" cap="flat" cmpd="sng" algn="ctr">
                      <a:solidFill>
                        <a:srgbClr val="B8C4E0"/>
                      </a:solidFill>
                      <a:prstDash val="solid"/>
                      <a:round/>
                      <a:headEnd type="none" w="med" len="med"/>
                      <a:tailEnd type="none" w="med" len="med"/>
                    </a:lnT>
                    <a:lnB w="9525" cap="flat" cmpd="sng" algn="ctr">
                      <a:solidFill>
                        <a:srgbClr val="B8C4E0"/>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55120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Key References</a:t>
            </a:r>
            <a:endParaRPr lang="en-US" sz="2400" dirty="0"/>
          </a:p>
        </p:txBody>
      </p:sp>
      <p:sp>
        <p:nvSpPr>
          <p:cNvPr id="4" name="Shape 1"/>
          <p:cNvSpPr/>
          <p:nvPr/>
        </p:nvSpPr>
        <p:spPr>
          <a:xfrm>
            <a:off x="329184" y="1783080"/>
            <a:ext cx="6675120" cy="4572000"/>
          </a:xfrm>
          <a:prstGeom prst="roundRect">
            <a:avLst>
              <a:gd name="adj" fmla="val 2000"/>
            </a:avLst>
          </a:prstGeom>
          <a:solidFill>
            <a:srgbClr val="F0F0F0"/>
          </a:solidFill>
          <a:ln w="15875">
            <a:solidFill>
              <a:srgbClr val="2B3A6B"/>
            </a:solidFill>
            <a:prstDash val="solid"/>
          </a:ln>
        </p:spPr>
      </p:sp>
      <p:sp>
        <p:nvSpPr>
          <p:cNvPr id="5" name="Text 2"/>
          <p:cNvSpPr txBox="1"/>
          <p:nvPr/>
        </p:nvSpPr>
        <p:spPr>
          <a:xfrm>
            <a:off x="329184" y="1856232"/>
            <a:ext cx="6675120" cy="457200"/>
          </a:xfrm>
          <a:prstGeom prst="rect">
            <a:avLst/>
          </a:prstGeom>
          <a:noFill/>
          <a:ln/>
        </p:spPr>
        <p:txBody>
          <a:bodyPr wrap="square" lIns="63500" tIns="63500" rIns="63500" bIns="63500" rtlCol="0" anchor="t"/>
          <a:lstStyle/>
          <a:p>
            <a:pPr marL="0" indent="0" algn="ctr">
              <a:buNone/>
            </a:pPr>
            <a:r>
              <a:rPr lang="en-US" sz="1900" b="1" dirty="0">
                <a:solidFill>
                  <a:srgbClr val="1A1A1A"/>
                </a:solidFill>
                <a:latin typeface="Times New Roman" pitchFamily="34" charset="0"/>
                <a:ea typeface="Times New Roman" pitchFamily="34" charset="-122"/>
                <a:cs typeface="Times New Roman" pitchFamily="34" charset="-120"/>
              </a:rPr>
              <a:t>Papers</a:t>
            </a:r>
            <a:endParaRPr lang="en-US" sz="1900" dirty="0"/>
          </a:p>
        </p:txBody>
      </p:sp>
      <p:sp>
        <p:nvSpPr>
          <p:cNvPr id="6" name="Text 3"/>
          <p:cNvSpPr txBox="1"/>
          <p:nvPr/>
        </p:nvSpPr>
        <p:spPr>
          <a:xfrm>
            <a:off x="457200" y="2331720"/>
            <a:ext cx="6446520" cy="3977640"/>
          </a:xfrm>
          <a:prstGeom prst="rect">
            <a:avLst/>
          </a:prstGeom>
          <a:noFill/>
          <a:ln/>
        </p:spPr>
        <p:txBody>
          <a:bodyPr wrap="square" lIns="63500" tIns="63500" rIns="63500" bIns="63500" rtlCol="0" anchor="t"/>
          <a:lstStyle/>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Huang &amp; Marques-Silva (2024). On the failings of Shapley values for explainability. IJAR</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Sundararajan &amp; Najmi (2020). The Many Shapley Values for Model Explanation. ICML</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Kumar et al. (2020). Problems with Shapley-value-based explanations. ICML</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Aas et al. (2021). Explaining individual predictions when features are dependent</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Zhao et al. (2024). Error Analysis of Shapley Value-Based Model Explanations</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Hu et al. (2024). Manifold-based Shapley explanations</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UbiQTree (2025). Uncertainty quantification in XAI with tree ensembles</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Khorram &amp; Kouchaki (2026). LSTM-GAT for PhysioNet 2019. BMJ Health &amp; Care Informatics</a:t>
            </a:r>
            <a:endParaRPr lang="en-US" sz="1300" dirty="0"/>
          </a:p>
          <a:p>
            <a:pPr marL="342900" indent="-342900">
              <a:spcAft>
                <a:spcPts val="3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MIMIC-Sepsis Benchmark (2025). arXiv:2505.17435</a:t>
            </a:r>
            <a:endParaRPr lang="en-US" sz="1300" dirty="0"/>
          </a:p>
        </p:txBody>
      </p:sp>
      <p:sp>
        <p:nvSpPr>
          <p:cNvPr id="7" name="Shape 4"/>
          <p:cNvSpPr/>
          <p:nvPr/>
        </p:nvSpPr>
        <p:spPr>
          <a:xfrm>
            <a:off x="7178040" y="1783080"/>
            <a:ext cx="4681728" cy="4572000"/>
          </a:xfrm>
          <a:prstGeom prst="roundRect">
            <a:avLst>
              <a:gd name="adj" fmla="val 2000"/>
            </a:avLst>
          </a:prstGeom>
          <a:solidFill>
            <a:srgbClr val="F0F0F0"/>
          </a:solidFill>
          <a:ln w="15875">
            <a:solidFill>
              <a:srgbClr val="2B3A6B"/>
            </a:solidFill>
            <a:prstDash val="solid"/>
          </a:ln>
        </p:spPr>
      </p:sp>
      <p:sp>
        <p:nvSpPr>
          <p:cNvPr id="8" name="Text 5"/>
          <p:cNvSpPr txBox="1"/>
          <p:nvPr/>
        </p:nvSpPr>
        <p:spPr>
          <a:xfrm>
            <a:off x="7178040" y="1856232"/>
            <a:ext cx="4681728" cy="457200"/>
          </a:xfrm>
          <a:prstGeom prst="rect">
            <a:avLst/>
          </a:prstGeom>
          <a:noFill/>
          <a:ln/>
        </p:spPr>
        <p:txBody>
          <a:bodyPr wrap="square" lIns="63500" tIns="63500" rIns="63500" bIns="63500" rtlCol="0" anchor="t"/>
          <a:lstStyle/>
          <a:p>
            <a:pPr marL="0" indent="0" algn="ctr">
              <a:buNone/>
            </a:pPr>
            <a:r>
              <a:rPr lang="en-US" sz="1900" b="1" dirty="0">
                <a:solidFill>
                  <a:srgbClr val="1A1A1A"/>
                </a:solidFill>
                <a:latin typeface="Times New Roman" pitchFamily="34" charset="0"/>
                <a:ea typeface="Times New Roman" pitchFamily="34" charset="-122"/>
                <a:cs typeface="Times New Roman" pitchFamily="34" charset="-120"/>
              </a:rPr>
              <a:t>Tools and datasets</a:t>
            </a:r>
            <a:endParaRPr lang="en-US" sz="1900" dirty="0"/>
          </a:p>
        </p:txBody>
      </p:sp>
      <p:sp>
        <p:nvSpPr>
          <p:cNvPr id="9" name="Text 6"/>
          <p:cNvSpPr txBox="1"/>
          <p:nvPr/>
        </p:nvSpPr>
        <p:spPr>
          <a:xfrm>
            <a:off x="7315200" y="2331720"/>
            <a:ext cx="4434840" cy="3977640"/>
          </a:xfrm>
          <a:prstGeom prst="rect">
            <a:avLst/>
          </a:prstGeom>
          <a:noFill/>
          <a:ln/>
        </p:spPr>
        <p:txBody>
          <a:bodyPr wrap="square" lIns="63500" tIns="63500" rIns="63500" bIns="63500" rtlCol="0" anchor="t"/>
          <a:lstStyle/>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SHAP: github.com/shap/shap</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TimeSHAP: github.com/feedzai/timeshap</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Latent SHAP: github.com/Teriri1999/Latent-SHAP</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UbiQTree: github.com/dubeyakshat07/UBiQTree</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Captum: captum.ai</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PhysioNet 2019: physionet.org/content/challenge-2019/1.0.0/</a:t>
            </a:r>
            <a:endParaRPr lang="en-US" sz="1300" dirty="0"/>
          </a:p>
          <a:p>
            <a:pPr marL="342900" indent="-342900">
              <a:spcAft>
                <a:spcPts val="5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MIMIC-IV: physionet.org/content/mimiciv/</a:t>
            </a:r>
            <a:endParaRPr lang="en-US" sz="1300" dirty="0"/>
          </a:p>
        </p:txBody>
      </p:sp>
    </p:spTree>
    <p:extLst>
      <p:ext uri="{BB962C8B-B14F-4D97-AF65-F5344CB8AC3E}">
        <p14:creationId xmlns:p14="http://schemas.microsoft.com/office/powerpoint/2010/main" val="4027819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Expected Deliverables</a:t>
            </a:r>
            <a:endParaRPr lang="en-US" sz="2400" dirty="0"/>
          </a:p>
        </p:txBody>
      </p:sp>
      <p:sp>
        <p:nvSpPr>
          <p:cNvPr id="4" name="Text 1"/>
          <p:cNvSpPr/>
          <p:nvPr/>
        </p:nvSpPr>
        <p:spPr>
          <a:xfrm>
            <a:off x="329184" y="1783080"/>
            <a:ext cx="3666744" cy="420624"/>
          </a:xfrm>
          <a:prstGeom prst="roundRect">
            <a:avLst>
              <a:gd name="adj" fmla="val 21739"/>
            </a:avLst>
          </a:prstGeom>
          <a:solidFill>
            <a:srgbClr val="0033CC"/>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Capstone-I – Foundation</a:t>
            </a:r>
            <a:endParaRPr lang="en-US" sz="1700" dirty="0"/>
          </a:p>
        </p:txBody>
      </p:sp>
      <p:sp>
        <p:nvSpPr>
          <p:cNvPr id="5" name="Shape 2"/>
          <p:cNvSpPr/>
          <p:nvPr/>
        </p:nvSpPr>
        <p:spPr>
          <a:xfrm>
            <a:off x="329184" y="2286000"/>
            <a:ext cx="3666744" cy="3154680"/>
          </a:xfrm>
          <a:prstGeom prst="roundRect">
            <a:avLst>
              <a:gd name="adj" fmla="val 2899"/>
            </a:avLst>
          </a:prstGeom>
          <a:solidFill>
            <a:srgbClr val="FFFFFF"/>
          </a:solidFill>
          <a:ln w="15875">
            <a:solidFill>
              <a:srgbClr val="0033CC"/>
            </a:solidFill>
            <a:prstDash val="solid"/>
          </a:ln>
        </p:spPr>
      </p:sp>
      <p:sp>
        <p:nvSpPr>
          <p:cNvPr id="6" name="Text 3"/>
          <p:cNvSpPr txBox="1"/>
          <p:nvPr/>
        </p:nvSpPr>
        <p:spPr>
          <a:xfrm>
            <a:off x="420624" y="2359152"/>
            <a:ext cx="3483864" cy="301752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Literature review and novelty matrix</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Dataset preparation and exploratory analysis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Baselines: XGBoost, RF, LSTM</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Explanation pipeline: SHAP, Integrated Gradients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Feasibility study and evaluation plan</a:t>
            </a:r>
            <a:endParaRPr lang="en-US" sz="1500" dirty="0"/>
          </a:p>
        </p:txBody>
      </p:sp>
      <p:sp>
        <p:nvSpPr>
          <p:cNvPr id="7" name="Shape 4"/>
          <p:cNvSpPr/>
          <p:nvPr/>
        </p:nvSpPr>
        <p:spPr>
          <a:xfrm>
            <a:off x="329184" y="5577840"/>
            <a:ext cx="3666744" cy="777240"/>
          </a:xfrm>
          <a:prstGeom prst="roundRect">
            <a:avLst>
              <a:gd name="adj" fmla="val 11765"/>
            </a:avLst>
          </a:prstGeom>
          <a:solidFill>
            <a:srgbClr val="EEF3FC"/>
          </a:solidFill>
          <a:ln w="15875">
            <a:solidFill>
              <a:srgbClr val="0033CC"/>
            </a:solidFill>
            <a:prstDash val="solid"/>
          </a:ln>
        </p:spPr>
      </p:sp>
      <p:sp>
        <p:nvSpPr>
          <p:cNvPr id="8" name="Text 5"/>
          <p:cNvSpPr txBox="1"/>
          <p:nvPr/>
        </p:nvSpPr>
        <p:spPr>
          <a:xfrm>
            <a:off x="420624" y="5577840"/>
            <a:ext cx="3483864" cy="777240"/>
          </a:xfrm>
          <a:prstGeom prst="rect">
            <a:avLst/>
          </a:prstGeom>
          <a:noFill/>
          <a:ln/>
        </p:spPr>
        <p:txBody>
          <a:bodyPr wrap="square" lIns="63500" tIns="63500" rIns="63500" bIns="63500" rtlCol="0" anchor="ctr"/>
          <a:lstStyle/>
          <a:p>
            <a:pPr marL="0" indent="0">
              <a:buNone/>
            </a:pPr>
            <a:r>
              <a:rPr lang="en-US" sz="1500" b="1" dirty="0">
                <a:solidFill>
                  <a:srgbClr val="0033CC"/>
                </a:solidFill>
                <a:latin typeface="Times New Roman" pitchFamily="34" charset="0"/>
                <a:ea typeface="Times New Roman" pitchFamily="34" charset="-122"/>
                <a:cs typeface="Times New Roman" pitchFamily="34" charset="-120"/>
              </a:rPr>
              <a:t>Milestone: Baselines and explanations running</a:t>
            </a:r>
            <a:endParaRPr lang="en-US" sz="1500" dirty="0"/>
          </a:p>
        </p:txBody>
      </p:sp>
      <p:sp>
        <p:nvSpPr>
          <p:cNvPr id="9" name="Text 6"/>
          <p:cNvSpPr/>
          <p:nvPr/>
        </p:nvSpPr>
        <p:spPr>
          <a:xfrm>
            <a:off x="4242816" y="1783080"/>
            <a:ext cx="3666744" cy="420624"/>
          </a:xfrm>
          <a:prstGeom prst="roundRect">
            <a:avLst>
              <a:gd name="adj" fmla="val 21739"/>
            </a:avLst>
          </a:prstGeom>
          <a:solidFill>
            <a:srgbClr val="128C8C"/>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Capstone-II – Core novelty</a:t>
            </a:r>
            <a:endParaRPr lang="en-US" sz="1700" dirty="0"/>
          </a:p>
        </p:txBody>
      </p:sp>
      <p:sp>
        <p:nvSpPr>
          <p:cNvPr id="10" name="Shape 7"/>
          <p:cNvSpPr/>
          <p:nvPr/>
        </p:nvSpPr>
        <p:spPr>
          <a:xfrm>
            <a:off x="4242816" y="2286000"/>
            <a:ext cx="3666744" cy="3154680"/>
          </a:xfrm>
          <a:prstGeom prst="roundRect">
            <a:avLst>
              <a:gd name="adj" fmla="val 2899"/>
            </a:avLst>
          </a:prstGeom>
          <a:solidFill>
            <a:srgbClr val="FFFFFF"/>
          </a:solidFill>
          <a:ln w="15875">
            <a:solidFill>
              <a:srgbClr val="128C8C"/>
            </a:solidFill>
            <a:prstDash val="solid"/>
          </a:ln>
        </p:spPr>
      </p:sp>
      <p:sp>
        <p:nvSpPr>
          <p:cNvPr id="11" name="Text 8"/>
          <p:cNvSpPr txBox="1"/>
          <p:nvPr/>
        </p:nvSpPr>
        <p:spPr>
          <a:xfrm>
            <a:off x="4334256" y="2359152"/>
            <a:ext cx="3483864" cy="301752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Reliability metrics: stability, faithfulness, robustness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Independent failure labels defined and generated</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Detector built and evaluated</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Diagnosis and mitigation strategies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Low-Level Design (LLD)</a:t>
            </a:r>
            <a:endParaRPr lang="en-US" sz="1500" dirty="0"/>
          </a:p>
        </p:txBody>
      </p:sp>
      <p:sp>
        <p:nvSpPr>
          <p:cNvPr id="12" name="Shape 9"/>
          <p:cNvSpPr/>
          <p:nvPr/>
        </p:nvSpPr>
        <p:spPr>
          <a:xfrm>
            <a:off x="4242816" y="5577840"/>
            <a:ext cx="3666744" cy="777240"/>
          </a:xfrm>
          <a:prstGeom prst="roundRect">
            <a:avLst>
              <a:gd name="adj" fmla="val 11765"/>
            </a:avLst>
          </a:prstGeom>
          <a:solidFill>
            <a:srgbClr val="EEF3FC"/>
          </a:solidFill>
          <a:ln w="15875">
            <a:solidFill>
              <a:srgbClr val="128C8C"/>
            </a:solidFill>
            <a:prstDash val="solid"/>
          </a:ln>
        </p:spPr>
      </p:sp>
      <p:sp>
        <p:nvSpPr>
          <p:cNvPr id="13" name="Text 10"/>
          <p:cNvSpPr txBox="1"/>
          <p:nvPr/>
        </p:nvSpPr>
        <p:spPr>
          <a:xfrm>
            <a:off x="4334256" y="5577840"/>
            <a:ext cx="3483864" cy="777240"/>
          </a:xfrm>
          <a:prstGeom prst="rect">
            <a:avLst/>
          </a:prstGeom>
          <a:noFill/>
          <a:ln/>
        </p:spPr>
        <p:txBody>
          <a:bodyPr wrap="square" lIns="63500" tIns="63500" rIns="63500" bIns="63500" rtlCol="0" anchor="ctr"/>
          <a:lstStyle/>
          <a:p>
            <a:pPr marL="0" indent="0">
              <a:buNone/>
            </a:pPr>
            <a:r>
              <a:rPr lang="en-US" sz="1500" b="1" dirty="0">
                <a:solidFill>
                  <a:srgbClr val="128C8C"/>
                </a:solidFill>
                <a:latin typeface="Times New Roman" pitchFamily="34" charset="0"/>
                <a:ea typeface="Times New Roman" pitchFamily="34" charset="-122"/>
                <a:cs typeface="Times New Roman" pitchFamily="34" charset="-120"/>
              </a:rPr>
              <a:t>Milestone: Working reliability detector</a:t>
            </a:r>
            <a:endParaRPr lang="en-US" sz="1500" dirty="0"/>
          </a:p>
        </p:txBody>
      </p:sp>
      <p:sp>
        <p:nvSpPr>
          <p:cNvPr id="14" name="Text 11"/>
          <p:cNvSpPr/>
          <p:nvPr/>
        </p:nvSpPr>
        <p:spPr>
          <a:xfrm>
            <a:off x="8147304" y="1783080"/>
            <a:ext cx="3721608" cy="420624"/>
          </a:xfrm>
          <a:prstGeom prst="roundRect">
            <a:avLst>
              <a:gd name="adj" fmla="val 21739"/>
            </a:avLst>
          </a:prstGeom>
          <a:solidFill>
            <a:srgbClr val="E08A00"/>
          </a:solidFill>
          <a:ln/>
        </p:spPr>
        <p:txBody>
          <a:bodyPr wrap="square"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Capstone-III – Evaluation and paper</a:t>
            </a:r>
            <a:endParaRPr lang="en-US" sz="1700" dirty="0"/>
          </a:p>
        </p:txBody>
      </p:sp>
      <p:sp>
        <p:nvSpPr>
          <p:cNvPr id="15" name="Shape 12"/>
          <p:cNvSpPr/>
          <p:nvPr/>
        </p:nvSpPr>
        <p:spPr>
          <a:xfrm>
            <a:off x="8147304" y="2286000"/>
            <a:ext cx="3721608" cy="3154680"/>
          </a:xfrm>
          <a:prstGeom prst="roundRect">
            <a:avLst>
              <a:gd name="adj" fmla="val 2899"/>
            </a:avLst>
          </a:prstGeom>
          <a:solidFill>
            <a:srgbClr val="FFFFFF"/>
          </a:solidFill>
          <a:ln w="15875">
            <a:solidFill>
              <a:srgbClr val="E08A00"/>
            </a:solidFill>
            <a:prstDash val="solid"/>
          </a:ln>
        </p:spPr>
      </p:sp>
      <p:sp>
        <p:nvSpPr>
          <p:cNvPr id="16" name="Text 13"/>
          <p:cNvSpPr txBox="1"/>
          <p:nvPr/>
        </p:nvSpPr>
        <p:spPr>
          <a:xfrm>
            <a:off x="8238744" y="2359152"/>
            <a:ext cx="3538728" cy="3017520"/>
          </a:xfrm>
          <a:prstGeom prst="rect">
            <a:avLst/>
          </a:prstGeom>
          <a:noFill/>
          <a:ln/>
        </p:spPr>
        <p:txBody>
          <a:bodyPr wrap="square" lIns="63500" tIns="63500" rIns="63500" bIns="63500" rtlCol="0" anchor="t"/>
          <a:lstStyle/>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Complete implementation and experiments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Full evaluation and ablations</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Statistical analysis and visualisation</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Research paper and final documentation</a:t>
            </a:r>
            <a:endParaRPr lang="en-US" sz="1500" dirty="0"/>
          </a:p>
          <a:p>
            <a:pPr marL="342900" indent="-342900">
              <a:spcAft>
                <a:spcPts val="5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Reproducibility materials</a:t>
            </a:r>
            <a:endParaRPr lang="en-US" sz="1500" dirty="0"/>
          </a:p>
        </p:txBody>
      </p:sp>
      <p:sp>
        <p:nvSpPr>
          <p:cNvPr id="17" name="Shape 14"/>
          <p:cNvSpPr/>
          <p:nvPr/>
        </p:nvSpPr>
        <p:spPr>
          <a:xfrm>
            <a:off x="8147304" y="5577840"/>
            <a:ext cx="3721608" cy="777240"/>
          </a:xfrm>
          <a:prstGeom prst="roundRect">
            <a:avLst>
              <a:gd name="adj" fmla="val 11765"/>
            </a:avLst>
          </a:prstGeom>
          <a:solidFill>
            <a:srgbClr val="EEF3FC"/>
          </a:solidFill>
          <a:ln w="15875">
            <a:solidFill>
              <a:srgbClr val="E08A00"/>
            </a:solidFill>
            <a:prstDash val="solid"/>
          </a:ln>
        </p:spPr>
      </p:sp>
      <p:sp>
        <p:nvSpPr>
          <p:cNvPr id="18" name="Text 15"/>
          <p:cNvSpPr txBox="1"/>
          <p:nvPr/>
        </p:nvSpPr>
        <p:spPr>
          <a:xfrm>
            <a:off x="8238744" y="5577840"/>
            <a:ext cx="3538728" cy="777240"/>
          </a:xfrm>
          <a:prstGeom prst="rect">
            <a:avLst/>
          </a:prstGeom>
          <a:noFill/>
          <a:ln/>
        </p:spPr>
        <p:txBody>
          <a:bodyPr wrap="square" lIns="63500" tIns="63500" rIns="63500" bIns="63500" rtlCol="0" anchor="ctr"/>
          <a:lstStyle/>
          <a:p>
            <a:pPr marL="0" indent="0">
              <a:buNone/>
            </a:pPr>
            <a:r>
              <a:rPr lang="en-US" sz="1500" b="1" dirty="0">
                <a:solidFill>
                  <a:srgbClr val="E08A00"/>
                </a:solidFill>
                <a:latin typeface="Times New Roman" pitchFamily="34" charset="0"/>
                <a:ea typeface="Times New Roman" pitchFamily="34" charset="-122"/>
                <a:cs typeface="Times New Roman" pitchFamily="34" charset="-120"/>
              </a:rPr>
              <a:t>Milestone: End-to-end framework and paper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017520" y="1005840"/>
            <a:ext cx="7644384" cy="502920"/>
          </a:xfrm>
          <a:prstGeom prst="rect">
            <a:avLst/>
          </a:prstGeom>
          <a:noFill/>
          <a:ln/>
        </p:spPr>
        <p:txBody>
          <a:bodyPr wrap="square" lIns="0" tIns="0" rIns="0" bIns="0" rtlCol="0" anchor="b"/>
          <a:lstStyle/>
          <a:p>
            <a:pPr marL="0" indent="0" algn="r">
              <a:buNone/>
            </a:pPr>
            <a:r>
              <a:rPr lang="en-US" sz="2400" dirty="0">
                <a:solidFill>
                  <a:srgbClr val="D40000"/>
                </a:solidFill>
                <a:latin typeface="Times New Roman" pitchFamily="34" charset="0"/>
                <a:ea typeface="Times New Roman" pitchFamily="34" charset="-122"/>
                <a:cs typeface="Times New Roman" pitchFamily="34" charset="-120"/>
              </a:rPr>
              <a:t>Capstone (Phase-I, II &amp; III) Project Timeline</a:t>
            </a:r>
            <a:endParaRPr lang="en-US" sz="2400" dirty="0"/>
          </a:p>
        </p:txBody>
      </p:sp>
      <p:sp>
        <p:nvSpPr>
          <p:cNvPr id="4" name="Shape 1"/>
          <p:cNvSpPr/>
          <p:nvPr/>
        </p:nvSpPr>
        <p:spPr>
          <a:xfrm>
            <a:off x="329184" y="1783080"/>
            <a:ext cx="11247120" cy="365760"/>
          </a:xfrm>
          <a:prstGeom prst="rect">
            <a:avLst/>
          </a:prstGeom>
          <a:solidFill>
            <a:srgbClr val="0033CC"/>
          </a:solidFill>
          <a:ln w="12700">
            <a:solidFill>
              <a:srgbClr val="0033CC"/>
            </a:solidFill>
            <a:prstDash val="solid"/>
          </a:ln>
        </p:spPr>
      </p:sp>
      <p:sp>
        <p:nvSpPr>
          <p:cNvPr id="5" name="Text 2"/>
          <p:cNvSpPr txBox="1"/>
          <p:nvPr/>
        </p:nvSpPr>
        <p:spPr>
          <a:xfrm>
            <a:off x="365760" y="1783080"/>
            <a:ext cx="3474720" cy="365760"/>
          </a:xfrm>
          <a:prstGeom prst="rect">
            <a:avLst/>
          </a:prstGeom>
          <a:noFill/>
          <a:ln/>
        </p:spPr>
        <p:txBody>
          <a:bodyPr wrap="square" lIns="63500" tIns="63500" rIns="63500" bIns="63500" rtlCol="0" anchor="ct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Task</a:t>
            </a:r>
            <a:endParaRPr lang="en-US" sz="1500" dirty="0"/>
          </a:p>
        </p:txBody>
      </p:sp>
      <p:sp>
        <p:nvSpPr>
          <p:cNvPr id="6" name="Text 3"/>
          <p:cNvSpPr txBox="1"/>
          <p:nvPr/>
        </p:nvSpPr>
        <p:spPr>
          <a:xfrm>
            <a:off x="389534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Sep–Oct '26</a:t>
            </a:r>
            <a:endParaRPr lang="en-US" sz="1200" dirty="0"/>
          </a:p>
        </p:txBody>
      </p:sp>
      <p:sp>
        <p:nvSpPr>
          <p:cNvPr id="7" name="Text 4"/>
          <p:cNvSpPr txBox="1"/>
          <p:nvPr/>
        </p:nvSpPr>
        <p:spPr>
          <a:xfrm>
            <a:off x="499262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Nov '26</a:t>
            </a:r>
            <a:endParaRPr lang="en-US" sz="1200" dirty="0"/>
          </a:p>
        </p:txBody>
      </p:sp>
      <p:sp>
        <p:nvSpPr>
          <p:cNvPr id="8" name="Text 5"/>
          <p:cNvSpPr txBox="1"/>
          <p:nvPr/>
        </p:nvSpPr>
        <p:spPr>
          <a:xfrm>
            <a:off x="608990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Dec '26</a:t>
            </a:r>
            <a:endParaRPr lang="en-US" sz="1200" dirty="0"/>
          </a:p>
        </p:txBody>
      </p:sp>
      <p:sp>
        <p:nvSpPr>
          <p:cNvPr id="9" name="Text 6"/>
          <p:cNvSpPr txBox="1"/>
          <p:nvPr/>
        </p:nvSpPr>
        <p:spPr>
          <a:xfrm>
            <a:off x="718718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Jan '27</a:t>
            </a:r>
            <a:endParaRPr lang="en-US" sz="1200" dirty="0"/>
          </a:p>
        </p:txBody>
      </p:sp>
      <p:sp>
        <p:nvSpPr>
          <p:cNvPr id="10" name="Text 7"/>
          <p:cNvSpPr txBox="1"/>
          <p:nvPr/>
        </p:nvSpPr>
        <p:spPr>
          <a:xfrm>
            <a:off x="828446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Feb '27</a:t>
            </a:r>
            <a:endParaRPr lang="en-US" sz="1200" dirty="0"/>
          </a:p>
        </p:txBody>
      </p:sp>
      <p:sp>
        <p:nvSpPr>
          <p:cNvPr id="11" name="Text 8"/>
          <p:cNvSpPr txBox="1"/>
          <p:nvPr/>
        </p:nvSpPr>
        <p:spPr>
          <a:xfrm>
            <a:off x="938174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Mar '27</a:t>
            </a:r>
            <a:endParaRPr lang="en-US" sz="1200" dirty="0"/>
          </a:p>
        </p:txBody>
      </p:sp>
      <p:sp>
        <p:nvSpPr>
          <p:cNvPr id="12" name="Text 9"/>
          <p:cNvSpPr txBox="1"/>
          <p:nvPr/>
        </p:nvSpPr>
        <p:spPr>
          <a:xfrm>
            <a:off x="10479024" y="1783080"/>
            <a:ext cx="10972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Apr–Jun '27</a:t>
            </a:r>
            <a:endParaRPr lang="en-US" sz="1200" dirty="0"/>
          </a:p>
        </p:txBody>
      </p:sp>
      <p:sp>
        <p:nvSpPr>
          <p:cNvPr id="13" name="Shape 10"/>
          <p:cNvSpPr/>
          <p:nvPr/>
        </p:nvSpPr>
        <p:spPr>
          <a:xfrm>
            <a:off x="329184" y="2148840"/>
            <a:ext cx="11247120" cy="365760"/>
          </a:xfrm>
          <a:prstGeom prst="rect">
            <a:avLst/>
          </a:prstGeom>
          <a:solidFill>
            <a:srgbClr val="EEF3FC"/>
          </a:solidFill>
          <a:ln w="6350">
            <a:solidFill>
              <a:srgbClr val="DCE4F5"/>
            </a:solidFill>
            <a:prstDash val="solid"/>
          </a:ln>
        </p:spPr>
      </p:sp>
      <p:sp>
        <p:nvSpPr>
          <p:cNvPr id="14" name="Text 11"/>
          <p:cNvSpPr txBox="1"/>
          <p:nvPr/>
        </p:nvSpPr>
        <p:spPr>
          <a:xfrm>
            <a:off x="365760" y="214884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Problem statement</a:t>
            </a:r>
            <a:endParaRPr lang="en-US" sz="1400" dirty="0"/>
          </a:p>
        </p:txBody>
      </p:sp>
      <p:sp>
        <p:nvSpPr>
          <p:cNvPr id="15" name="Shape 12"/>
          <p:cNvSpPr/>
          <p:nvPr/>
        </p:nvSpPr>
        <p:spPr>
          <a:xfrm>
            <a:off x="3931920" y="2221992"/>
            <a:ext cx="1024128" cy="219456"/>
          </a:xfrm>
          <a:prstGeom prst="rect">
            <a:avLst/>
          </a:prstGeom>
          <a:solidFill>
            <a:srgbClr val="0033CC"/>
          </a:solidFill>
          <a:ln w="12700">
            <a:solidFill>
              <a:srgbClr val="0033CC"/>
            </a:solidFill>
            <a:prstDash val="solid"/>
          </a:ln>
        </p:spPr>
      </p:sp>
      <p:sp>
        <p:nvSpPr>
          <p:cNvPr id="16" name="Shape 13"/>
          <p:cNvSpPr/>
          <p:nvPr/>
        </p:nvSpPr>
        <p:spPr>
          <a:xfrm>
            <a:off x="329184" y="2514600"/>
            <a:ext cx="11247120" cy="365760"/>
          </a:xfrm>
          <a:prstGeom prst="rect">
            <a:avLst/>
          </a:prstGeom>
          <a:solidFill>
            <a:srgbClr val="FFFFFF"/>
          </a:solidFill>
          <a:ln w="6350">
            <a:solidFill>
              <a:srgbClr val="DCE4F5"/>
            </a:solidFill>
            <a:prstDash val="solid"/>
          </a:ln>
        </p:spPr>
      </p:sp>
      <p:sp>
        <p:nvSpPr>
          <p:cNvPr id="17" name="Text 14"/>
          <p:cNvSpPr txBox="1"/>
          <p:nvPr/>
        </p:nvSpPr>
        <p:spPr>
          <a:xfrm>
            <a:off x="365760" y="251460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Literature review</a:t>
            </a:r>
            <a:endParaRPr lang="en-US" sz="1400" dirty="0"/>
          </a:p>
        </p:txBody>
      </p:sp>
      <p:sp>
        <p:nvSpPr>
          <p:cNvPr id="18" name="Shape 15"/>
          <p:cNvSpPr/>
          <p:nvPr/>
        </p:nvSpPr>
        <p:spPr>
          <a:xfrm>
            <a:off x="3931920" y="2587752"/>
            <a:ext cx="2121408" cy="219456"/>
          </a:xfrm>
          <a:prstGeom prst="rect">
            <a:avLst/>
          </a:prstGeom>
          <a:solidFill>
            <a:srgbClr val="0033CC"/>
          </a:solidFill>
          <a:ln w="12700">
            <a:solidFill>
              <a:srgbClr val="0033CC"/>
            </a:solidFill>
            <a:prstDash val="solid"/>
          </a:ln>
        </p:spPr>
      </p:sp>
      <p:sp>
        <p:nvSpPr>
          <p:cNvPr id="19" name="Shape 16"/>
          <p:cNvSpPr/>
          <p:nvPr/>
        </p:nvSpPr>
        <p:spPr>
          <a:xfrm>
            <a:off x="329184" y="2880360"/>
            <a:ext cx="11247120" cy="365760"/>
          </a:xfrm>
          <a:prstGeom prst="rect">
            <a:avLst/>
          </a:prstGeom>
          <a:solidFill>
            <a:srgbClr val="EEF3FC"/>
          </a:solidFill>
          <a:ln w="6350">
            <a:solidFill>
              <a:srgbClr val="DCE4F5"/>
            </a:solidFill>
            <a:prstDash val="solid"/>
          </a:ln>
        </p:spPr>
      </p:sp>
      <p:sp>
        <p:nvSpPr>
          <p:cNvPr id="20" name="Text 17"/>
          <p:cNvSpPr txBox="1"/>
          <p:nvPr/>
        </p:nvSpPr>
        <p:spPr>
          <a:xfrm>
            <a:off x="365760" y="288036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Dataset preparation</a:t>
            </a:r>
            <a:endParaRPr lang="en-US" sz="1400" dirty="0"/>
          </a:p>
        </p:txBody>
      </p:sp>
      <p:sp>
        <p:nvSpPr>
          <p:cNvPr id="21" name="Shape 18"/>
          <p:cNvSpPr/>
          <p:nvPr/>
        </p:nvSpPr>
        <p:spPr>
          <a:xfrm>
            <a:off x="5029200" y="2953512"/>
            <a:ext cx="2121408" cy="219456"/>
          </a:xfrm>
          <a:prstGeom prst="rect">
            <a:avLst/>
          </a:prstGeom>
          <a:solidFill>
            <a:srgbClr val="0033CC"/>
          </a:solidFill>
          <a:ln w="12700">
            <a:solidFill>
              <a:srgbClr val="0033CC"/>
            </a:solidFill>
            <a:prstDash val="solid"/>
          </a:ln>
        </p:spPr>
      </p:sp>
      <p:sp>
        <p:nvSpPr>
          <p:cNvPr id="22" name="Shape 19"/>
          <p:cNvSpPr/>
          <p:nvPr/>
        </p:nvSpPr>
        <p:spPr>
          <a:xfrm>
            <a:off x="329184" y="3246120"/>
            <a:ext cx="11247120" cy="365760"/>
          </a:xfrm>
          <a:prstGeom prst="rect">
            <a:avLst/>
          </a:prstGeom>
          <a:solidFill>
            <a:srgbClr val="FFFFFF"/>
          </a:solidFill>
          <a:ln w="6350">
            <a:solidFill>
              <a:srgbClr val="DCE4F5"/>
            </a:solidFill>
            <a:prstDash val="solid"/>
          </a:ln>
        </p:spPr>
      </p:sp>
      <p:sp>
        <p:nvSpPr>
          <p:cNvPr id="23" name="Text 20"/>
          <p:cNvSpPr txBox="1"/>
          <p:nvPr/>
        </p:nvSpPr>
        <p:spPr>
          <a:xfrm>
            <a:off x="365760" y="324612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Prediction baselines</a:t>
            </a:r>
            <a:endParaRPr lang="en-US" sz="1400" dirty="0"/>
          </a:p>
        </p:txBody>
      </p:sp>
      <p:sp>
        <p:nvSpPr>
          <p:cNvPr id="24" name="Shape 21"/>
          <p:cNvSpPr/>
          <p:nvPr/>
        </p:nvSpPr>
        <p:spPr>
          <a:xfrm>
            <a:off x="6126480" y="3319272"/>
            <a:ext cx="2121408" cy="219456"/>
          </a:xfrm>
          <a:prstGeom prst="rect">
            <a:avLst/>
          </a:prstGeom>
          <a:solidFill>
            <a:srgbClr val="0033CC"/>
          </a:solidFill>
          <a:ln w="12700">
            <a:solidFill>
              <a:srgbClr val="0033CC"/>
            </a:solidFill>
            <a:prstDash val="solid"/>
          </a:ln>
        </p:spPr>
      </p:sp>
      <p:sp>
        <p:nvSpPr>
          <p:cNvPr id="25" name="Shape 22"/>
          <p:cNvSpPr/>
          <p:nvPr/>
        </p:nvSpPr>
        <p:spPr>
          <a:xfrm>
            <a:off x="329184" y="3611880"/>
            <a:ext cx="11247120" cy="365760"/>
          </a:xfrm>
          <a:prstGeom prst="rect">
            <a:avLst/>
          </a:prstGeom>
          <a:solidFill>
            <a:srgbClr val="EEF3FC"/>
          </a:solidFill>
          <a:ln w="6350">
            <a:solidFill>
              <a:srgbClr val="DCE4F5"/>
            </a:solidFill>
            <a:prstDash val="solid"/>
          </a:ln>
        </p:spPr>
      </p:sp>
      <p:sp>
        <p:nvSpPr>
          <p:cNvPr id="26" name="Text 23"/>
          <p:cNvSpPr txBox="1"/>
          <p:nvPr/>
        </p:nvSpPr>
        <p:spPr>
          <a:xfrm>
            <a:off x="365760" y="361188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Explanation pipeline</a:t>
            </a:r>
            <a:endParaRPr lang="en-US" sz="1400" dirty="0"/>
          </a:p>
        </p:txBody>
      </p:sp>
      <p:sp>
        <p:nvSpPr>
          <p:cNvPr id="27" name="Shape 24"/>
          <p:cNvSpPr/>
          <p:nvPr/>
        </p:nvSpPr>
        <p:spPr>
          <a:xfrm>
            <a:off x="7223760" y="3685032"/>
            <a:ext cx="2121408" cy="219456"/>
          </a:xfrm>
          <a:prstGeom prst="rect">
            <a:avLst/>
          </a:prstGeom>
          <a:solidFill>
            <a:srgbClr val="0033CC"/>
          </a:solidFill>
          <a:ln w="12700">
            <a:solidFill>
              <a:srgbClr val="0033CC"/>
            </a:solidFill>
            <a:prstDash val="solid"/>
          </a:ln>
        </p:spPr>
      </p:sp>
      <p:sp>
        <p:nvSpPr>
          <p:cNvPr id="28" name="Shape 25"/>
          <p:cNvSpPr/>
          <p:nvPr/>
        </p:nvSpPr>
        <p:spPr>
          <a:xfrm>
            <a:off x="329184" y="3977640"/>
            <a:ext cx="11247120" cy="365760"/>
          </a:xfrm>
          <a:prstGeom prst="rect">
            <a:avLst/>
          </a:prstGeom>
          <a:solidFill>
            <a:srgbClr val="FFFFFF"/>
          </a:solidFill>
          <a:ln w="6350">
            <a:solidFill>
              <a:srgbClr val="DCE4F5"/>
            </a:solidFill>
            <a:prstDash val="solid"/>
          </a:ln>
        </p:spPr>
      </p:sp>
      <p:sp>
        <p:nvSpPr>
          <p:cNvPr id="29" name="Text 26"/>
          <p:cNvSpPr txBox="1"/>
          <p:nvPr/>
        </p:nvSpPr>
        <p:spPr>
          <a:xfrm>
            <a:off x="365760" y="397764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Reliability metrics</a:t>
            </a:r>
            <a:endParaRPr lang="en-US" sz="1400" dirty="0"/>
          </a:p>
        </p:txBody>
      </p:sp>
      <p:sp>
        <p:nvSpPr>
          <p:cNvPr id="30" name="Shape 27"/>
          <p:cNvSpPr/>
          <p:nvPr/>
        </p:nvSpPr>
        <p:spPr>
          <a:xfrm>
            <a:off x="8321040" y="4050792"/>
            <a:ext cx="2121408" cy="219456"/>
          </a:xfrm>
          <a:prstGeom prst="rect">
            <a:avLst/>
          </a:prstGeom>
          <a:solidFill>
            <a:srgbClr val="128C8C"/>
          </a:solidFill>
          <a:ln w="12700">
            <a:solidFill>
              <a:srgbClr val="128C8C"/>
            </a:solidFill>
            <a:prstDash val="solid"/>
          </a:ln>
        </p:spPr>
      </p:sp>
      <p:sp>
        <p:nvSpPr>
          <p:cNvPr id="31" name="Shape 28"/>
          <p:cNvSpPr/>
          <p:nvPr/>
        </p:nvSpPr>
        <p:spPr>
          <a:xfrm>
            <a:off x="329184" y="4343400"/>
            <a:ext cx="11247120" cy="365760"/>
          </a:xfrm>
          <a:prstGeom prst="rect">
            <a:avLst/>
          </a:prstGeom>
          <a:solidFill>
            <a:srgbClr val="EEF3FC"/>
          </a:solidFill>
          <a:ln w="6350">
            <a:solidFill>
              <a:srgbClr val="DCE4F5"/>
            </a:solidFill>
            <a:prstDash val="solid"/>
          </a:ln>
        </p:spPr>
      </p:sp>
      <p:sp>
        <p:nvSpPr>
          <p:cNvPr id="32" name="Text 29"/>
          <p:cNvSpPr txBox="1"/>
          <p:nvPr/>
        </p:nvSpPr>
        <p:spPr>
          <a:xfrm>
            <a:off x="365760" y="434340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Failure labels</a:t>
            </a:r>
            <a:endParaRPr lang="en-US" sz="1400" dirty="0"/>
          </a:p>
        </p:txBody>
      </p:sp>
      <p:sp>
        <p:nvSpPr>
          <p:cNvPr id="33" name="Shape 30"/>
          <p:cNvSpPr/>
          <p:nvPr/>
        </p:nvSpPr>
        <p:spPr>
          <a:xfrm>
            <a:off x="8321040" y="4416552"/>
            <a:ext cx="2121408" cy="219456"/>
          </a:xfrm>
          <a:prstGeom prst="rect">
            <a:avLst/>
          </a:prstGeom>
          <a:solidFill>
            <a:srgbClr val="128C8C"/>
          </a:solidFill>
          <a:ln w="12700">
            <a:solidFill>
              <a:srgbClr val="128C8C"/>
            </a:solidFill>
            <a:prstDash val="solid"/>
          </a:ln>
        </p:spPr>
      </p:sp>
      <p:sp>
        <p:nvSpPr>
          <p:cNvPr id="34" name="Shape 31"/>
          <p:cNvSpPr/>
          <p:nvPr/>
        </p:nvSpPr>
        <p:spPr>
          <a:xfrm>
            <a:off x="329184" y="4709160"/>
            <a:ext cx="11247120" cy="365760"/>
          </a:xfrm>
          <a:prstGeom prst="rect">
            <a:avLst/>
          </a:prstGeom>
          <a:solidFill>
            <a:srgbClr val="FFFFFF"/>
          </a:solidFill>
          <a:ln w="6350">
            <a:solidFill>
              <a:srgbClr val="DCE4F5"/>
            </a:solidFill>
            <a:prstDash val="solid"/>
          </a:ln>
        </p:spPr>
      </p:sp>
      <p:sp>
        <p:nvSpPr>
          <p:cNvPr id="35" name="Text 32"/>
          <p:cNvSpPr txBox="1"/>
          <p:nvPr/>
        </p:nvSpPr>
        <p:spPr>
          <a:xfrm>
            <a:off x="365760" y="470916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Detector construction</a:t>
            </a:r>
            <a:endParaRPr lang="en-US" sz="1400" dirty="0"/>
          </a:p>
        </p:txBody>
      </p:sp>
      <p:sp>
        <p:nvSpPr>
          <p:cNvPr id="36" name="Shape 33"/>
          <p:cNvSpPr/>
          <p:nvPr/>
        </p:nvSpPr>
        <p:spPr>
          <a:xfrm>
            <a:off x="9418320" y="4782312"/>
            <a:ext cx="2121408" cy="219456"/>
          </a:xfrm>
          <a:prstGeom prst="rect">
            <a:avLst/>
          </a:prstGeom>
          <a:solidFill>
            <a:srgbClr val="128C8C"/>
          </a:solidFill>
          <a:ln w="12700">
            <a:solidFill>
              <a:srgbClr val="128C8C"/>
            </a:solidFill>
            <a:prstDash val="solid"/>
          </a:ln>
        </p:spPr>
      </p:sp>
      <p:sp>
        <p:nvSpPr>
          <p:cNvPr id="37" name="Shape 34"/>
          <p:cNvSpPr/>
          <p:nvPr/>
        </p:nvSpPr>
        <p:spPr>
          <a:xfrm>
            <a:off x="329184" y="5074920"/>
            <a:ext cx="11247120" cy="365760"/>
          </a:xfrm>
          <a:prstGeom prst="rect">
            <a:avLst/>
          </a:prstGeom>
          <a:solidFill>
            <a:srgbClr val="EEF3FC"/>
          </a:solidFill>
          <a:ln w="6350">
            <a:solidFill>
              <a:srgbClr val="DCE4F5"/>
            </a:solidFill>
            <a:prstDash val="solid"/>
          </a:ln>
        </p:spPr>
      </p:sp>
      <p:sp>
        <p:nvSpPr>
          <p:cNvPr id="38" name="Text 35"/>
          <p:cNvSpPr txBox="1"/>
          <p:nvPr/>
        </p:nvSpPr>
        <p:spPr>
          <a:xfrm>
            <a:off x="365760" y="507492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Mitigation strategies</a:t>
            </a:r>
            <a:endParaRPr lang="en-US" sz="1400" dirty="0"/>
          </a:p>
        </p:txBody>
      </p:sp>
      <p:sp>
        <p:nvSpPr>
          <p:cNvPr id="39" name="Shape 36"/>
          <p:cNvSpPr/>
          <p:nvPr/>
        </p:nvSpPr>
        <p:spPr>
          <a:xfrm>
            <a:off x="9418320" y="5148072"/>
            <a:ext cx="2121408" cy="219456"/>
          </a:xfrm>
          <a:prstGeom prst="rect">
            <a:avLst/>
          </a:prstGeom>
          <a:solidFill>
            <a:srgbClr val="128C8C"/>
          </a:solidFill>
          <a:ln w="12700">
            <a:solidFill>
              <a:srgbClr val="128C8C"/>
            </a:solidFill>
            <a:prstDash val="solid"/>
          </a:ln>
        </p:spPr>
      </p:sp>
      <p:sp>
        <p:nvSpPr>
          <p:cNvPr id="40" name="Shape 37"/>
          <p:cNvSpPr/>
          <p:nvPr/>
        </p:nvSpPr>
        <p:spPr>
          <a:xfrm>
            <a:off x="329184" y="5440680"/>
            <a:ext cx="11247120" cy="365760"/>
          </a:xfrm>
          <a:prstGeom prst="rect">
            <a:avLst/>
          </a:prstGeom>
          <a:solidFill>
            <a:srgbClr val="FFFFFF"/>
          </a:solidFill>
          <a:ln w="6350">
            <a:solidFill>
              <a:srgbClr val="DCE4F5"/>
            </a:solidFill>
            <a:prstDash val="solid"/>
          </a:ln>
        </p:spPr>
      </p:sp>
      <p:sp>
        <p:nvSpPr>
          <p:cNvPr id="41" name="Text 38"/>
          <p:cNvSpPr txBox="1"/>
          <p:nvPr/>
        </p:nvSpPr>
        <p:spPr>
          <a:xfrm>
            <a:off x="365760" y="544068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Full experiments</a:t>
            </a:r>
            <a:endParaRPr lang="en-US" sz="1400" dirty="0"/>
          </a:p>
        </p:txBody>
      </p:sp>
      <p:sp>
        <p:nvSpPr>
          <p:cNvPr id="42" name="Shape 39"/>
          <p:cNvSpPr/>
          <p:nvPr/>
        </p:nvSpPr>
        <p:spPr>
          <a:xfrm>
            <a:off x="10515600" y="5513832"/>
            <a:ext cx="1024128" cy="219456"/>
          </a:xfrm>
          <a:prstGeom prst="rect">
            <a:avLst/>
          </a:prstGeom>
          <a:solidFill>
            <a:srgbClr val="E08A00"/>
          </a:solidFill>
          <a:ln w="12700">
            <a:solidFill>
              <a:srgbClr val="E08A00"/>
            </a:solidFill>
            <a:prstDash val="solid"/>
          </a:ln>
        </p:spPr>
      </p:sp>
      <p:sp>
        <p:nvSpPr>
          <p:cNvPr id="43" name="Shape 40"/>
          <p:cNvSpPr/>
          <p:nvPr/>
        </p:nvSpPr>
        <p:spPr>
          <a:xfrm>
            <a:off x="329184" y="5806440"/>
            <a:ext cx="11247120" cy="365760"/>
          </a:xfrm>
          <a:prstGeom prst="rect">
            <a:avLst/>
          </a:prstGeom>
          <a:solidFill>
            <a:srgbClr val="EEF3FC"/>
          </a:solidFill>
          <a:ln w="6350">
            <a:solidFill>
              <a:srgbClr val="DCE4F5"/>
            </a:solidFill>
            <a:prstDash val="solid"/>
          </a:ln>
        </p:spPr>
      </p:sp>
      <p:sp>
        <p:nvSpPr>
          <p:cNvPr id="44" name="Text 41"/>
          <p:cNvSpPr txBox="1"/>
          <p:nvPr/>
        </p:nvSpPr>
        <p:spPr>
          <a:xfrm>
            <a:off x="365760" y="5806440"/>
            <a:ext cx="3474720" cy="365760"/>
          </a:xfrm>
          <a:prstGeom prst="rect">
            <a:avLst/>
          </a:prstGeom>
          <a:noFill/>
          <a:ln/>
        </p:spPr>
        <p:txBody>
          <a:bodyPr wrap="square" lIns="63500" tIns="63500" rIns="63500" bIns="63500"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Report / publication</a:t>
            </a:r>
            <a:endParaRPr lang="en-US" sz="1400" dirty="0"/>
          </a:p>
        </p:txBody>
      </p:sp>
      <p:sp>
        <p:nvSpPr>
          <p:cNvPr id="45" name="Shape 42"/>
          <p:cNvSpPr/>
          <p:nvPr/>
        </p:nvSpPr>
        <p:spPr>
          <a:xfrm>
            <a:off x="10515600" y="5879592"/>
            <a:ext cx="1024128" cy="219456"/>
          </a:xfrm>
          <a:prstGeom prst="rect">
            <a:avLst/>
          </a:prstGeom>
          <a:solidFill>
            <a:srgbClr val="E08A00"/>
          </a:solidFill>
          <a:ln w="12700">
            <a:solidFill>
              <a:srgbClr val="E08A00"/>
            </a:solidFill>
            <a:prstDash val="solid"/>
          </a:ln>
        </p:spPr>
      </p:sp>
      <p:sp>
        <p:nvSpPr>
          <p:cNvPr id="46" name="Text 43"/>
          <p:cNvSpPr txBox="1"/>
          <p:nvPr/>
        </p:nvSpPr>
        <p:spPr>
          <a:xfrm>
            <a:off x="329184" y="6263640"/>
            <a:ext cx="11530584" cy="320040"/>
          </a:xfrm>
          <a:prstGeom prst="rect">
            <a:avLst/>
          </a:prstGeom>
          <a:noFill/>
          <a:ln/>
        </p:spPr>
        <p:txBody>
          <a:bodyPr wrap="square" lIns="63500" tIns="63500" rIns="63500" bIns="63500" rtlCol="0" anchor="t"/>
          <a:lstStyle/>
          <a:p>
            <a:pPr marL="0" indent="0">
              <a:buNone/>
            </a:pPr>
            <a:r>
              <a:rPr lang="en-US" sz="1200" i="1" dirty="0">
                <a:solidFill>
                  <a:srgbClr val="555555"/>
                </a:solidFill>
                <a:latin typeface="Times New Roman" pitchFamily="34" charset="0"/>
                <a:ea typeface="Times New Roman" pitchFamily="34" charset="-122"/>
                <a:cs typeface="Times New Roman" pitchFamily="34" charset="-120"/>
              </a:rPr>
              <a:t>Blue = Capstone-I (foundation)   |   Teal = Capstone-II (core novelty)   |   Orange = Capstone-III (evaluation and paper)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3" name="Image 0" descr="/home/claude/ref/ppt/media/image1.png"/>
          <p:cNvPicPr>
            <a:picLocks noChangeAspect="1"/>
          </p:cNvPicPr>
          <p:nvPr/>
        </p:nvPicPr>
        <p:blipFill>
          <a:blip r:embed="rId3"/>
          <a:stretch>
            <a:fillRect/>
          </a:stretch>
        </p:blipFill>
        <p:spPr>
          <a:xfrm>
            <a:off x="10332720" y="320040"/>
            <a:ext cx="1554480" cy="795528"/>
          </a:xfrm>
          <a:prstGeom prst="rect">
            <a:avLst/>
          </a:prstGeom>
        </p:spPr>
      </p:pic>
      <p:sp>
        <p:nvSpPr>
          <p:cNvPr id="4" name="Text 0"/>
          <p:cNvSpPr txBox="1"/>
          <p:nvPr/>
        </p:nvSpPr>
        <p:spPr>
          <a:xfrm>
            <a:off x="1371600" y="2651760"/>
            <a:ext cx="9445752" cy="1188720"/>
          </a:xfrm>
          <a:prstGeom prst="rect">
            <a:avLst/>
          </a:prstGeom>
          <a:noFill/>
          <a:ln/>
        </p:spPr>
        <p:txBody>
          <a:bodyPr wrap="square" lIns="63500" tIns="63500" rIns="63500" bIns="63500" rtlCol="0" anchor="ctr"/>
          <a:lstStyle/>
          <a:p>
            <a:pPr marL="0" indent="0" algn="ctr">
              <a:buNone/>
            </a:pPr>
            <a:r>
              <a:rPr lang="en-US" sz="6000" dirty="0">
                <a:solidFill>
                  <a:srgbClr val="D40000"/>
                </a:solidFill>
                <a:latin typeface="Times New Roman" pitchFamily="34" charset="0"/>
                <a:ea typeface="Times New Roman" pitchFamily="34" charset="-122"/>
                <a:cs typeface="Times New Roman" pitchFamily="34" charset="-120"/>
              </a:rPr>
              <a:t>Thank You</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TotalTime>
  <Words>2275</Words>
  <Application>Microsoft Office PowerPoint</Application>
  <PresentationFormat>Widescreen</PresentationFormat>
  <Paragraphs>301</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Office Theme</vt:lpstr>
      <vt:lpstr>PowerPoint Presentation</vt:lpstr>
      <vt:lpstr>Outline</vt:lpstr>
      <vt:lpstr>Problem Statement</vt:lpstr>
      <vt:lpstr>Motivation</vt:lpstr>
      <vt:lpstr>Scope and Feasibility study</vt:lpstr>
      <vt:lpstr>Applications / Use Cases</vt:lpstr>
      <vt:lpstr>Literature Study</vt:lpstr>
      <vt:lpstr>Proposed Approach</vt:lpstr>
      <vt:lpstr>Reliability Layer: Detect</vt:lpstr>
      <vt:lpstr>Diagnose, Mitigate and Abstain</vt:lpstr>
      <vt:lpstr>Novelty Statement</vt:lpstr>
      <vt:lpstr>Key References</vt:lpstr>
      <vt:lpstr>Expected Deliverables</vt:lpstr>
      <vt:lpstr>Capstone (Phase-I, II &amp; III) Project Timeline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Sepsis Prediction - Capstone Project Approval</dc:title>
  <dc:subject>PptxGenJS Presentation</dc:subject>
  <dc:creator>PptxGenJS</dc:creator>
  <cp:lastModifiedBy>Ibrahim Khaleel</cp:lastModifiedBy>
  <cp:revision>4</cp:revision>
  <dcterms:created xsi:type="dcterms:W3CDTF">2026-10-13T11:32:35Z</dcterms:created>
  <dcterms:modified xsi:type="dcterms:W3CDTF">2026-10-14T18:55:41Z</dcterms:modified>
</cp:coreProperties>
</file>