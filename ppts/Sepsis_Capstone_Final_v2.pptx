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our capstone on early sepsis prediction: a fair comparison of ensemble and deep learning models, plus a reliability layer that checks whether SHAP explanations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capstone approval format: the problem, why it matters, scope, background, our approach, uses, deliverables, timeline, team and data, and finally what is new about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Sepsis is dangerous and every hour of delay matters. AI can already predict it early, but models are not tested on equal terms and the explanations doctors see are never tested for reliability. Our need is a fair comparison and a trust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Sepsis affects tens of millions of people every year and early treatment saves lives. AI can help, but only if doctors can trust the explanation behind each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stay within one dataset, three models and three explainers. The reliability layer wraps existing models, so the project is feasible as a phased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from the gap between producing an explanation and knowing whether to trust it, and that gap motivated a fair comparison plus a reliability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papers show SHAP can fail in theory, that fixes exist for single failure modes, and that sepsis models are not checked for explanation reliability. Our framework extends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data flows through the prediction models and SHAP as usual. Our reliability layer, the four blue boxes, then checks the explanation and either passes it or warns the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stage tests every explanation in four simple ways. Each test has a clear flag so we know when an explanation should not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failure mode has its own diagnosis and its own fix. If the reliability score still stays below 0.5, we abstain at the explanation level and tell the clinician to use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Clinicians get a trust label with each score, hospitals can audit models, researchers and regulators get quantitative evidence, and the pattern can be reused for other clinical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Capstone-I builds the foundation: literature, data, baselines and the explanation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Capstone-II delivers the core novelty: reliability metrics, failure labels and the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Capstone-III completes the implementation, evaluation and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runs from September 2026 to June 2027. Early months cover the problem, literature and baselines, the middle covers reliability metrics and labels, and the last months cover the detector, mitigation and full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plan grouped into four stages, from data and baselines to mitigation, experiments and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is split equally with one module per member and clear interfaces between modules. All four of us share the literature review, our paper sections, joint evaluation and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PhysioNet 2019 is the primary dataset, MIMIC-IV is external validation if feasible, and our own reliability annotations are an original contribution. Patient-level splits prevent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novelty is the full reliability framework for SHAP in sepsis. Each existing line of work covers only one piece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papers, tools and datasets we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compare ensemble and deep learning models fairly, and check whether SHAP explanations can be trusted, abstaining when they cannot.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ref/ppt/media/image1.png">    </p:cNvPr>
          <p:cNvPicPr>
            <a:picLocks noChangeAspect="1"/>
          </p:cNvPicPr>
          <p:nvPr/>
        </p:nvPicPr>
        <p:blipFill>
          <a:blip r:embed="rId1"/>
          <a:stretch>
            <a:fillRect/>
          </a:stretch>
        </p:blipFill>
        <p:spPr>
          <a:xfrm>
            <a:off x="10607040" y="274320"/>
            <a:ext cx="1280160" cy="658368"/>
          </a:xfrm>
          <a:prstGeom prst="rect">
            <a:avLst/>
          </a:prstGeom>
        </p:spPr>
      </p:pic>
      <p:sp>
        <p:nvSpPr>
          <p:cNvPr id="3" name="Shape 0"/>
          <p:cNvSpPr/>
          <p:nvPr/>
        </p:nvSpPr>
        <p:spPr>
          <a:xfrm>
            <a:off x="3044952" y="1581912"/>
            <a:ext cx="7616952" cy="36576"/>
          </a:xfrm>
          <a:prstGeom prst="rect">
            <a:avLst/>
          </a:prstGeom>
          <a:solidFill>
            <a:srgbClr val="2CC5C5"/>
          </a:solidFill>
          <a:ln/>
        </p:spPr>
      </p:sp>
      <p:sp>
        <p:nvSpPr>
          <p:cNvPr id="4" name="Text 1"/>
          <p:cNvSpPr/>
          <p:nvPr>
            <p:ph idx="102" type="title" hasCustomPrompt="1"/>
          </p:nvPr>
        </p:nvSpPr>
        <p:spPr>
          <a:xfrm>
            <a:off x="3017520" y="1005840"/>
            <a:ext cx="7644384" cy="502920"/>
          </a:xfrm>
          <a:prstGeom prst="rect">
            <a:avLst/>
          </a:prstGeom>
          <a:noFill/>
          <a:ln/>
        </p:spPr>
        <p:txBody>
          <a:bodyPr wrap="square" rtlCol="0"/>
          <a:lstStyle>
            <a:lvl1pPr algn="r" indent="0" marL="0">
              <a:buNone/>
              <a:defRPr lang="en-US" sz="2400" dirty="0">
                <a:solidFill>
                  <a:srgbClr val="D40000"/>
                </a:solidFill>
                <a:latin typeface="Times New Roman" pitchFamily="34" charset="0"/>
                <a:ea typeface="Times New Roman" pitchFamily="34" charset="-122"/>
                <a:cs typeface="Times New Roman" pitchFamily="34" charset="-120"/>
              </a:defRPr>
            </a:lvl1pPr>
          </a:lstStyle>
          <a:p>
            <a:pPr algn="r"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home/claude/ref/ppt/media/image1.png">    </p:cNvPr>
          <p:cNvPicPr>
            <a:picLocks noChangeAspect="1"/>
          </p:cNvPicPr>
          <p:nvPr/>
        </p:nvPicPr>
        <p:blipFill>
          <a:blip r:embed="rId1"/>
          <a:stretch>
            <a:fillRect/>
          </a:stretch>
        </p:blipFill>
        <p:spPr>
          <a:xfrm>
            <a:off x="10332720" y="320040"/>
            <a:ext cx="1554480" cy="795528"/>
          </a:xfrm>
          <a:prstGeom prst="rect">
            <a:avLst/>
          </a:prstGeom>
        </p:spPr>
      </p:pic>
      <p:sp>
        <p:nvSpPr>
          <p:cNvPr id="4" name="Text 0"/>
          <p:cNvSpPr txBox="1"/>
          <p:nvPr/>
        </p:nvSpPr>
        <p:spPr>
          <a:xfrm>
            <a:off x="914400" y="1325880"/>
            <a:ext cx="10360152" cy="731520"/>
          </a:xfrm>
          <a:prstGeom prst="rect">
            <a:avLst/>
          </a:prstGeom>
          <a:noFill/>
          <a:ln/>
        </p:spPr>
        <p:txBody>
          <a:bodyPr wrap="square" lIns="63500" tIns="63500" rIns="63500" bIns="63500" rtlCol="0" anchor="ctr"/>
          <a:lstStyle/>
          <a:p>
            <a:pPr algn="ctr" indent="0" marL="0">
              <a:buNone/>
            </a:pPr>
            <a:r>
              <a:rPr lang="en-US" sz="3400" b="1" dirty="0">
                <a:solidFill>
                  <a:srgbClr val="D40000"/>
                </a:solidFill>
                <a:latin typeface="Times New Roman" pitchFamily="34" charset="0"/>
                <a:ea typeface="Times New Roman" pitchFamily="34" charset="-122"/>
                <a:cs typeface="Times New Roman" pitchFamily="34" charset="-120"/>
              </a:rPr>
              <a:t>UE24CS320A – Capstone Project Approval</a:t>
            </a:r>
            <a:endParaRPr lang="en-US" sz="3400" dirty="0"/>
          </a:p>
        </p:txBody>
      </p:sp>
      <p:sp>
        <p:nvSpPr>
          <p:cNvPr id="5" name="Text 1"/>
          <p:cNvSpPr txBox="1"/>
          <p:nvPr/>
        </p:nvSpPr>
        <p:spPr>
          <a:xfrm>
            <a:off x="1097280" y="2286000"/>
            <a:ext cx="9994392" cy="1188720"/>
          </a:xfrm>
          <a:prstGeom prst="rect">
            <a:avLst/>
          </a:prstGeom>
          <a:noFill/>
          <a:ln/>
        </p:spPr>
        <p:txBody>
          <a:bodyPr wrap="square" lIns="63500" tIns="63500" rIns="63500" bIns="63500" rtlCol="0" anchor="ctr"/>
          <a:lstStyle/>
          <a:p>
            <a:pPr algn="ctr" indent="0" marL="0">
              <a:buNone/>
            </a:pPr>
            <a:r>
              <a:rPr lang="en-US" sz="2600" b="1" dirty="0">
                <a:solidFill>
                  <a:srgbClr val="1A1A1A"/>
                </a:solidFill>
                <a:latin typeface="Arial" pitchFamily="34" charset="0"/>
                <a:ea typeface="Arial" pitchFamily="34" charset="-122"/>
                <a:cs typeface="Arial" pitchFamily="34" charset="-120"/>
              </a:rPr>
              <a:t>A Comparative Framework for Early Sepsis Prediction Using Ensemble and Explainable Deep Learning on ICU Data</a:t>
            </a:r>
            <a:endParaRPr lang="en-US" sz="2600" dirty="0"/>
          </a:p>
        </p:txBody>
      </p:sp>
      <p:sp>
        <p:nvSpPr>
          <p:cNvPr id="6" name="Text 2"/>
          <p:cNvSpPr txBox="1"/>
          <p:nvPr/>
        </p:nvSpPr>
        <p:spPr>
          <a:xfrm>
            <a:off x="1737360" y="3703320"/>
            <a:ext cx="9144000" cy="457200"/>
          </a:xfrm>
          <a:prstGeom prst="rect">
            <a:avLst/>
          </a:prstGeom>
          <a:noFill/>
          <a:ln/>
        </p:spPr>
        <p:txBody>
          <a:bodyPr wrap="square" lIns="63500" tIns="63500" rIns="63500" bIns="63500" rtlCol="0" anchor="t"/>
          <a:lstStyle/>
          <a:p>
            <a:pPr indent="0" marL="0">
              <a:buNone/>
            </a:pPr>
            <a:r>
              <a:rPr lang="en-US" sz="2200" b="1" dirty="0">
                <a:solidFill>
                  <a:srgbClr val="1A1A1A"/>
                </a:solidFill>
                <a:latin typeface="Times New Roman" pitchFamily="34" charset="0"/>
                <a:ea typeface="Times New Roman" pitchFamily="34" charset="-122"/>
                <a:cs typeface="Times New Roman" pitchFamily="34" charset="-120"/>
              </a:rPr>
              <a:t>Project Guide: </a:t>
            </a:r>
            <a:pPr indent="0" marL="0">
              <a:buNone/>
            </a:pPr>
            <a:r>
              <a:rPr lang="en-US" sz="2200" dirty="0">
                <a:solidFill>
                  <a:srgbClr val="1A1A1A"/>
                </a:solidFill>
                <a:latin typeface="Times New Roman" pitchFamily="34" charset="0"/>
                <a:ea typeface="Times New Roman" pitchFamily="34" charset="-122"/>
                <a:cs typeface="Times New Roman" pitchFamily="34" charset="-120"/>
              </a:rPr>
              <a:t>Prof. Lakshmi Satya Vani N        </a:t>
            </a:r>
            <a:pPr indent="0" marL="0">
              <a:buNone/>
            </a:pPr>
            <a:r>
              <a:rPr lang="en-US" sz="2200" b="1" dirty="0">
                <a:solidFill>
                  <a:srgbClr val="1A1A1A"/>
                </a:solidFill>
                <a:latin typeface="Times New Roman" pitchFamily="34" charset="0"/>
                <a:ea typeface="Times New Roman" pitchFamily="34" charset="-122"/>
                <a:cs typeface="Times New Roman" pitchFamily="34" charset="-120"/>
              </a:rPr>
              <a:t>Project ID: </a:t>
            </a:r>
            <a:pPr indent="0" marL="0">
              <a:buNone/>
            </a:pPr>
            <a:r>
              <a:rPr lang="en-US" sz="2200" dirty="0">
                <a:solidFill>
                  <a:srgbClr val="1A1A1A"/>
                </a:solidFill>
                <a:latin typeface="Times New Roman" pitchFamily="34" charset="0"/>
                <a:ea typeface="Times New Roman" pitchFamily="34" charset="-122"/>
                <a:cs typeface="Times New Roman" pitchFamily="34" charset="-120"/>
              </a:rPr>
              <a:t>186</a:t>
            </a:r>
            <a:endParaRPr lang="en-US" sz="2200" dirty="0"/>
          </a:p>
        </p:txBody>
      </p:sp>
      <p:sp>
        <p:nvSpPr>
          <p:cNvPr id="7" name="Text 3"/>
          <p:cNvSpPr txBox="1"/>
          <p:nvPr/>
        </p:nvSpPr>
        <p:spPr>
          <a:xfrm>
            <a:off x="1737360" y="4297680"/>
            <a:ext cx="4572000" cy="411480"/>
          </a:xfrm>
          <a:prstGeom prst="rect">
            <a:avLst/>
          </a:prstGeom>
          <a:noFill/>
          <a:ln/>
        </p:spPr>
        <p:txBody>
          <a:bodyPr wrap="square" lIns="63500" tIns="63500" rIns="63500" bIns="63500" rtlCol="0" anchor="t"/>
          <a:lstStyle/>
          <a:p>
            <a:pPr indent="0" marL="0">
              <a:buNone/>
            </a:pPr>
            <a:r>
              <a:rPr lang="en-US" sz="2200" b="1" dirty="0">
                <a:solidFill>
                  <a:srgbClr val="1A1A1A"/>
                </a:solidFill>
                <a:latin typeface="Times New Roman" pitchFamily="34" charset="0"/>
                <a:ea typeface="Times New Roman" pitchFamily="34" charset="-122"/>
                <a:cs typeface="Times New Roman" pitchFamily="34" charset="-120"/>
              </a:rPr>
              <a:t>Project Team:</a:t>
            </a:r>
            <a:endParaRPr lang="en-US" sz="2200" dirty="0"/>
          </a:p>
        </p:txBody>
      </p:sp>
      <p:sp>
        <p:nvSpPr>
          <p:cNvPr id="8" name="Text 4"/>
          <p:cNvSpPr txBox="1"/>
          <p:nvPr/>
        </p:nvSpPr>
        <p:spPr>
          <a:xfrm>
            <a:off x="1737360" y="4709160"/>
            <a:ext cx="384048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Kiran BG</a:t>
            </a:r>
            <a:endParaRPr lang="en-US" sz="2000" dirty="0"/>
          </a:p>
        </p:txBody>
      </p:sp>
      <p:sp>
        <p:nvSpPr>
          <p:cNvPr id="9" name="Text 5"/>
          <p:cNvSpPr txBox="1"/>
          <p:nvPr/>
        </p:nvSpPr>
        <p:spPr>
          <a:xfrm>
            <a:off x="5669280" y="4709160"/>
            <a:ext cx="45720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a:t>
            </a:r>
            <a:endParaRPr lang="en-US" sz="2000" dirty="0"/>
          </a:p>
        </p:txBody>
      </p:sp>
      <p:sp>
        <p:nvSpPr>
          <p:cNvPr id="10" name="Text 6"/>
          <p:cNvSpPr txBox="1"/>
          <p:nvPr/>
        </p:nvSpPr>
        <p:spPr>
          <a:xfrm>
            <a:off x="6400800" y="4709160"/>
            <a:ext cx="365760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PES2UG24CS227</a:t>
            </a:r>
            <a:endParaRPr lang="en-US" sz="2000" dirty="0"/>
          </a:p>
        </p:txBody>
      </p:sp>
      <p:sp>
        <p:nvSpPr>
          <p:cNvPr id="11" name="Text 7"/>
          <p:cNvSpPr txBox="1"/>
          <p:nvPr/>
        </p:nvSpPr>
        <p:spPr>
          <a:xfrm>
            <a:off x="1737360" y="5093208"/>
            <a:ext cx="384048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Mohammad Anan</a:t>
            </a:r>
            <a:endParaRPr lang="en-US" sz="2000" dirty="0"/>
          </a:p>
        </p:txBody>
      </p:sp>
      <p:sp>
        <p:nvSpPr>
          <p:cNvPr id="12" name="Text 8"/>
          <p:cNvSpPr txBox="1"/>
          <p:nvPr/>
        </p:nvSpPr>
        <p:spPr>
          <a:xfrm>
            <a:off x="5669280" y="5093208"/>
            <a:ext cx="45720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a:t>
            </a:r>
            <a:endParaRPr lang="en-US" sz="2000" dirty="0"/>
          </a:p>
        </p:txBody>
      </p:sp>
      <p:sp>
        <p:nvSpPr>
          <p:cNvPr id="13" name="Text 9"/>
          <p:cNvSpPr txBox="1"/>
          <p:nvPr/>
        </p:nvSpPr>
        <p:spPr>
          <a:xfrm>
            <a:off x="6400800" y="5093208"/>
            <a:ext cx="365760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PES2UG24CS278</a:t>
            </a:r>
            <a:endParaRPr lang="en-US" sz="2000" dirty="0"/>
          </a:p>
        </p:txBody>
      </p:sp>
      <p:sp>
        <p:nvSpPr>
          <p:cNvPr id="14" name="Text 10"/>
          <p:cNvSpPr txBox="1"/>
          <p:nvPr/>
        </p:nvSpPr>
        <p:spPr>
          <a:xfrm>
            <a:off x="1737360" y="5477256"/>
            <a:ext cx="384048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Ibrahim Khaleel</a:t>
            </a:r>
            <a:endParaRPr lang="en-US" sz="2000" dirty="0"/>
          </a:p>
        </p:txBody>
      </p:sp>
      <p:sp>
        <p:nvSpPr>
          <p:cNvPr id="15" name="Text 11"/>
          <p:cNvSpPr txBox="1"/>
          <p:nvPr/>
        </p:nvSpPr>
        <p:spPr>
          <a:xfrm>
            <a:off x="5669280" y="5477256"/>
            <a:ext cx="45720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a:t>
            </a:r>
            <a:endParaRPr lang="en-US" sz="2000" dirty="0"/>
          </a:p>
        </p:txBody>
      </p:sp>
      <p:sp>
        <p:nvSpPr>
          <p:cNvPr id="16" name="Text 12"/>
          <p:cNvSpPr txBox="1"/>
          <p:nvPr/>
        </p:nvSpPr>
        <p:spPr>
          <a:xfrm>
            <a:off x="6400800" y="5477256"/>
            <a:ext cx="365760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PES2UG24CS809</a:t>
            </a:r>
            <a:endParaRPr lang="en-US" sz="2000" dirty="0"/>
          </a:p>
        </p:txBody>
      </p:sp>
      <p:sp>
        <p:nvSpPr>
          <p:cNvPr id="17" name="Text 13"/>
          <p:cNvSpPr txBox="1"/>
          <p:nvPr/>
        </p:nvSpPr>
        <p:spPr>
          <a:xfrm>
            <a:off x="1737360" y="5861304"/>
            <a:ext cx="384048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Nikhil KR</a:t>
            </a:r>
            <a:endParaRPr lang="en-US" sz="2000" dirty="0"/>
          </a:p>
        </p:txBody>
      </p:sp>
      <p:sp>
        <p:nvSpPr>
          <p:cNvPr id="18" name="Text 14"/>
          <p:cNvSpPr txBox="1"/>
          <p:nvPr/>
        </p:nvSpPr>
        <p:spPr>
          <a:xfrm>
            <a:off x="5669280" y="5861304"/>
            <a:ext cx="45720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a:t>
            </a:r>
            <a:endParaRPr lang="en-US" sz="2000" dirty="0"/>
          </a:p>
        </p:txBody>
      </p:sp>
      <p:sp>
        <p:nvSpPr>
          <p:cNvPr id="19" name="Text 15"/>
          <p:cNvSpPr txBox="1"/>
          <p:nvPr/>
        </p:nvSpPr>
        <p:spPr>
          <a:xfrm>
            <a:off x="6400800" y="5861304"/>
            <a:ext cx="3657600" cy="384048"/>
          </a:xfrm>
          <a:prstGeom prst="rect">
            <a:avLst/>
          </a:prstGeom>
          <a:noFill/>
          <a:ln/>
        </p:spPr>
        <p:txBody>
          <a:bodyPr wrap="square" lIns="63500" tIns="63500" rIns="63500" bIns="63500" rtlCol="0" anchor="t"/>
          <a:lstStyle/>
          <a:p>
            <a:pPr indent="0" marL="0">
              <a:buNone/>
            </a:pPr>
            <a:r>
              <a:rPr lang="en-US" sz="2000" dirty="0">
                <a:solidFill>
                  <a:srgbClr val="1A1A1A"/>
                </a:solidFill>
                <a:latin typeface="Times New Roman" pitchFamily="34" charset="0"/>
                <a:ea typeface="Times New Roman" pitchFamily="34" charset="-122"/>
                <a:cs typeface="Times New Roman" pitchFamily="34" charset="-120"/>
              </a:rPr>
              <a:t>PES2UG25CS815</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Outline</a:t>
            </a:r>
            <a:endParaRPr lang="en-US" sz="2400" dirty="0"/>
          </a:p>
        </p:txBody>
      </p:sp>
      <p:sp>
        <p:nvSpPr>
          <p:cNvPr id="4" name="Text 1"/>
          <p:cNvSpPr/>
          <p:nvPr/>
        </p:nvSpPr>
        <p:spPr>
          <a:xfrm>
            <a:off x="822960" y="1874520"/>
            <a:ext cx="502920" cy="502920"/>
          </a:xfrm>
          <a:prstGeom prst="ellipse">
            <a:avLst/>
          </a:prstGeom>
          <a:solidFill>
            <a:srgbClr val="0033CC"/>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5" name="Text 2"/>
          <p:cNvSpPr txBox="1"/>
          <p:nvPr/>
        </p:nvSpPr>
        <p:spPr>
          <a:xfrm>
            <a:off x="1508760" y="1828800"/>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Problem Statement</a:t>
            </a:r>
            <a:endParaRPr lang="en-US" sz="1800" dirty="0"/>
          </a:p>
        </p:txBody>
      </p:sp>
      <p:sp>
        <p:nvSpPr>
          <p:cNvPr id="6" name="Text 3"/>
          <p:cNvSpPr/>
          <p:nvPr/>
        </p:nvSpPr>
        <p:spPr>
          <a:xfrm>
            <a:off x="822960" y="2624328"/>
            <a:ext cx="502920" cy="502920"/>
          </a:xfrm>
          <a:prstGeom prst="ellipse">
            <a:avLst/>
          </a:prstGeom>
          <a:solidFill>
            <a:srgbClr val="2CC5C5"/>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7" name="Text 4"/>
          <p:cNvSpPr txBox="1"/>
          <p:nvPr/>
        </p:nvSpPr>
        <p:spPr>
          <a:xfrm>
            <a:off x="1508760" y="2578608"/>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Motivation</a:t>
            </a:r>
            <a:endParaRPr lang="en-US" sz="1800" dirty="0"/>
          </a:p>
        </p:txBody>
      </p:sp>
      <p:sp>
        <p:nvSpPr>
          <p:cNvPr id="8" name="Text 5"/>
          <p:cNvSpPr/>
          <p:nvPr/>
        </p:nvSpPr>
        <p:spPr>
          <a:xfrm>
            <a:off x="822960" y="3374136"/>
            <a:ext cx="502920" cy="502920"/>
          </a:xfrm>
          <a:prstGeom prst="ellipse">
            <a:avLst/>
          </a:prstGeom>
          <a:solidFill>
            <a:srgbClr val="0033CC"/>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9" name="Text 6"/>
          <p:cNvSpPr txBox="1"/>
          <p:nvPr/>
        </p:nvSpPr>
        <p:spPr>
          <a:xfrm>
            <a:off x="1508760" y="3328416"/>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Scope and Feasibility study</a:t>
            </a:r>
            <a:endParaRPr lang="en-US" sz="1800" dirty="0"/>
          </a:p>
        </p:txBody>
      </p:sp>
      <p:sp>
        <p:nvSpPr>
          <p:cNvPr id="10" name="Text 7"/>
          <p:cNvSpPr/>
          <p:nvPr/>
        </p:nvSpPr>
        <p:spPr>
          <a:xfrm>
            <a:off x="822960" y="4123944"/>
            <a:ext cx="502920" cy="502920"/>
          </a:xfrm>
          <a:prstGeom prst="ellipse">
            <a:avLst/>
          </a:prstGeom>
          <a:solidFill>
            <a:srgbClr val="2CC5C5"/>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4</a:t>
            </a:r>
            <a:endParaRPr lang="en-US" sz="1800" dirty="0"/>
          </a:p>
        </p:txBody>
      </p:sp>
      <p:sp>
        <p:nvSpPr>
          <p:cNvPr id="11" name="Text 8"/>
          <p:cNvSpPr txBox="1"/>
          <p:nvPr/>
        </p:nvSpPr>
        <p:spPr>
          <a:xfrm>
            <a:off x="1508760" y="4078224"/>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Background</a:t>
            </a:r>
            <a:endParaRPr lang="en-US" sz="1800" dirty="0"/>
          </a:p>
        </p:txBody>
      </p:sp>
      <p:sp>
        <p:nvSpPr>
          <p:cNvPr id="12" name="Text 9"/>
          <p:cNvSpPr/>
          <p:nvPr/>
        </p:nvSpPr>
        <p:spPr>
          <a:xfrm>
            <a:off x="822960" y="4873752"/>
            <a:ext cx="502920" cy="502920"/>
          </a:xfrm>
          <a:prstGeom prst="ellipse">
            <a:avLst/>
          </a:prstGeom>
          <a:solidFill>
            <a:srgbClr val="0033CC"/>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5</a:t>
            </a:r>
            <a:endParaRPr lang="en-US" sz="1800" dirty="0"/>
          </a:p>
        </p:txBody>
      </p:sp>
      <p:sp>
        <p:nvSpPr>
          <p:cNvPr id="13" name="Text 10"/>
          <p:cNvSpPr txBox="1"/>
          <p:nvPr/>
        </p:nvSpPr>
        <p:spPr>
          <a:xfrm>
            <a:off x="1508760" y="4828032"/>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Literature Study</a:t>
            </a:r>
            <a:endParaRPr lang="en-US" sz="1800" dirty="0"/>
          </a:p>
        </p:txBody>
      </p:sp>
      <p:sp>
        <p:nvSpPr>
          <p:cNvPr id="14" name="Text 11"/>
          <p:cNvSpPr/>
          <p:nvPr/>
        </p:nvSpPr>
        <p:spPr>
          <a:xfrm>
            <a:off x="822960" y="5623560"/>
            <a:ext cx="502920" cy="502920"/>
          </a:xfrm>
          <a:prstGeom prst="ellipse">
            <a:avLst/>
          </a:prstGeom>
          <a:solidFill>
            <a:srgbClr val="2CC5C5"/>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6</a:t>
            </a:r>
            <a:endParaRPr lang="en-US" sz="1800" dirty="0"/>
          </a:p>
        </p:txBody>
      </p:sp>
      <p:sp>
        <p:nvSpPr>
          <p:cNvPr id="15" name="Text 12"/>
          <p:cNvSpPr txBox="1"/>
          <p:nvPr/>
        </p:nvSpPr>
        <p:spPr>
          <a:xfrm>
            <a:off x="1508760" y="5577840"/>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Proposed Approach</a:t>
            </a:r>
            <a:endParaRPr lang="en-US" sz="1800" dirty="0"/>
          </a:p>
        </p:txBody>
      </p:sp>
      <p:sp>
        <p:nvSpPr>
          <p:cNvPr id="16" name="Text 13"/>
          <p:cNvSpPr/>
          <p:nvPr/>
        </p:nvSpPr>
        <p:spPr>
          <a:xfrm>
            <a:off x="6400800" y="1874520"/>
            <a:ext cx="502920" cy="502920"/>
          </a:xfrm>
          <a:prstGeom prst="ellipse">
            <a:avLst/>
          </a:prstGeom>
          <a:solidFill>
            <a:srgbClr val="0033CC"/>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7</a:t>
            </a:r>
            <a:endParaRPr lang="en-US" sz="1800" dirty="0"/>
          </a:p>
        </p:txBody>
      </p:sp>
      <p:sp>
        <p:nvSpPr>
          <p:cNvPr id="17" name="Text 14"/>
          <p:cNvSpPr txBox="1"/>
          <p:nvPr/>
        </p:nvSpPr>
        <p:spPr>
          <a:xfrm>
            <a:off x="7086600" y="1828800"/>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Reliability Layer (Detect, Diagnose, Mitigate, Abstain)</a:t>
            </a:r>
            <a:endParaRPr lang="en-US" sz="1800" dirty="0"/>
          </a:p>
        </p:txBody>
      </p:sp>
      <p:sp>
        <p:nvSpPr>
          <p:cNvPr id="18" name="Text 15"/>
          <p:cNvSpPr/>
          <p:nvPr/>
        </p:nvSpPr>
        <p:spPr>
          <a:xfrm>
            <a:off x="6400800" y="2624328"/>
            <a:ext cx="502920" cy="502920"/>
          </a:xfrm>
          <a:prstGeom prst="ellipse">
            <a:avLst/>
          </a:prstGeom>
          <a:solidFill>
            <a:srgbClr val="2CC5C5"/>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8</a:t>
            </a:r>
            <a:endParaRPr lang="en-US" sz="1800" dirty="0"/>
          </a:p>
        </p:txBody>
      </p:sp>
      <p:sp>
        <p:nvSpPr>
          <p:cNvPr id="19" name="Text 16"/>
          <p:cNvSpPr txBox="1"/>
          <p:nvPr/>
        </p:nvSpPr>
        <p:spPr>
          <a:xfrm>
            <a:off x="7086600" y="2578608"/>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Applications / Use cases</a:t>
            </a:r>
            <a:endParaRPr lang="en-US" sz="1800" dirty="0"/>
          </a:p>
        </p:txBody>
      </p:sp>
      <p:sp>
        <p:nvSpPr>
          <p:cNvPr id="20" name="Text 17"/>
          <p:cNvSpPr/>
          <p:nvPr/>
        </p:nvSpPr>
        <p:spPr>
          <a:xfrm>
            <a:off x="6400800" y="3374136"/>
            <a:ext cx="502920" cy="502920"/>
          </a:xfrm>
          <a:prstGeom prst="ellipse">
            <a:avLst/>
          </a:prstGeom>
          <a:solidFill>
            <a:srgbClr val="0033CC"/>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9</a:t>
            </a:r>
            <a:endParaRPr lang="en-US" sz="1800" dirty="0"/>
          </a:p>
        </p:txBody>
      </p:sp>
      <p:sp>
        <p:nvSpPr>
          <p:cNvPr id="21" name="Text 18"/>
          <p:cNvSpPr txBox="1"/>
          <p:nvPr/>
        </p:nvSpPr>
        <p:spPr>
          <a:xfrm>
            <a:off x="7086600" y="3328416"/>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Expected Deliverables</a:t>
            </a:r>
            <a:endParaRPr lang="en-US" sz="1800" dirty="0"/>
          </a:p>
        </p:txBody>
      </p:sp>
      <p:sp>
        <p:nvSpPr>
          <p:cNvPr id="22" name="Text 19"/>
          <p:cNvSpPr/>
          <p:nvPr/>
        </p:nvSpPr>
        <p:spPr>
          <a:xfrm>
            <a:off x="6400800" y="4123944"/>
            <a:ext cx="502920" cy="502920"/>
          </a:xfrm>
          <a:prstGeom prst="ellipse">
            <a:avLst/>
          </a:prstGeom>
          <a:solidFill>
            <a:srgbClr val="2CC5C5"/>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10</a:t>
            </a:r>
            <a:endParaRPr lang="en-US" sz="1800" dirty="0"/>
          </a:p>
        </p:txBody>
      </p:sp>
      <p:sp>
        <p:nvSpPr>
          <p:cNvPr id="23" name="Text 20"/>
          <p:cNvSpPr txBox="1"/>
          <p:nvPr/>
        </p:nvSpPr>
        <p:spPr>
          <a:xfrm>
            <a:off x="7086600" y="4078224"/>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Capstone (Phase-I, II &amp; III) Timeline</a:t>
            </a:r>
            <a:endParaRPr lang="en-US" sz="1800" dirty="0"/>
          </a:p>
        </p:txBody>
      </p:sp>
      <p:sp>
        <p:nvSpPr>
          <p:cNvPr id="24" name="Text 21"/>
          <p:cNvSpPr/>
          <p:nvPr/>
        </p:nvSpPr>
        <p:spPr>
          <a:xfrm>
            <a:off x="6400800" y="4873752"/>
            <a:ext cx="502920" cy="502920"/>
          </a:xfrm>
          <a:prstGeom prst="ellipse">
            <a:avLst/>
          </a:prstGeom>
          <a:solidFill>
            <a:srgbClr val="0033CC"/>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11</a:t>
            </a:r>
            <a:endParaRPr lang="en-US" sz="1800" dirty="0"/>
          </a:p>
        </p:txBody>
      </p:sp>
      <p:sp>
        <p:nvSpPr>
          <p:cNvPr id="25" name="Text 22"/>
          <p:cNvSpPr txBox="1"/>
          <p:nvPr/>
        </p:nvSpPr>
        <p:spPr>
          <a:xfrm>
            <a:off x="7086600" y="4828032"/>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Team Roles, Datasets and Evaluation</a:t>
            </a:r>
            <a:endParaRPr lang="en-US" sz="1800" dirty="0"/>
          </a:p>
        </p:txBody>
      </p:sp>
      <p:sp>
        <p:nvSpPr>
          <p:cNvPr id="26" name="Text 23"/>
          <p:cNvSpPr/>
          <p:nvPr/>
        </p:nvSpPr>
        <p:spPr>
          <a:xfrm>
            <a:off x="6400800" y="5623560"/>
            <a:ext cx="502920" cy="502920"/>
          </a:xfrm>
          <a:prstGeom prst="ellipse">
            <a:avLst/>
          </a:prstGeom>
          <a:solidFill>
            <a:srgbClr val="2CC5C5"/>
          </a:solid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12</a:t>
            </a:r>
            <a:endParaRPr lang="en-US" sz="1800" dirty="0"/>
          </a:p>
        </p:txBody>
      </p:sp>
      <p:sp>
        <p:nvSpPr>
          <p:cNvPr id="27" name="Text 24"/>
          <p:cNvSpPr txBox="1"/>
          <p:nvPr/>
        </p:nvSpPr>
        <p:spPr>
          <a:xfrm>
            <a:off x="7086600" y="5577840"/>
            <a:ext cx="4663440" cy="594360"/>
          </a:xfrm>
          <a:prstGeom prst="rect">
            <a:avLst/>
          </a:prstGeom>
          <a:noFill/>
          <a:ln/>
        </p:spPr>
        <p:txBody>
          <a:bodyPr wrap="square" lIns="63500" tIns="63500" rIns="63500" bIns="63500" rtlCol="0" anchor="ctr"/>
          <a:lstStyle/>
          <a:p>
            <a:pPr indent="0" marL="0">
              <a:buNone/>
            </a:pPr>
            <a:r>
              <a:rPr lang="en-US" sz="1800" dirty="0">
                <a:solidFill>
                  <a:srgbClr val="1A1A1A"/>
                </a:solidFill>
                <a:latin typeface="Times New Roman" pitchFamily="34" charset="0"/>
                <a:ea typeface="Times New Roman" pitchFamily="34" charset="-122"/>
                <a:cs typeface="Times New Roman" pitchFamily="34" charset="-120"/>
              </a:rPr>
              <a:t>Novelty and 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Problem Statement</a:t>
            </a:r>
            <a:endParaRPr lang="en-US" sz="2400" dirty="0"/>
          </a:p>
        </p:txBody>
      </p:sp>
      <p:sp>
        <p:nvSpPr>
          <p:cNvPr id="4" name="Text 1"/>
          <p:cNvSpPr txBox="1"/>
          <p:nvPr/>
        </p:nvSpPr>
        <p:spPr>
          <a:xfrm>
            <a:off x="329184" y="1783080"/>
            <a:ext cx="6309360" cy="3611880"/>
          </a:xfrm>
          <a:prstGeom prst="rect">
            <a:avLst/>
          </a:prstGeom>
          <a:noFill/>
          <a:ln/>
        </p:spPr>
        <p:txBody>
          <a:bodyPr wrap="square" lIns="63500" tIns="63500" rIns="63500" bIns="63500" rtlCol="0" anchor="t"/>
          <a:lstStyle/>
          <a:p>
            <a:pPr marL="342900" indent="-342900">
              <a:spcAft>
                <a:spcPts val="600"/>
              </a:spcAft>
              <a:buSzPct val="100000"/>
              <a:buChar char="•"/>
            </a:pPr>
            <a:r>
              <a:rPr lang="en-US" sz="1700" b="1" dirty="0">
                <a:solidFill>
                  <a:srgbClr val="1A1A1A"/>
                </a:solidFill>
                <a:latin typeface="Times New Roman" pitchFamily="34" charset="0"/>
                <a:ea typeface="Times New Roman" pitchFamily="34" charset="-122"/>
                <a:cs typeface="Times New Roman" pitchFamily="34" charset="-120"/>
              </a:rPr>
              <a:t>Sepsis</a:t>
            </a:r>
            <a:pPr indent="0" marL="0">
              <a:buNone/>
            </a:pPr>
            <a:r>
              <a:rPr lang="en-US" sz="1700" dirty="0">
                <a:solidFill>
                  <a:srgbClr val="1A1A1A"/>
                </a:solidFill>
                <a:latin typeface="Times New Roman" pitchFamily="34" charset="0"/>
                <a:ea typeface="Times New Roman" pitchFamily="34" charset="-122"/>
                <a:cs typeface="Times New Roman" pitchFamily="34" charset="-120"/>
              </a:rPr>
              <a:t> is a life-threatening condition that occurs when the body's response to an infection causes tissue damage, organ failure or death. Each hour of delayed treatment raises mortality by roughly 4–8%, so </a:t>
            </a:r>
            <a:pPr indent="0" marL="0">
              <a:buNone/>
            </a:pPr>
            <a:r>
              <a:rPr lang="en-US" sz="1700" b="1" dirty="0">
                <a:solidFill>
                  <a:srgbClr val="1A1A1A"/>
                </a:solidFill>
                <a:latin typeface="Times New Roman" pitchFamily="34" charset="0"/>
                <a:ea typeface="Times New Roman" pitchFamily="34" charset="-122"/>
                <a:cs typeface="Times New Roman" pitchFamily="34" charset="-120"/>
              </a:rPr>
              <a:t>early detection</a:t>
            </a:r>
            <a:pPr indent="0" marL="0">
              <a:buNone/>
            </a:pPr>
            <a:r>
              <a:rPr lang="en-US" sz="1700" dirty="0">
                <a:solidFill>
                  <a:srgbClr val="1A1A1A"/>
                </a:solidFill>
                <a:latin typeface="Times New Roman" pitchFamily="34" charset="0"/>
                <a:ea typeface="Times New Roman" pitchFamily="34" charset="-122"/>
                <a:cs typeface="Times New Roman" pitchFamily="34" charset="-120"/>
              </a:rPr>
              <a:t> is critical.</a:t>
            </a:r>
            <a:endParaRPr lang="en-US" sz="1700" dirty="0"/>
          </a:p>
          <a:p>
            <a:pPr marL="342900" indent="-342900">
              <a:spcAft>
                <a:spcPts val="600"/>
              </a:spcAft>
              <a:buSzPct val="100000"/>
              <a:buChar char="•"/>
            </a:pPr>
            <a:r>
              <a:rPr lang="en-US" sz="1700" dirty="0">
                <a:solidFill>
                  <a:srgbClr val="1A1A1A"/>
                </a:solidFill>
                <a:latin typeface="Times New Roman" pitchFamily="34" charset="0"/>
                <a:ea typeface="Times New Roman" pitchFamily="34" charset="-122"/>
                <a:cs typeface="Times New Roman" pitchFamily="34" charset="-120"/>
              </a:rPr>
              <a:t>AI models can now predict sepsis </a:t>
            </a:r>
            <a:pPr indent="0" marL="0">
              <a:buNone/>
            </a:pPr>
            <a:r>
              <a:rPr lang="en-US" sz="1700" b="1" dirty="0">
                <a:solidFill>
                  <a:srgbClr val="1A1A1A"/>
                </a:solidFill>
                <a:latin typeface="Times New Roman" pitchFamily="34" charset="0"/>
                <a:ea typeface="Times New Roman" pitchFamily="34" charset="-122"/>
                <a:cs typeface="Times New Roman" pitchFamily="34" charset="-120"/>
              </a:rPr>
              <a:t>6 to 12 hours before onset</a:t>
            </a:r>
            <a:pPr indent="0" marL="0">
              <a:buNone/>
            </a:pPr>
            <a:r>
              <a:rPr lang="en-US" sz="1700" dirty="0">
                <a:solidFill>
                  <a:srgbClr val="1A1A1A"/>
                </a:solidFill>
                <a:latin typeface="Times New Roman" pitchFamily="34" charset="0"/>
                <a:ea typeface="Times New Roman" pitchFamily="34" charset="-122"/>
                <a:cs typeface="Times New Roman" pitchFamily="34" charset="-120"/>
              </a:rPr>
              <a:t> (ensemble AUROC 0.85–0.91, LSTM about 0.85), and </a:t>
            </a:r>
            <a:pPr indent="0" marL="0">
              <a:buNone/>
            </a:pPr>
            <a:r>
              <a:rPr lang="en-US" sz="1700" b="1" dirty="0">
                <a:solidFill>
                  <a:srgbClr val="1A1A1A"/>
                </a:solidFill>
                <a:latin typeface="Times New Roman" pitchFamily="34" charset="0"/>
                <a:ea typeface="Times New Roman" pitchFamily="34" charset="-122"/>
                <a:cs typeface="Times New Roman" pitchFamily="34" charset="-120"/>
              </a:rPr>
              <a:t>SHAP</a:t>
            </a:r>
            <a:pPr indent="0" marL="0">
              <a:buNone/>
            </a:pPr>
            <a:r>
              <a:rPr lang="en-US" sz="1700" dirty="0">
                <a:solidFill>
                  <a:srgbClr val="1A1A1A"/>
                </a:solidFill>
                <a:latin typeface="Times New Roman" pitchFamily="34" charset="0"/>
                <a:ea typeface="Times New Roman" pitchFamily="34" charset="-122"/>
                <a:cs typeface="Times New Roman" pitchFamily="34" charset="-120"/>
              </a:rPr>
              <a:t> is the default way to explain them.</a:t>
            </a:r>
            <a:endParaRPr lang="en-US" sz="1700" dirty="0"/>
          </a:p>
          <a:p>
            <a:pPr marL="342900" indent="-342900">
              <a:spcAft>
                <a:spcPts val="600"/>
              </a:spcAft>
              <a:buSzPct val="100000"/>
              <a:buChar char="•"/>
            </a:pPr>
            <a:r>
              <a:rPr lang="en-US" sz="1700" dirty="0">
                <a:solidFill>
                  <a:srgbClr val="1A1A1A"/>
                </a:solidFill>
                <a:latin typeface="Times New Roman" pitchFamily="34" charset="0"/>
                <a:ea typeface="Times New Roman" pitchFamily="34" charset="-122"/>
                <a:cs typeface="Times New Roman" pitchFamily="34" charset="-120"/>
              </a:rPr>
              <a:t>Two problems still stand in the way: models are </a:t>
            </a:r>
            <a:pPr indent="0" marL="0">
              <a:buNone/>
            </a:pPr>
            <a:r>
              <a:rPr lang="en-US" sz="1700" b="1" dirty="0">
                <a:solidFill>
                  <a:srgbClr val="1A1A1A"/>
                </a:solidFill>
                <a:latin typeface="Times New Roman" pitchFamily="34" charset="0"/>
                <a:ea typeface="Times New Roman" pitchFamily="34" charset="-122"/>
                <a:cs typeface="Times New Roman" pitchFamily="34" charset="-120"/>
              </a:rPr>
              <a:t>not compared fairly</a:t>
            </a:r>
            <a:pPr indent="0" marL="0">
              <a:buNone/>
            </a:pPr>
            <a:r>
              <a:rPr lang="en-US" sz="1700" dirty="0">
                <a:solidFill>
                  <a:srgbClr val="1A1A1A"/>
                </a:solidFill>
                <a:latin typeface="Times New Roman" pitchFamily="34" charset="0"/>
                <a:ea typeface="Times New Roman" pitchFamily="34" charset="-122"/>
                <a:cs typeface="Times New Roman" pitchFamily="34" charset="-120"/>
              </a:rPr>
              <a:t>, and the explanations doctors see are </a:t>
            </a:r>
            <a:pPr indent="0" marL="0">
              <a:buNone/>
            </a:pPr>
            <a:r>
              <a:rPr lang="en-US" sz="1700" b="1" dirty="0">
                <a:solidFill>
                  <a:srgbClr val="1A1A1A"/>
                </a:solidFill>
                <a:latin typeface="Times New Roman" pitchFamily="34" charset="0"/>
                <a:ea typeface="Times New Roman" pitchFamily="34" charset="-122"/>
                <a:cs typeface="Times New Roman" pitchFamily="34" charset="-120"/>
              </a:rPr>
              <a:t>not tested for reliability</a:t>
            </a:r>
            <a:pPr indent="0" marL="0">
              <a:buNone/>
            </a:pPr>
            <a:r>
              <a:rPr lang="en-US" sz="1700" dirty="0">
                <a:solidFill>
                  <a:srgbClr val="1A1A1A"/>
                </a:solidFill>
                <a:latin typeface="Times New Roman" pitchFamily="34" charset="0"/>
                <a:ea typeface="Times New Roman" pitchFamily="34" charset="-122"/>
                <a:cs typeface="Times New Roman" pitchFamily="34" charset="-120"/>
              </a:rPr>
              <a:t>.</a:t>
            </a:r>
            <a:endParaRPr lang="en-US" sz="1700" dirty="0"/>
          </a:p>
        </p:txBody>
      </p:sp>
      <p:sp>
        <p:nvSpPr>
          <p:cNvPr id="5" name="Text 2"/>
          <p:cNvSpPr txBox="1"/>
          <p:nvPr/>
        </p:nvSpPr>
        <p:spPr>
          <a:xfrm>
            <a:off x="6858000" y="1737360"/>
            <a:ext cx="5001768" cy="411480"/>
          </a:xfrm>
          <a:prstGeom prst="rect">
            <a:avLst/>
          </a:prstGeom>
          <a:noFill/>
          <a:ln/>
        </p:spPr>
        <p:txBody>
          <a:bodyPr wrap="square" lIns="63500" tIns="63500" rIns="63500" bIns="63500" rtlCol="0" anchor="t"/>
          <a:lstStyle/>
          <a:p>
            <a:pPr indent="0" marL="0">
              <a:buNone/>
            </a:pPr>
            <a:r>
              <a:rPr lang="en-US" sz="1900" b="1" dirty="0">
                <a:solidFill>
                  <a:srgbClr val="0033CC"/>
                </a:solidFill>
                <a:latin typeface="Times New Roman" pitchFamily="34" charset="0"/>
                <a:ea typeface="Times New Roman" pitchFamily="34" charset="-122"/>
                <a:cs typeface="Times New Roman" pitchFamily="34" charset="-120"/>
              </a:rPr>
              <a:t>Problems we address</a:t>
            </a:r>
            <a:endParaRPr lang="en-US" sz="1900" dirty="0"/>
          </a:p>
        </p:txBody>
      </p:sp>
      <p:sp>
        <p:nvSpPr>
          <p:cNvPr id="6" name="Shape 3"/>
          <p:cNvSpPr/>
          <p:nvPr/>
        </p:nvSpPr>
        <p:spPr>
          <a:xfrm>
            <a:off x="6858000" y="2194560"/>
            <a:ext cx="5001768" cy="1005840"/>
          </a:xfrm>
          <a:prstGeom prst="roundRect">
            <a:avLst>
              <a:gd name="adj" fmla="val 9091"/>
            </a:avLst>
          </a:prstGeom>
          <a:solidFill>
            <a:srgbClr val="FFFFFF"/>
          </a:solidFill>
          <a:ln w="15875">
            <a:solidFill>
              <a:srgbClr val="D40000"/>
            </a:solidFill>
            <a:prstDash val="solid"/>
          </a:ln>
        </p:spPr>
      </p:sp>
      <p:sp>
        <p:nvSpPr>
          <p:cNvPr id="7" name="Text 4"/>
          <p:cNvSpPr txBox="1"/>
          <p:nvPr/>
        </p:nvSpPr>
        <p:spPr>
          <a:xfrm>
            <a:off x="6967728" y="2221992"/>
            <a:ext cx="4800600" cy="950976"/>
          </a:xfrm>
          <a:prstGeom prst="rect">
            <a:avLst/>
          </a:prstGeom>
          <a:noFill/>
          <a:ln/>
        </p:spPr>
        <p:txBody>
          <a:bodyPr wrap="square" lIns="63500" tIns="63500" rIns="63500" bIns="63500" rtlCol="0" anchor="ctr"/>
          <a:lstStyle/>
          <a:p>
            <a:pPr indent="0" marL="0">
              <a:buNone/>
            </a:pPr>
            <a:r>
              <a:rPr lang="en-US" sz="1700" b="1" dirty="0">
                <a:solidFill>
                  <a:srgbClr val="D40000"/>
                </a:solidFill>
                <a:latin typeface="Times New Roman" pitchFamily="34" charset="0"/>
                <a:ea typeface="Times New Roman" pitchFamily="34" charset="-122"/>
                <a:cs typeface="Times New Roman" pitchFamily="34" charset="-120"/>
              </a:rPr>
              <a:t>Models cannot be compared fairly</a:t>
            </a:r>
            <a:endParaRPr lang="en-US" sz="1600" dirty="0"/>
          </a:p>
          <a:p>
            <a:pPr indent="0" marL="0">
              <a:buNone/>
            </a:pPr>
            <a:r>
              <a:rPr lang="en-US" sz="1400" dirty="0">
                <a:solidFill>
                  <a:srgbClr val="1A1A1A"/>
                </a:solidFill>
                <a:latin typeface="Times New Roman" pitchFamily="34" charset="0"/>
                <a:ea typeface="Times New Roman" pitchFamily="34" charset="-122"/>
                <a:cs typeface="Times New Roman" pitchFamily="34" charset="-120"/>
              </a:rPr>
              <a:t>Ensemble and deep learning models are tested on different datasets and settings.</a:t>
            </a:r>
            <a:endParaRPr lang="en-US" sz="1600" dirty="0"/>
          </a:p>
        </p:txBody>
      </p:sp>
      <p:sp>
        <p:nvSpPr>
          <p:cNvPr id="8" name="Shape 5"/>
          <p:cNvSpPr/>
          <p:nvPr/>
        </p:nvSpPr>
        <p:spPr>
          <a:xfrm>
            <a:off x="6858000" y="3291840"/>
            <a:ext cx="5001768" cy="1005840"/>
          </a:xfrm>
          <a:prstGeom prst="roundRect">
            <a:avLst>
              <a:gd name="adj" fmla="val 9091"/>
            </a:avLst>
          </a:prstGeom>
          <a:solidFill>
            <a:srgbClr val="FFFFFF"/>
          </a:solidFill>
          <a:ln w="15875">
            <a:solidFill>
              <a:srgbClr val="E08A00"/>
            </a:solidFill>
            <a:prstDash val="solid"/>
          </a:ln>
        </p:spPr>
      </p:sp>
      <p:sp>
        <p:nvSpPr>
          <p:cNvPr id="9" name="Text 6"/>
          <p:cNvSpPr txBox="1"/>
          <p:nvPr/>
        </p:nvSpPr>
        <p:spPr>
          <a:xfrm>
            <a:off x="6967728" y="3319272"/>
            <a:ext cx="4800600" cy="950976"/>
          </a:xfrm>
          <a:prstGeom prst="rect">
            <a:avLst/>
          </a:prstGeom>
          <a:noFill/>
          <a:ln/>
        </p:spPr>
        <p:txBody>
          <a:bodyPr wrap="square" lIns="63500" tIns="63500" rIns="63500" bIns="63500" rtlCol="0" anchor="ctr"/>
          <a:lstStyle/>
          <a:p>
            <a:pPr indent="0" marL="0">
              <a:buNone/>
            </a:pPr>
            <a:r>
              <a:rPr lang="en-US" sz="1700" b="1" dirty="0">
                <a:solidFill>
                  <a:srgbClr val="E08A00"/>
                </a:solidFill>
                <a:latin typeface="Times New Roman" pitchFamily="34" charset="0"/>
                <a:ea typeface="Times New Roman" pitchFamily="34" charset="-122"/>
                <a:cs typeface="Times New Roman" pitchFamily="34" charset="-120"/>
              </a:rPr>
              <a:t>Explanations can be unstable</a:t>
            </a:r>
            <a:endParaRPr lang="en-US" sz="1600" dirty="0"/>
          </a:p>
          <a:p>
            <a:pPr indent="0" marL="0">
              <a:buNone/>
            </a:pPr>
            <a:r>
              <a:rPr lang="en-US" sz="1400" dirty="0">
                <a:solidFill>
                  <a:srgbClr val="1A1A1A"/>
                </a:solidFill>
                <a:latin typeface="Times New Roman" pitchFamily="34" charset="0"/>
                <a:ea typeface="Times New Roman" pitchFamily="34" charset="-122"/>
                <a:cs typeface="Times New Roman" pitchFamily="34" charset="-120"/>
              </a:rPr>
              <a:t>Features are correlated and labs are 85–95% missing, so SHAP can change after retraining.</a:t>
            </a:r>
            <a:endParaRPr lang="en-US" sz="1600" dirty="0"/>
          </a:p>
        </p:txBody>
      </p:sp>
      <p:sp>
        <p:nvSpPr>
          <p:cNvPr id="10" name="Shape 7"/>
          <p:cNvSpPr/>
          <p:nvPr/>
        </p:nvSpPr>
        <p:spPr>
          <a:xfrm>
            <a:off x="6858000" y="4389120"/>
            <a:ext cx="5001768" cy="1005840"/>
          </a:xfrm>
          <a:prstGeom prst="roundRect">
            <a:avLst>
              <a:gd name="adj" fmla="val 9091"/>
            </a:avLst>
          </a:prstGeom>
          <a:solidFill>
            <a:srgbClr val="FFFFFF"/>
          </a:solidFill>
          <a:ln w="15875">
            <a:solidFill>
              <a:srgbClr val="0033CC"/>
            </a:solidFill>
            <a:prstDash val="solid"/>
          </a:ln>
        </p:spPr>
      </p:sp>
      <p:sp>
        <p:nvSpPr>
          <p:cNvPr id="11" name="Text 8"/>
          <p:cNvSpPr txBox="1"/>
          <p:nvPr/>
        </p:nvSpPr>
        <p:spPr>
          <a:xfrm>
            <a:off x="6967728" y="4416552"/>
            <a:ext cx="4800600" cy="950976"/>
          </a:xfrm>
          <a:prstGeom prst="rect">
            <a:avLst/>
          </a:prstGeom>
          <a:noFill/>
          <a:ln/>
        </p:spPr>
        <p:txBody>
          <a:bodyPr wrap="square" lIns="63500" tIns="63500" rIns="63500" bIns="63500" rtlCol="0" anchor="ctr"/>
          <a:lstStyle/>
          <a:p>
            <a:pPr indent="0" marL="0">
              <a:buNone/>
            </a:pPr>
            <a:r>
              <a:rPr lang="en-US" sz="1700" b="1" dirty="0">
                <a:solidFill>
                  <a:srgbClr val="0033CC"/>
                </a:solidFill>
                <a:latin typeface="Times New Roman" pitchFamily="34" charset="0"/>
                <a:ea typeface="Times New Roman" pitchFamily="34" charset="-122"/>
                <a:cs typeface="Times New Roman" pitchFamily="34" charset="-120"/>
              </a:rPr>
              <a:t>Doctors get no reliability signal</a:t>
            </a:r>
            <a:endParaRPr lang="en-US" sz="1600" dirty="0"/>
          </a:p>
          <a:p>
            <a:pPr indent="0" marL="0">
              <a:buNone/>
            </a:pPr>
            <a:r>
              <a:rPr lang="en-US" sz="1400" dirty="0">
                <a:solidFill>
                  <a:srgbClr val="1A1A1A"/>
                </a:solidFill>
                <a:latin typeface="Times New Roman" pitchFamily="34" charset="0"/>
                <a:ea typeface="Times New Roman" pitchFamily="34" charset="-122"/>
                <a:cs typeface="Times New Roman" pitchFamily="34" charset="-120"/>
              </a:rPr>
              <a:t>Explanations arrive with no sign of whether they can be trusted.</a:t>
            </a:r>
            <a:endParaRPr lang="en-US" sz="1600" dirty="0"/>
          </a:p>
        </p:txBody>
      </p:sp>
      <p:sp>
        <p:nvSpPr>
          <p:cNvPr id="12" name="Text 9"/>
          <p:cNvSpPr/>
          <p:nvPr/>
        </p:nvSpPr>
        <p:spPr>
          <a:xfrm>
            <a:off x="329184" y="5440680"/>
            <a:ext cx="1188720" cy="365760"/>
          </a:xfrm>
          <a:prstGeom prst="roundRect">
            <a:avLst>
              <a:gd name="adj" fmla="val 25000"/>
            </a:avLst>
          </a:prstGeom>
          <a:solidFill>
            <a:srgbClr val="F0F0F0"/>
          </a:solidFill>
          <a:ln w="12700">
            <a:solidFill>
              <a:srgbClr val="2B3A6B"/>
            </a:solidFill>
          </a:ln>
        </p:spPr>
        <p:txBody>
          <a:bodyPr wrap="square" rtlCol="0" anchor="ctr"/>
          <a:lstStyle/>
          <a:p>
            <a:pPr algn="ctr" indent="0" marL="0">
              <a:buNone/>
            </a:pPr>
            <a:r>
              <a:rPr lang="en-US" sz="1600" b="1" dirty="0">
                <a:solidFill>
                  <a:srgbClr val="000000"/>
                </a:solidFill>
                <a:latin typeface="Times New Roman" pitchFamily="34" charset="0"/>
                <a:ea typeface="Times New Roman" pitchFamily="34" charset="-122"/>
                <a:cs typeface="Times New Roman" pitchFamily="34" charset="-120"/>
              </a:rPr>
              <a:t>NEED</a:t>
            </a:r>
            <a:endParaRPr lang="en-US" sz="1600" dirty="0"/>
          </a:p>
        </p:txBody>
      </p:sp>
      <p:sp>
        <p:nvSpPr>
          <p:cNvPr id="13" name="Shape 10"/>
          <p:cNvSpPr/>
          <p:nvPr/>
        </p:nvSpPr>
        <p:spPr>
          <a:xfrm>
            <a:off x="329184" y="5760720"/>
            <a:ext cx="11530584" cy="868680"/>
          </a:xfrm>
          <a:prstGeom prst="roundRect">
            <a:avLst>
              <a:gd name="adj" fmla="val 10526"/>
            </a:avLst>
          </a:prstGeom>
          <a:solidFill>
            <a:srgbClr val="F0F0F0"/>
          </a:solidFill>
          <a:ln w="15875">
            <a:solidFill>
              <a:srgbClr val="2B3A6B"/>
            </a:solidFill>
            <a:prstDash val="solid"/>
          </a:ln>
        </p:spPr>
      </p:sp>
      <p:sp>
        <p:nvSpPr>
          <p:cNvPr id="14" name="Text 11"/>
          <p:cNvSpPr txBox="1"/>
          <p:nvPr/>
        </p:nvSpPr>
        <p:spPr>
          <a:xfrm>
            <a:off x="457200" y="5760720"/>
            <a:ext cx="11247120" cy="868680"/>
          </a:xfrm>
          <a:prstGeom prst="rect">
            <a:avLst/>
          </a:prstGeom>
          <a:noFill/>
          <a:ln/>
        </p:spPr>
        <p:txBody>
          <a:bodyPr wrap="square" lIns="63500" tIns="63500" rIns="63500" bIns="63500" rtlCol="0" anchor="ctr"/>
          <a:lstStyle/>
          <a:p>
            <a:pPr algn="ctr" indent="0" marL="0">
              <a:buNone/>
            </a:pPr>
            <a:r>
              <a:rPr lang="en-US" sz="1800" b="1" dirty="0">
                <a:solidFill>
                  <a:srgbClr val="1A1A1A"/>
                </a:solidFill>
                <a:latin typeface="Times New Roman" pitchFamily="34" charset="0"/>
                <a:ea typeface="Times New Roman" pitchFamily="34" charset="-122"/>
                <a:cs typeface="Times New Roman" pitchFamily="34" charset="-120"/>
              </a:rPr>
              <a:t>Can we compare ensemble and deep learning fairly, and tell when a SHAP explanation can be trusted, fixed or withheld?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Motivation</a:t>
            </a:r>
            <a:endParaRPr lang="en-US" sz="2400" dirty="0"/>
          </a:p>
        </p:txBody>
      </p:sp>
      <p:sp>
        <p:nvSpPr>
          <p:cNvPr id="4" name="Shape 1"/>
          <p:cNvSpPr/>
          <p:nvPr/>
        </p:nvSpPr>
        <p:spPr>
          <a:xfrm>
            <a:off x="329184" y="1783080"/>
            <a:ext cx="5486400" cy="2148840"/>
          </a:xfrm>
          <a:prstGeom prst="roundRect">
            <a:avLst>
              <a:gd name="adj" fmla="val 4255"/>
            </a:avLst>
          </a:prstGeom>
          <a:solidFill>
            <a:srgbClr val="F0F0F0"/>
          </a:solidFill>
          <a:ln w="15875">
            <a:solidFill>
              <a:srgbClr val="2B3A6B"/>
            </a:solidFill>
            <a:prstDash val="solid"/>
          </a:ln>
        </p:spPr>
      </p:sp>
      <p:sp>
        <p:nvSpPr>
          <p:cNvPr id="5" name="Text 2"/>
          <p:cNvSpPr txBox="1"/>
          <p:nvPr/>
        </p:nvSpPr>
        <p:spPr>
          <a:xfrm>
            <a:off x="329184" y="1856232"/>
            <a:ext cx="5486400" cy="457200"/>
          </a:xfrm>
          <a:prstGeom prst="rect">
            <a:avLst/>
          </a:prstGeom>
          <a:noFill/>
          <a:ln/>
        </p:spPr>
        <p:txBody>
          <a:bodyPr wrap="square" lIns="63500" tIns="63500" rIns="63500" bIns="63500" rtlCol="0" anchor="t"/>
          <a:lstStyle/>
          <a:p>
            <a:pPr algn="ctr" indent="0" marL="0">
              <a:buNone/>
            </a:pPr>
            <a:r>
              <a:rPr lang="en-US" sz="2000" b="1" dirty="0">
                <a:solidFill>
                  <a:srgbClr val="1A1A1A"/>
                </a:solidFill>
                <a:latin typeface="Times New Roman" pitchFamily="34" charset="0"/>
                <a:ea typeface="Times New Roman" pitchFamily="34" charset="-122"/>
                <a:cs typeface="Times New Roman" pitchFamily="34" charset="-120"/>
              </a:rPr>
              <a:t>Global</a:t>
            </a:r>
            <a:endParaRPr lang="en-US" sz="2000" dirty="0"/>
          </a:p>
        </p:txBody>
      </p:sp>
      <p:sp>
        <p:nvSpPr>
          <p:cNvPr id="6" name="Text 3"/>
          <p:cNvSpPr txBox="1"/>
          <p:nvPr/>
        </p:nvSpPr>
        <p:spPr>
          <a:xfrm>
            <a:off x="457200" y="2331720"/>
            <a:ext cx="5257800" cy="1554480"/>
          </a:xfrm>
          <a:prstGeom prst="rect">
            <a:avLst/>
          </a:prstGeom>
          <a:noFill/>
          <a:ln/>
        </p:spPr>
        <p:txBody>
          <a:bodyPr wrap="square" lIns="63500" tIns="63500" rIns="63500" bIns="63500" rtlCol="0" anchor="t"/>
          <a:lstStyle/>
          <a:p>
            <a:pPr marL="342900" indent="-342900">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About 30 million people develop sepsis each year</a:t>
            </a:r>
            <a:endParaRPr lang="en-US" sz="1600" dirty="0"/>
          </a:p>
          <a:p>
            <a:pPr marL="342900" indent="-342900">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About 6 million die from it each year</a:t>
            </a:r>
            <a:endParaRPr lang="en-US" sz="1600" dirty="0"/>
          </a:p>
          <a:p>
            <a:pPr marL="342900" indent="-342900">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An estimated 4.2 million newborns and children are affected</a:t>
            </a:r>
            <a:endParaRPr lang="en-US" sz="1600" dirty="0"/>
          </a:p>
        </p:txBody>
      </p:sp>
      <p:sp>
        <p:nvSpPr>
          <p:cNvPr id="7" name="Shape 4"/>
          <p:cNvSpPr/>
          <p:nvPr/>
        </p:nvSpPr>
        <p:spPr>
          <a:xfrm>
            <a:off x="329184" y="4069080"/>
            <a:ext cx="5486400" cy="2148840"/>
          </a:xfrm>
          <a:prstGeom prst="roundRect">
            <a:avLst>
              <a:gd name="adj" fmla="val 4255"/>
            </a:avLst>
          </a:prstGeom>
          <a:solidFill>
            <a:srgbClr val="F0F0F0"/>
          </a:solidFill>
          <a:ln w="15875">
            <a:solidFill>
              <a:srgbClr val="2B3A6B"/>
            </a:solidFill>
            <a:prstDash val="solid"/>
          </a:ln>
        </p:spPr>
      </p:sp>
      <p:sp>
        <p:nvSpPr>
          <p:cNvPr id="8" name="Text 5"/>
          <p:cNvSpPr txBox="1"/>
          <p:nvPr/>
        </p:nvSpPr>
        <p:spPr>
          <a:xfrm>
            <a:off x="329184" y="4142232"/>
            <a:ext cx="5486400" cy="457200"/>
          </a:xfrm>
          <a:prstGeom prst="rect">
            <a:avLst/>
          </a:prstGeom>
          <a:noFill/>
          <a:ln/>
        </p:spPr>
        <p:txBody>
          <a:bodyPr wrap="square" lIns="63500" tIns="63500" rIns="63500" bIns="63500" rtlCol="0" anchor="t"/>
          <a:lstStyle/>
          <a:p>
            <a:pPr algn="ctr" indent="0" marL="0">
              <a:buNone/>
            </a:pPr>
            <a:r>
              <a:rPr lang="en-US" sz="2000" b="1" dirty="0">
                <a:solidFill>
                  <a:srgbClr val="1A1A1A"/>
                </a:solidFill>
                <a:latin typeface="Times New Roman" pitchFamily="34" charset="0"/>
                <a:ea typeface="Times New Roman" pitchFamily="34" charset="-122"/>
                <a:cs typeface="Times New Roman" pitchFamily="34" charset="-120"/>
              </a:rPr>
              <a:t>United States</a:t>
            </a:r>
            <a:endParaRPr lang="en-US" sz="2000" dirty="0"/>
          </a:p>
        </p:txBody>
      </p:sp>
      <p:sp>
        <p:nvSpPr>
          <p:cNvPr id="9" name="Text 6"/>
          <p:cNvSpPr txBox="1"/>
          <p:nvPr/>
        </p:nvSpPr>
        <p:spPr>
          <a:xfrm>
            <a:off x="457200" y="4617720"/>
            <a:ext cx="5257800" cy="1554480"/>
          </a:xfrm>
          <a:prstGeom prst="rect">
            <a:avLst/>
          </a:prstGeom>
          <a:noFill/>
          <a:ln/>
        </p:spPr>
        <p:txBody>
          <a:bodyPr wrap="square" lIns="63500" tIns="63500" rIns="63500" bIns="63500" rtlCol="0" anchor="t"/>
          <a:lstStyle/>
          <a:p>
            <a:pPr marL="342900" indent="-342900">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Nearly 1.7 million develop sepsis and 270,000 die each year</a:t>
            </a:r>
            <a:endParaRPr lang="en-US" sz="1600" dirty="0"/>
          </a:p>
          <a:p>
            <a:pPr marL="342900" indent="-342900">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Over one third of hospital deaths involve sepsis</a:t>
            </a:r>
            <a:endParaRPr lang="en-US" sz="1600" dirty="0"/>
          </a:p>
          <a:p>
            <a:pPr marL="342900" indent="-342900">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Costs hospitals $24 billion a year (13% of healthcare spending)</a:t>
            </a:r>
            <a:endParaRPr lang="en-US" sz="1600" dirty="0"/>
          </a:p>
        </p:txBody>
      </p:sp>
      <p:sp>
        <p:nvSpPr>
          <p:cNvPr id="10" name="Shape 7"/>
          <p:cNvSpPr/>
          <p:nvPr/>
        </p:nvSpPr>
        <p:spPr>
          <a:xfrm>
            <a:off x="6035040" y="1783080"/>
            <a:ext cx="1828800" cy="2148840"/>
          </a:xfrm>
          <a:prstGeom prst="roundRect">
            <a:avLst>
              <a:gd name="adj" fmla="val 5000"/>
            </a:avLst>
          </a:prstGeom>
          <a:solidFill>
            <a:srgbClr val="EEF3FC"/>
          </a:solidFill>
          <a:ln w="15875">
            <a:solidFill>
              <a:srgbClr val="DCE4F5"/>
            </a:solidFill>
            <a:prstDash val="solid"/>
          </a:ln>
        </p:spPr>
      </p:sp>
      <p:sp>
        <p:nvSpPr>
          <p:cNvPr id="11" name="Text 8"/>
          <p:cNvSpPr txBox="1"/>
          <p:nvPr/>
        </p:nvSpPr>
        <p:spPr>
          <a:xfrm>
            <a:off x="6062472" y="1874520"/>
            <a:ext cx="1773936" cy="731520"/>
          </a:xfrm>
          <a:prstGeom prst="rect">
            <a:avLst/>
          </a:prstGeom>
          <a:noFill/>
          <a:ln/>
        </p:spPr>
        <p:txBody>
          <a:bodyPr wrap="square" lIns="0" tIns="0" rIns="0" bIns="0" rtlCol="0" anchor="ctr"/>
          <a:lstStyle/>
          <a:p>
            <a:pPr algn="ctr" indent="0" marL="0">
              <a:buNone/>
            </a:pPr>
            <a:r>
              <a:rPr lang="en-US" sz="2500" b="1" dirty="0">
                <a:solidFill>
                  <a:srgbClr val="D40000"/>
                </a:solidFill>
                <a:latin typeface="Times New Roman" pitchFamily="34" charset="0"/>
                <a:ea typeface="Times New Roman" pitchFamily="34" charset="-122"/>
                <a:cs typeface="Times New Roman" pitchFamily="34" charset="-120"/>
              </a:rPr>
              <a:t>4–8%</a:t>
            </a:r>
            <a:endParaRPr lang="en-US" sz="2500" dirty="0"/>
          </a:p>
        </p:txBody>
      </p:sp>
      <p:sp>
        <p:nvSpPr>
          <p:cNvPr id="12" name="Text 9"/>
          <p:cNvSpPr txBox="1"/>
          <p:nvPr/>
        </p:nvSpPr>
        <p:spPr>
          <a:xfrm>
            <a:off x="6108192" y="2651760"/>
            <a:ext cx="1682496" cy="1234440"/>
          </a:xfrm>
          <a:prstGeom prst="rect">
            <a:avLst/>
          </a:prstGeom>
          <a:noFill/>
          <a:ln/>
        </p:spPr>
        <p:txBody>
          <a:bodyPr wrap="square" lIns="63500" tIns="63500" rIns="63500" bIns="63500" rtlCol="0" anchor="t"/>
          <a:lstStyle/>
          <a:p>
            <a:pPr algn="ctr" indent="0" marL="0">
              <a:buNone/>
            </a:pPr>
            <a:r>
              <a:rPr lang="en-US" sz="1400" dirty="0">
                <a:solidFill>
                  <a:srgbClr val="1A1A1A"/>
                </a:solidFill>
                <a:latin typeface="Times New Roman" pitchFamily="34" charset="0"/>
                <a:ea typeface="Times New Roman" pitchFamily="34" charset="-122"/>
                <a:cs typeface="Times New Roman" pitchFamily="34" charset="-120"/>
              </a:rPr>
              <a:t>rise in mortality for each hour of delayed treatment</a:t>
            </a:r>
            <a:endParaRPr lang="en-US" sz="1400" dirty="0"/>
          </a:p>
        </p:txBody>
      </p:sp>
      <p:sp>
        <p:nvSpPr>
          <p:cNvPr id="13" name="Shape 10"/>
          <p:cNvSpPr/>
          <p:nvPr/>
        </p:nvSpPr>
        <p:spPr>
          <a:xfrm>
            <a:off x="8033004" y="1783080"/>
            <a:ext cx="1828800" cy="2148840"/>
          </a:xfrm>
          <a:prstGeom prst="roundRect">
            <a:avLst>
              <a:gd name="adj" fmla="val 5000"/>
            </a:avLst>
          </a:prstGeom>
          <a:solidFill>
            <a:srgbClr val="EEF3FC"/>
          </a:solidFill>
          <a:ln w="15875">
            <a:solidFill>
              <a:srgbClr val="DCE4F5"/>
            </a:solidFill>
            <a:prstDash val="solid"/>
          </a:ln>
        </p:spPr>
      </p:sp>
      <p:sp>
        <p:nvSpPr>
          <p:cNvPr id="14" name="Text 11"/>
          <p:cNvSpPr txBox="1"/>
          <p:nvPr/>
        </p:nvSpPr>
        <p:spPr>
          <a:xfrm>
            <a:off x="8060436" y="1874520"/>
            <a:ext cx="1773936" cy="731520"/>
          </a:xfrm>
          <a:prstGeom prst="rect">
            <a:avLst/>
          </a:prstGeom>
          <a:noFill/>
          <a:ln/>
        </p:spPr>
        <p:txBody>
          <a:bodyPr wrap="square" lIns="0" tIns="0" rIns="0" bIns="0" rtlCol="0" anchor="ctr"/>
          <a:lstStyle/>
          <a:p>
            <a:pPr algn="ctr" indent="0" marL="0">
              <a:buNone/>
            </a:pPr>
            <a:r>
              <a:rPr lang="en-US" sz="2500" b="1" dirty="0">
                <a:solidFill>
                  <a:srgbClr val="E08A00"/>
                </a:solidFill>
                <a:latin typeface="Times New Roman" pitchFamily="34" charset="0"/>
                <a:ea typeface="Times New Roman" pitchFamily="34" charset="-122"/>
                <a:cs typeface="Times New Roman" pitchFamily="34" charset="-120"/>
              </a:rPr>
              <a:t>6–12 h</a:t>
            </a:r>
            <a:endParaRPr lang="en-US" sz="2500" dirty="0"/>
          </a:p>
        </p:txBody>
      </p:sp>
      <p:sp>
        <p:nvSpPr>
          <p:cNvPr id="15" name="Text 12"/>
          <p:cNvSpPr txBox="1"/>
          <p:nvPr/>
        </p:nvSpPr>
        <p:spPr>
          <a:xfrm>
            <a:off x="8106156" y="2651760"/>
            <a:ext cx="1682496" cy="1234440"/>
          </a:xfrm>
          <a:prstGeom prst="rect">
            <a:avLst/>
          </a:prstGeom>
          <a:noFill/>
          <a:ln/>
        </p:spPr>
        <p:txBody>
          <a:bodyPr wrap="square" lIns="63500" tIns="63500" rIns="63500" bIns="63500" rtlCol="0" anchor="t"/>
          <a:lstStyle/>
          <a:p>
            <a:pPr algn="ctr" indent="0" marL="0">
              <a:buNone/>
            </a:pPr>
            <a:r>
              <a:rPr lang="en-US" sz="1400" dirty="0">
                <a:solidFill>
                  <a:srgbClr val="1A1A1A"/>
                </a:solidFill>
                <a:latin typeface="Times New Roman" pitchFamily="34" charset="0"/>
                <a:ea typeface="Times New Roman" pitchFamily="34" charset="-122"/>
                <a:cs typeface="Times New Roman" pitchFamily="34" charset="-120"/>
              </a:rPr>
              <a:t>early-warning window before sepsis onset</a:t>
            </a:r>
            <a:endParaRPr lang="en-US" sz="1400" dirty="0"/>
          </a:p>
        </p:txBody>
      </p:sp>
      <p:sp>
        <p:nvSpPr>
          <p:cNvPr id="16" name="Shape 13"/>
          <p:cNvSpPr/>
          <p:nvPr/>
        </p:nvSpPr>
        <p:spPr>
          <a:xfrm>
            <a:off x="10030968" y="1783080"/>
            <a:ext cx="1828800" cy="2148840"/>
          </a:xfrm>
          <a:prstGeom prst="roundRect">
            <a:avLst>
              <a:gd name="adj" fmla="val 5000"/>
            </a:avLst>
          </a:prstGeom>
          <a:solidFill>
            <a:srgbClr val="EEF3FC"/>
          </a:solidFill>
          <a:ln w="15875">
            <a:solidFill>
              <a:srgbClr val="DCE4F5"/>
            </a:solidFill>
            <a:prstDash val="solid"/>
          </a:ln>
        </p:spPr>
      </p:sp>
      <p:sp>
        <p:nvSpPr>
          <p:cNvPr id="17" name="Text 14"/>
          <p:cNvSpPr txBox="1"/>
          <p:nvPr/>
        </p:nvSpPr>
        <p:spPr>
          <a:xfrm>
            <a:off x="10058400" y="1874520"/>
            <a:ext cx="1773936" cy="731520"/>
          </a:xfrm>
          <a:prstGeom prst="rect">
            <a:avLst/>
          </a:prstGeom>
          <a:noFill/>
          <a:ln/>
        </p:spPr>
        <p:txBody>
          <a:bodyPr wrap="square" lIns="0" tIns="0" rIns="0" bIns="0" rtlCol="0" anchor="ctr"/>
          <a:lstStyle/>
          <a:p>
            <a:pPr algn="ctr" indent="0" marL="0">
              <a:buNone/>
            </a:pPr>
            <a:r>
              <a:rPr lang="en-US" sz="2500" b="1" dirty="0">
                <a:solidFill>
                  <a:srgbClr val="0033CC"/>
                </a:solidFill>
                <a:latin typeface="Times New Roman" pitchFamily="34" charset="0"/>
                <a:ea typeface="Times New Roman" pitchFamily="34" charset="-122"/>
                <a:cs typeface="Times New Roman" pitchFamily="34" charset="-120"/>
              </a:rPr>
              <a:t>0.85–0.91</a:t>
            </a:r>
            <a:endParaRPr lang="en-US" sz="2500" dirty="0"/>
          </a:p>
        </p:txBody>
      </p:sp>
      <p:sp>
        <p:nvSpPr>
          <p:cNvPr id="18" name="Text 15"/>
          <p:cNvSpPr txBox="1"/>
          <p:nvPr/>
        </p:nvSpPr>
        <p:spPr>
          <a:xfrm>
            <a:off x="10104120" y="2651760"/>
            <a:ext cx="1682496" cy="1234440"/>
          </a:xfrm>
          <a:prstGeom prst="rect">
            <a:avLst/>
          </a:prstGeom>
          <a:noFill/>
          <a:ln/>
        </p:spPr>
        <p:txBody>
          <a:bodyPr wrap="square" lIns="63500" tIns="63500" rIns="63500" bIns="63500" rtlCol="0" anchor="t"/>
          <a:lstStyle/>
          <a:p>
            <a:pPr algn="ctr" indent="0" marL="0">
              <a:buNone/>
            </a:pPr>
            <a:r>
              <a:rPr lang="en-US" sz="1400" dirty="0">
                <a:solidFill>
                  <a:srgbClr val="1A1A1A"/>
                </a:solidFill>
                <a:latin typeface="Times New Roman" pitchFamily="34" charset="0"/>
                <a:ea typeface="Times New Roman" pitchFamily="34" charset="-122"/>
                <a:cs typeface="Times New Roman" pitchFamily="34" charset="-120"/>
              </a:rPr>
              <a:t>AUROC of ensemble models on PhysioNet 2019</a:t>
            </a:r>
            <a:endParaRPr lang="en-US" sz="1400" dirty="0"/>
          </a:p>
        </p:txBody>
      </p:sp>
      <p:sp>
        <p:nvSpPr>
          <p:cNvPr id="19" name="Shape 16"/>
          <p:cNvSpPr/>
          <p:nvPr/>
        </p:nvSpPr>
        <p:spPr>
          <a:xfrm>
            <a:off x="6035040" y="4069080"/>
            <a:ext cx="5824728" cy="2148840"/>
          </a:xfrm>
          <a:prstGeom prst="roundRect">
            <a:avLst>
              <a:gd name="adj" fmla="val 4255"/>
            </a:avLst>
          </a:prstGeom>
          <a:solidFill>
            <a:srgbClr val="F0F0F0"/>
          </a:solidFill>
          <a:ln w="15875">
            <a:solidFill>
              <a:srgbClr val="2B3A6B"/>
            </a:solidFill>
            <a:prstDash val="solid"/>
          </a:ln>
        </p:spPr>
      </p:sp>
      <p:sp>
        <p:nvSpPr>
          <p:cNvPr id="20" name="Text 17"/>
          <p:cNvSpPr txBox="1"/>
          <p:nvPr/>
        </p:nvSpPr>
        <p:spPr>
          <a:xfrm>
            <a:off x="6172200" y="4114800"/>
            <a:ext cx="5577840" cy="2057400"/>
          </a:xfrm>
          <a:prstGeom prst="rect">
            <a:avLst/>
          </a:prstGeom>
          <a:noFill/>
          <a:ln/>
        </p:spPr>
        <p:txBody>
          <a:bodyPr wrap="square" lIns="63500" tIns="63500" rIns="63500" bIns="63500" rtlCol="0" anchor="ctr"/>
          <a:lstStyle/>
          <a:p>
            <a:pPr indent="0" marL="0">
              <a:buNone/>
            </a:pPr>
            <a:r>
              <a:rPr lang="en-US" sz="1700" b="1" dirty="0">
                <a:solidFill>
                  <a:srgbClr val="1A1A1A"/>
                </a:solidFill>
                <a:latin typeface="Times New Roman" pitchFamily="34" charset="0"/>
                <a:ea typeface="Times New Roman" pitchFamily="34" charset="-122"/>
                <a:cs typeface="Times New Roman" pitchFamily="34" charset="-120"/>
              </a:rPr>
              <a:t>Major Takeaway: </a:t>
            </a:r>
            <a:pPr indent="0" marL="0">
              <a:buNone/>
            </a:pPr>
            <a:r>
              <a:rPr lang="en-US" sz="1700" dirty="0">
                <a:solidFill>
                  <a:srgbClr val="1A1A1A"/>
                </a:solidFill>
                <a:latin typeface="Times New Roman" pitchFamily="34" charset="0"/>
                <a:ea typeface="Times New Roman" pitchFamily="34" charset="-122"/>
                <a:cs typeface="Times New Roman" pitchFamily="34" charset="-120"/>
              </a:rPr>
              <a:t>Sepsis is a major health problem and early detection saves lives. AI can predict it early, but doctors also need to trust the explanation behind each prediction.</a:t>
            </a:r>
            <a:endParaRPr lang="en-US" sz="1700" dirty="0"/>
          </a:p>
        </p:txBody>
      </p:sp>
      <p:sp>
        <p:nvSpPr>
          <p:cNvPr id="21" name="Text 18"/>
          <p:cNvSpPr txBox="1"/>
          <p:nvPr/>
        </p:nvSpPr>
        <p:spPr>
          <a:xfrm>
            <a:off x="329184" y="6263640"/>
            <a:ext cx="11530584" cy="457200"/>
          </a:xfrm>
          <a:prstGeom prst="rect">
            <a:avLst/>
          </a:prstGeom>
          <a:noFill/>
          <a:ln/>
        </p:spPr>
        <p:txBody>
          <a:bodyPr wrap="square" lIns="63500" tIns="63500" rIns="63500" bIns="63500" rtlCol="0" anchor="t"/>
          <a:lstStyle/>
          <a:p>
            <a:pPr indent="0" marL="0">
              <a:buNone/>
            </a:pPr>
            <a:r>
              <a:rPr lang="en-US" sz="1200" dirty="0">
                <a:solidFill>
                  <a:srgbClr val="555555"/>
                </a:solidFill>
                <a:latin typeface="Times New Roman" pitchFamily="34" charset="0"/>
                <a:ea typeface="Times New Roman" pitchFamily="34" charset="-122"/>
                <a:cs typeface="Times New Roman" pitchFamily="34" charset="-120"/>
              </a:rPr>
              <a:t>References: Singer et al. (2016); CDC sepsis data reports; WHO sepsis fact sheet; Paoli et al. (2018); Kumar et al. (2006); Seymour et al. (2017); PhysioNet/CinC Challenge 2019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Scope and Feasibility study</a:t>
            </a:r>
            <a:endParaRPr lang="en-US" sz="2400" dirty="0"/>
          </a:p>
        </p:txBody>
      </p:sp>
      <p:sp>
        <p:nvSpPr>
          <p:cNvPr id="4" name="Shape 1"/>
          <p:cNvSpPr/>
          <p:nvPr/>
        </p:nvSpPr>
        <p:spPr>
          <a:xfrm>
            <a:off x="329184" y="1783080"/>
            <a:ext cx="5669280" cy="4434840"/>
          </a:xfrm>
          <a:prstGeom prst="roundRect">
            <a:avLst>
              <a:gd name="adj" fmla="val 2062"/>
            </a:avLst>
          </a:prstGeom>
          <a:solidFill>
            <a:srgbClr val="F0F0F0"/>
          </a:solidFill>
          <a:ln w="15875">
            <a:solidFill>
              <a:srgbClr val="2B3A6B"/>
            </a:solidFill>
            <a:prstDash val="solid"/>
          </a:ln>
        </p:spPr>
      </p:sp>
      <p:sp>
        <p:nvSpPr>
          <p:cNvPr id="5" name="Text 2"/>
          <p:cNvSpPr txBox="1"/>
          <p:nvPr/>
        </p:nvSpPr>
        <p:spPr>
          <a:xfrm>
            <a:off x="329184" y="1856232"/>
            <a:ext cx="5669280" cy="457200"/>
          </a:xfrm>
          <a:prstGeom prst="rect">
            <a:avLst/>
          </a:prstGeom>
          <a:noFill/>
          <a:ln/>
        </p:spPr>
        <p:txBody>
          <a:bodyPr wrap="square" lIns="63500" tIns="63500" rIns="63500" bIns="63500" rtlCol="0" anchor="t"/>
          <a:lstStyle/>
          <a:p>
            <a:pPr algn="ctr" indent="0" marL="0">
              <a:buNone/>
            </a:pPr>
            <a:r>
              <a:rPr lang="en-US" sz="2000" b="1" dirty="0">
                <a:solidFill>
                  <a:srgbClr val="1A1A1A"/>
                </a:solidFill>
                <a:latin typeface="Times New Roman" pitchFamily="34" charset="0"/>
                <a:ea typeface="Times New Roman" pitchFamily="34" charset="-122"/>
                <a:cs typeface="Times New Roman" pitchFamily="34" charset="-120"/>
              </a:rPr>
              <a:t>Scope</a:t>
            </a:r>
            <a:endParaRPr lang="en-US" sz="2000" dirty="0"/>
          </a:p>
        </p:txBody>
      </p:sp>
      <p:sp>
        <p:nvSpPr>
          <p:cNvPr id="6" name="Text 3"/>
          <p:cNvSpPr txBox="1"/>
          <p:nvPr/>
        </p:nvSpPr>
        <p:spPr>
          <a:xfrm>
            <a:off x="457200" y="2377440"/>
            <a:ext cx="5440680" cy="3749040"/>
          </a:xfrm>
          <a:prstGeom prst="rect">
            <a:avLst/>
          </a:prstGeom>
          <a:noFill/>
          <a:ln/>
        </p:spPr>
        <p:txBody>
          <a:bodyPr wrap="square" lIns="63500" tIns="63500" rIns="63500" bIns="63500" rtlCol="0" anchor="t"/>
          <a:lstStyle/>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Data: </a:t>
            </a:r>
            <a:pPr indent="0" marL="0">
              <a:buNone/>
            </a:pPr>
            <a:r>
              <a:rPr lang="en-US" sz="1600" dirty="0">
                <a:solidFill>
                  <a:srgbClr val="1A1A1A"/>
                </a:solidFill>
                <a:latin typeface="Times New Roman" pitchFamily="34" charset="0"/>
                <a:ea typeface="Times New Roman" pitchFamily="34" charset="-122"/>
                <a:cs typeface="Times New Roman" pitchFamily="34" charset="-120"/>
              </a:rPr>
              <a:t>PhysioNet/CinC 2019 (~40,336 ICU patients)</a:t>
            </a:r>
            <a:endParaRPr lang="en-US" sz="1600" dirty="0"/>
          </a:p>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Models: </a:t>
            </a:r>
            <a:pPr indent="0" marL="0">
              <a:buNone/>
            </a:pPr>
            <a:r>
              <a:rPr lang="en-US" sz="1600" dirty="0">
                <a:solidFill>
                  <a:srgbClr val="1A1A1A"/>
                </a:solidFill>
                <a:latin typeface="Times New Roman" pitchFamily="34" charset="0"/>
                <a:ea typeface="Times New Roman" pitchFamily="34" charset="-122"/>
                <a:cs typeface="Times New Roman" pitchFamily="34" charset="-120"/>
              </a:rPr>
              <a:t>XGBoost, Random Forest, LSTM</a:t>
            </a:r>
            <a:endParaRPr lang="en-US" sz="1600" dirty="0"/>
          </a:p>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Explainers: </a:t>
            </a:r>
            <a:pPr indent="0" marL="0">
              <a:buNone/>
            </a:pPr>
            <a:r>
              <a:rPr lang="en-US" sz="1600" dirty="0">
                <a:solidFill>
                  <a:srgbClr val="1A1A1A"/>
                </a:solidFill>
                <a:latin typeface="Times New Roman" pitchFamily="34" charset="0"/>
                <a:ea typeface="Times New Roman" pitchFamily="34" charset="-122"/>
                <a:cs typeface="Times New Roman" pitchFamily="34" charset="-120"/>
              </a:rPr>
              <a:t>TreeSHAP, Kernel SHAP, Integrated Gradients</a:t>
            </a:r>
            <a:endParaRPr lang="en-US" sz="1600" dirty="0"/>
          </a:p>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Reliability: </a:t>
            </a:r>
            <a:pPr indent="0" marL="0">
              <a:buNone/>
            </a:pPr>
            <a:r>
              <a:rPr lang="en-US" sz="1600" dirty="0">
                <a:solidFill>
                  <a:srgbClr val="1A1A1A"/>
                </a:solidFill>
                <a:latin typeface="Times New Roman" pitchFamily="34" charset="0"/>
                <a:ea typeface="Times New Roman" pitchFamily="34" charset="-122"/>
                <a:cs typeface="Times New Roman" pitchFamily="34" charset="-120"/>
              </a:rPr>
              <a:t>stability, faithfulness, robustness</a:t>
            </a:r>
            <a:endParaRPr lang="en-US" sz="1600" dirty="0"/>
          </a:p>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Framework: </a:t>
            </a:r>
            <a:pPr indent="0" marL="0">
              <a:buNone/>
            </a:pPr>
            <a:r>
              <a:rPr lang="en-US" sz="1600" dirty="0">
                <a:solidFill>
                  <a:srgbClr val="1A1A1A"/>
                </a:solidFill>
                <a:latin typeface="Times New Roman" pitchFamily="34" charset="0"/>
                <a:ea typeface="Times New Roman" pitchFamily="34" charset="-122"/>
                <a:cs typeface="Times New Roman" pitchFamily="34" charset="-120"/>
              </a:rPr>
              <a:t>detect, diagnose, mitigate, abstain</a:t>
            </a:r>
            <a:endParaRPr lang="en-US" sz="1600" dirty="0"/>
          </a:p>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Out of scope: </a:t>
            </a:r>
            <a:pPr indent="0" marL="0">
              <a:buNone/>
            </a:pPr>
            <a:r>
              <a:rPr lang="en-US" sz="1600" dirty="0">
                <a:solidFill>
                  <a:srgbClr val="1A1A1A"/>
                </a:solidFill>
                <a:latin typeface="Times New Roman" pitchFamily="34" charset="0"/>
                <a:ea typeface="Times New Roman" pitchFamily="34" charset="-122"/>
                <a:cs typeface="Times New Roman" pitchFamily="34" charset="-120"/>
              </a:rPr>
              <a:t>new architectures, AUROC records, prospective clinical validation, multimodal data, real-time deployment</a:t>
            </a:r>
            <a:endParaRPr lang="en-US" sz="1600" dirty="0"/>
          </a:p>
        </p:txBody>
      </p:sp>
      <p:sp>
        <p:nvSpPr>
          <p:cNvPr id="7" name="Shape 4"/>
          <p:cNvSpPr/>
          <p:nvPr/>
        </p:nvSpPr>
        <p:spPr>
          <a:xfrm>
            <a:off x="6172200" y="1783080"/>
            <a:ext cx="5687568" cy="3246120"/>
          </a:xfrm>
          <a:prstGeom prst="roundRect">
            <a:avLst>
              <a:gd name="adj" fmla="val 2817"/>
            </a:avLst>
          </a:prstGeom>
          <a:solidFill>
            <a:srgbClr val="F0F0F0"/>
          </a:solidFill>
          <a:ln w="15875">
            <a:solidFill>
              <a:srgbClr val="2B3A6B"/>
            </a:solidFill>
            <a:prstDash val="solid"/>
          </a:ln>
        </p:spPr>
      </p:sp>
      <p:sp>
        <p:nvSpPr>
          <p:cNvPr id="8" name="Text 5"/>
          <p:cNvSpPr txBox="1"/>
          <p:nvPr/>
        </p:nvSpPr>
        <p:spPr>
          <a:xfrm>
            <a:off x="6172200" y="1856232"/>
            <a:ext cx="5687568" cy="457200"/>
          </a:xfrm>
          <a:prstGeom prst="rect">
            <a:avLst/>
          </a:prstGeom>
          <a:noFill/>
          <a:ln/>
        </p:spPr>
        <p:txBody>
          <a:bodyPr wrap="square" lIns="63500" tIns="63500" rIns="63500" bIns="63500" rtlCol="0" anchor="t"/>
          <a:lstStyle/>
          <a:p>
            <a:pPr algn="ctr" indent="0" marL="0">
              <a:buNone/>
            </a:pPr>
            <a:r>
              <a:rPr lang="en-US" sz="2000" b="1" dirty="0">
                <a:solidFill>
                  <a:srgbClr val="1A1A1A"/>
                </a:solidFill>
                <a:latin typeface="Times New Roman" pitchFamily="34" charset="0"/>
                <a:ea typeface="Times New Roman" pitchFamily="34" charset="-122"/>
                <a:cs typeface="Times New Roman" pitchFamily="34" charset="-120"/>
              </a:rPr>
              <a:t>Feasibility</a:t>
            </a:r>
            <a:endParaRPr lang="en-US" sz="2000" dirty="0"/>
          </a:p>
        </p:txBody>
      </p:sp>
      <p:sp>
        <p:nvSpPr>
          <p:cNvPr id="9" name="Text 6"/>
          <p:cNvSpPr txBox="1"/>
          <p:nvPr/>
        </p:nvSpPr>
        <p:spPr>
          <a:xfrm>
            <a:off x="6291072" y="2331720"/>
            <a:ext cx="5458968" cy="2651760"/>
          </a:xfrm>
          <a:prstGeom prst="rect">
            <a:avLst/>
          </a:prstGeom>
          <a:noFill/>
          <a:ln/>
        </p:spPr>
        <p:txBody>
          <a:bodyPr wrap="square" lIns="63500" tIns="63500" rIns="63500" bIns="63500" rtlCol="0" anchor="t"/>
          <a:lstStyle/>
          <a:p>
            <a:pPr marL="342900" indent="-342900">
              <a:spcAft>
                <a:spcPts val="600"/>
              </a:spcAft>
              <a:buSzPct val="100000"/>
              <a:buChar char="•"/>
            </a:pPr>
            <a:r>
              <a:rPr lang="en-US" sz="1500" b="1" dirty="0">
                <a:solidFill>
                  <a:srgbClr val="1A1A1A"/>
                </a:solidFill>
                <a:latin typeface="Times New Roman" pitchFamily="34" charset="0"/>
                <a:ea typeface="Times New Roman" pitchFamily="34" charset="-122"/>
                <a:cs typeface="Times New Roman" pitchFamily="34" charset="-120"/>
              </a:rPr>
              <a:t>Implementation: </a:t>
            </a:r>
            <a:pPr indent="0" marL="0">
              <a:buNone/>
            </a:pPr>
            <a:r>
              <a:rPr lang="en-US" sz="1500" dirty="0">
                <a:solidFill>
                  <a:srgbClr val="1A1A1A"/>
                </a:solidFill>
                <a:latin typeface="Times New Roman" pitchFamily="34" charset="0"/>
                <a:ea typeface="Times New Roman" pitchFamily="34" charset="-122"/>
                <a:cs typeface="Times New Roman" pitchFamily="34" charset="-120"/>
              </a:rPr>
              <a:t>the layer wraps existing models; SHAP, Captum, XGBoost and PyTorch are mature.</a:t>
            </a:r>
            <a:endParaRPr lang="en-US" sz="1500" dirty="0"/>
          </a:p>
          <a:p>
            <a:pPr marL="342900" indent="-342900">
              <a:spcAft>
                <a:spcPts val="600"/>
              </a:spcAft>
              <a:buSzPct val="100000"/>
              <a:buChar char="•"/>
            </a:pPr>
            <a:r>
              <a:rPr lang="en-US" sz="1500" b="1" dirty="0">
                <a:solidFill>
                  <a:srgbClr val="1A1A1A"/>
                </a:solidFill>
                <a:latin typeface="Times New Roman" pitchFamily="34" charset="0"/>
                <a:ea typeface="Times New Roman" pitchFamily="34" charset="-122"/>
                <a:cs typeface="Times New Roman" pitchFamily="34" charset="-120"/>
              </a:rPr>
              <a:t>Evaluation: </a:t>
            </a:r>
            <a:pPr indent="0" marL="0">
              <a:buNone/>
            </a:pPr>
            <a:r>
              <a:rPr lang="en-US" sz="1500" dirty="0">
                <a:solidFill>
                  <a:srgbClr val="1A1A1A"/>
                </a:solidFill>
                <a:latin typeface="Times New Roman" pitchFamily="34" charset="0"/>
                <a:ea typeface="Times New Roman" pitchFamily="34" charset="-122"/>
                <a:cs typeface="Times New Roman" pitchFamily="34" charset="-120"/>
              </a:rPr>
              <a:t>failure labels are defined before the detector, so evaluation is not circular.</a:t>
            </a:r>
            <a:endParaRPr lang="en-US" sz="1500" dirty="0"/>
          </a:p>
          <a:p>
            <a:pPr marL="342900" indent="-342900">
              <a:spcAft>
                <a:spcPts val="600"/>
              </a:spcAft>
              <a:buSzPct val="100000"/>
              <a:buChar char="•"/>
            </a:pPr>
            <a:r>
              <a:rPr lang="en-US" sz="1500" b="1" dirty="0">
                <a:solidFill>
                  <a:srgbClr val="1A1A1A"/>
                </a:solidFill>
                <a:latin typeface="Times New Roman" pitchFamily="34" charset="0"/>
                <a:ea typeface="Times New Roman" pitchFamily="34" charset="-122"/>
                <a:cs typeface="Times New Roman" pitchFamily="34" charset="-120"/>
              </a:rPr>
              <a:t>Systematic: </a:t>
            </a:r>
            <a:pPr indent="0" marL="0">
              <a:buNone/>
            </a:pPr>
            <a:r>
              <a:rPr lang="en-US" sz="1500" dirty="0">
                <a:solidFill>
                  <a:srgbClr val="1A1A1A"/>
                </a:solidFill>
                <a:latin typeface="Times New Roman" pitchFamily="34" charset="0"/>
                <a:ea typeface="Times New Roman" pitchFamily="34" charset="-122"/>
                <a:cs typeface="Times New Roman" pitchFamily="34" charset="-120"/>
              </a:rPr>
              <a:t>perfect reliability is impossible under collinearity, so we detect rather than eliminate.</a:t>
            </a:r>
            <a:endParaRPr lang="en-US" sz="1500" dirty="0"/>
          </a:p>
          <a:p>
            <a:pPr marL="342900" indent="-342900">
              <a:spcAft>
                <a:spcPts val="600"/>
              </a:spcAft>
              <a:buSzPct val="100000"/>
              <a:buChar char="•"/>
            </a:pPr>
            <a:r>
              <a:rPr lang="en-US" sz="1500" b="1" dirty="0">
                <a:solidFill>
                  <a:srgbClr val="1A1A1A"/>
                </a:solidFill>
                <a:latin typeface="Times New Roman" pitchFamily="34" charset="0"/>
                <a:ea typeface="Times New Roman" pitchFamily="34" charset="-122"/>
                <a:cs typeface="Times New Roman" pitchFamily="34" charset="-120"/>
              </a:rPr>
              <a:t>Practical: </a:t>
            </a:r>
            <a:pPr indent="0" marL="0">
              <a:buNone/>
            </a:pPr>
            <a:r>
              <a:rPr lang="en-US" sz="1500" dirty="0">
                <a:solidFill>
                  <a:srgbClr val="1A1A1A"/>
                </a:solidFill>
                <a:latin typeface="Times New Roman" pitchFamily="34" charset="0"/>
                <a:ea typeface="Times New Roman" pitchFamily="34" charset="-122"/>
                <a:cs typeface="Times New Roman" pitchFamily="34" charset="-120"/>
              </a:rPr>
              <a:t>a post-hoc layer, not real-time; latency and cost are acceptable.</a:t>
            </a:r>
            <a:endParaRPr lang="en-US" sz="1500" dirty="0"/>
          </a:p>
        </p:txBody>
      </p:sp>
      <p:sp>
        <p:nvSpPr>
          <p:cNvPr id="10" name="Shape 7"/>
          <p:cNvSpPr/>
          <p:nvPr/>
        </p:nvSpPr>
        <p:spPr>
          <a:xfrm>
            <a:off x="6172200" y="5166360"/>
            <a:ext cx="5687568" cy="1051560"/>
          </a:xfrm>
          <a:prstGeom prst="roundRect">
            <a:avLst>
              <a:gd name="adj" fmla="val 8696"/>
            </a:avLst>
          </a:prstGeom>
          <a:solidFill>
            <a:srgbClr val="F0F0F0"/>
          </a:solidFill>
          <a:ln w="15875">
            <a:solidFill>
              <a:srgbClr val="2B3A6B"/>
            </a:solidFill>
            <a:prstDash val="solid"/>
          </a:ln>
        </p:spPr>
      </p:sp>
      <p:sp>
        <p:nvSpPr>
          <p:cNvPr id="11" name="Text 8"/>
          <p:cNvSpPr txBox="1"/>
          <p:nvPr/>
        </p:nvSpPr>
        <p:spPr>
          <a:xfrm>
            <a:off x="6291072" y="5166360"/>
            <a:ext cx="5458968" cy="1051560"/>
          </a:xfrm>
          <a:prstGeom prst="rect">
            <a:avLst/>
          </a:prstGeom>
          <a:noFill/>
          <a:ln/>
        </p:spPr>
        <p:txBody>
          <a:bodyPr wrap="square" lIns="63500" tIns="63500" rIns="63500" bIns="63500" rtlCol="0" anchor="ctr"/>
          <a:lstStyle/>
          <a:p>
            <a:pPr indent="0" marL="0">
              <a:buNone/>
            </a:pPr>
            <a:r>
              <a:rPr lang="en-US" sz="1500" b="1" dirty="0">
                <a:solidFill>
                  <a:srgbClr val="1A1A1A"/>
                </a:solidFill>
                <a:latin typeface="Times New Roman" pitchFamily="34" charset="0"/>
                <a:ea typeface="Times New Roman" pitchFamily="34" charset="-122"/>
                <a:cs typeface="Times New Roman" pitchFamily="34" charset="-120"/>
              </a:rPr>
              <a:t>One Line Conclusion: </a:t>
            </a:r>
            <a:pPr indent="0" marL="0">
              <a:buNone/>
            </a:pPr>
            <a:r>
              <a:rPr lang="en-US" sz="1500" dirty="0">
                <a:solidFill>
                  <a:srgbClr val="1A1A1A"/>
                </a:solidFill>
                <a:latin typeface="Times New Roman" pitchFamily="34" charset="0"/>
                <a:ea typeface="Times New Roman" pitchFamily="34" charset="-122"/>
                <a:cs typeface="Times New Roman" pitchFamily="34" charset="-120"/>
              </a:rPr>
              <a:t>feasible as a phased prototype on existing models; real-time deployment and prospective validation are future extensions.</a:t>
            </a:r>
            <a:endParaRPr lang="en-US" sz="1500" dirty="0"/>
          </a:p>
        </p:txBody>
      </p:sp>
      <p:sp>
        <p:nvSpPr>
          <p:cNvPr id="12" name="Text 9"/>
          <p:cNvSpPr txBox="1"/>
          <p:nvPr/>
        </p:nvSpPr>
        <p:spPr>
          <a:xfrm>
            <a:off x="329184" y="6309360"/>
            <a:ext cx="11530584" cy="320040"/>
          </a:xfrm>
          <a:prstGeom prst="rect">
            <a:avLst/>
          </a:prstGeom>
          <a:noFill/>
          <a:ln/>
        </p:spPr>
        <p:txBody>
          <a:bodyPr wrap="square" lIns="63500" tIns="63500" rIns="63500" bIns="63500" rtlCol="0" anchor="t"/>
          <a:lstStyle/>
          <a:p>
            <a:pPr indent="0" marL="0">
              <a:buNone/>
            </a:pPr>
            <a:r>
              <a:rPr lang="en-US" sz="1200" dirty="0">
                <a:solidFill>
                  <a:srgbClr val="555555"/>
                </a:solidFill>
                <a:latin typeface="Times New Roman" pitchFamily="34" charset="0"/>
                <a:ea typeface="Times New Roman" pitchFamily="34" charset="-122"/>
                <a:cs typeface="Times New Roman" pitchFamily="34" charset="-120"/>
              </a:rPr>
              <a:t>References: physionet.org/content/challenge-2019/1.0.0/  |  github.com/shap/shap  |  captum.ai</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Background</a:t>
            </a:r>
            <a:endParaRPr lang="en-US" sz="2400" dirty="0"/>
          </a:p>
        </p:txBody>
      </p:sp>
      <p:sp>
        <p:nvSpPr>
          <p:cNvPr id="4" name="Shape 1"/>
          <p:cNvSpPr/>
          <p:nvPr/>
        </p:nvSpPr>
        <p:spPr>
          <a:xfrm>
            <a:off x="329184" y="1783080"/>
            <a:ext cx="5760720" cy="4572000"/>
          </a:xfrm>
          <a:prstGeom prst="roundRect">
            <a:avLst>
              <a:gd name="adj" fmla="val 2000"/>
            </a:avLst>
          </a:prstGeom>
          <a:solidFill>
            <a:srgbClr val="F0F0F0"/>
          </a:solidFill>
          <a:ln w="15875">
            <a:solidFill>
              <a:srgbClr val="2B3A6B"/>
            </a:solidFill>
            <a:prstDash val="solid"/>
          </a:ln>
        </p:spPr>
      </p:sp>
      <p:sp>
        <p:nvSpPr>
          <p:cNvPr id="5" name="Text 2"/>
          <p:cNvSpPr txBox="1"/>
          <p:nvPr/>
        </p:nvSpPr>
        <p:spPr>
          <a:xfrm>
            <a:off x="329184" y="1856232"/>
            <a:ext cx="5760720" cy="457200"/>
          </a:xfrm>
          <a:prstGeom prst="rect">
            <a:avLst/>
          </a:prstGeom>
          <a:noFill/>
          <a:ln/>
        </p:spPr>
        <p:txBody>
          <a:bodyPr wrap="square" lIns="63500" tIns="63500" rIns="63500" bIns="63500" rtlCol="0" anchor="t"/>
          <a:lstStyle/>
          <a:p>
            <a:pPr algn="ctr" indent="0" marL="0">
              <a:buNone/>
            </a:pPr>
            <a:r>
              <a:rPr lang="en-US" sz="1900" b="1" dirty="0">
                <a:solidFill>
                  <a:srgbClr val="1A1A1A"/>
                </a:solidFill>
                <a:latin typeface="Times New Roman" pitchFamily="34" charset="0"/>
                <a:ea typeface="Times New Roman" pitchFamily="34" charset="-122"/>
                <a:cs typeface="Times New Roman" pitchFamily="34" charset="-120"/>
              </a:rPr>
              <a:t>Why this Problem??</a:t>
            </a:r>
            <a:endParaRPr lang="en-US" sz="1900" dirty="0"/>
          </a:p>
        </p:txBody>
      </p:sp>
      <p:sp>
        <p:nvSpPr>
          <p:cNvPr id="6" name="Text 3"/>
          <p:cNvSpPr txBox="1"/>
          <p:nvPr/>
        </p:nvSpPr>
        <p:spPr>
          <a:xfrm>
            <a:off x="457200" y="2331720"/>
            <a:ext cx="5532120" cy="3977640"/>
          </a:xfrm>
          <a:prstGeom prst="rect">
            <a:avLst/>
          </a:prstGeom>
          <a:noFill/>
          <a:ln/>
        </p:spPr>
        <p:txBody>
          <a:bodyPr wrap="square" lIns="63500" tIns="63500" rIns="63500" bIns="63500" rtlCol="0" anchor="t"/>
          <a:lstStyle/>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Sepsis is the body's extreme reaction to an infection that damages organs; mortality rises every hour treatment is delayed, so early prediction matters.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Ensemble and LSTM models predict well but are compared on different datasets and protocols.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SHAP is the default explanation, yet features are correlated and labs are 85–95% missing.</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A clinician may see respiratory rate as the top feature, then heart rate after retraining: the prediction is stable, the explanation is not.</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This motivated a unified comparison plus a layer that says when an explanation is unreliable.</a:t>
            </a:r>
            <a:endParaRPr lang="en-US" sz="1500" dirty="0"/>
          </a:p>
        </p:txBody>
      </p:sp>
      <p:sp>
        <p:nvSpPr>
          <p:cNvPr id="7" name="Shape 4"/>
          <p:cNvSpPr/>
          <p:nvPr/>
        </p:nvSpPr>
        <p:spPr>
          <a:xfrm>
            <a:off x="6263640" y="1783080"/>
            <a:ext cx="5596128" cy="3200400"/>
          </a:xfrm>
          <a:prstGeom prst="roundRect">
            <a:avLst>
              <a:gd name="adj" fmla="val 2857"/>
            </a:avLst>
          </a:prstGeom>
          <a:solidFill>
            <a:srgbClr val="F0F0F0"/>
          </a:solidFill>
          <a:ln w="15875">
            <a:solidFill>
              <a:srgbClr val="2B3A6B"/>
            </a:solidFill>
            <a:prstDash val="solid"/>
          </a:ln>
        </p:spPr>
      </p:sp>
      <p:sp>
        <p:nvSpPr>
          <p:cNvPr id="8" name="Text 5"/>
          <p:cNvSpPr txBox="1"/>
          <p:nvPr/>
        </p:nvSpPr>
        <p:spPr>
          <a:xfrm>
            <a:off x="6263640" y="1856232"/>
            <a:ext cx="5596128" cy="457200"/>
          </a:xfrm>
          <a:prstGeom prst="rect">
            <a:avLst/>
          </a:prstGeom>
          <a:noFill/>
          <a:ln/>
        </p:spPr>
        <p:txBody>
          <a:bodyPr wrap="square" lIns="63500" tIns="63500" rIns="63500" bIns="63500" rtlCol="0" anchor="t"/>
          <a:lstStyle/>
          <a:p>
            <a:pPr algn="ctr" indent="0" marL="0">
              <a:buNone/>
            </a:pPr>
            <a:r>
              <a:rPr lang="en-US" sz="1900" b="1" dirty="0">
                <a:solidFill>
                  <a:srgbClr val="1A1A1A"/>
                </a:solidFill>
                <a:latin typeface="Times New Roman" pitchFamily="34" charset="0"/>
                <a:ea typeface="Times New Roman" pitchFamily="34" charset="-122"/>
                <a:cs typeface="Times New Roman" pitchFamily="34" charset="-120"/>
              </a:rPr>
              <a:t>Domain Context</a:t>
            </a:r>
            <a:endParaRPr lang="en-US" sz="1900" dirty="0"/>
          </a:p>
        </p:txBody>
      </p:sp>
      <p:sp>
        <p:nvSpPr>
          <p:cNvPr id="9" name="Text 6"/>
          <p:cNvSpPr txBox="1"/>
          <p:nvPr/>
        </p:nvSpPr>
        <p:spPr>
          <a:xfrm>
            <a:off x="6382512" y="2286000"/>
            <a:ext cx="5367528" cy="2651760"/>
          </a:xfrm>
          <a:prstGeom prst="rect">
            <a:avLst/>
          </a:prstGeom>
          <a:noFill/>
          <a:ln/>
        </p:spPr>
        <p:txBody>
          <a:bodyPr wrap="square" lIns="63500" tIns="63500" rIns="63500" bIns="63500" rtlCol="0" anchor="t"/>
          <a:lstStyle/>
          <a:p>
            <a:pPr marL="342900" indent="-342900">
              <a:spcAft>
                <a:spcPts val="600"/>
              </a:spcAft>
              <a:buSzPct val="100000"/>
              <a:buChar char="•"/>
            </a:pPr>
            <a:r>
              <a:rPr lang="en-US" sz="1400" b="1" dirty="0">
                <a:solidFill>
                  <a:srgbClr val="1A1A1A"/>
                </a:solidFill>
                <a:latin typeface="Times New Roman" pitchFamily="34" charset="0"/>
                <a:ea typeface="Times New Roman" pitchFamily="34" charset="-122"/>
                <a:cs typeface="Times New Roman" pitchFamily="34" charset="-120"/>
              </a:rPr>
              <a:t>Sepsis: </a:t>
            </a:r>
            <a:pPr indent="0" marL="0">
              <a:buNone/>
            </a:pPr>
            <a:r>
              <a:rPr lang="en-US" sz="1400" dirty="0">
                <a:solidFill>
                  <a:srgbClr val="1A1A1A"/>
                </a:solidFill>
                <a:latin typeface="Times New Roman" pitchFamily="34" charset="0"/>
                <a:ea typeface="Times New Roman" pitchFamily="34" charset="-122"/>
                <a:cs typeface="Times New Roman" pitchFamily="34" charset="-120"/>
              </a:rPr>
              <a:t>the body's extreme reaction to an infection, causing life-threatening organ damage; predicted 6–12 h before onset.</a:t>
            </a:r>
            <a:endParaRPr lang="en-US" sz="1400" dirty="0"/>
          </a:p>
          <a:p>
            <a:pPr marL="342900" indent="-342900">
              <a:spcAft>
                <a:spcPts val="600"/>
              </a:spcAft>
              <a:buSzPct val="100000"/>
              <a:buChar char="•"/>
            </a:pPr>
            <a:r>
              <a:rPr lang="en-US" sz="1400" b="1" dirty="0">
                <a:solidFill>
                  <a:srgbClr val="1A1A1A"/>
                </a:solidFill>
                <a:latin typeface="Times New Roman" pitchFamily="34" charset="0"/>
                <a:ea typeface="Times New Roman" pitchFamily="34" charset="-122"/>
                <a:cs typeface="Times New Roman" pitchFamily="34" charset="-120"/>
              </a:rPr>
              <a:t>Ensemble vs deep learning: </a:t>
            </a:r>
            <a:pPr indent="0" marL="0">
              <a:buNone/>
            </a:pPr>
            <a:r>
              <a:rPr lang="en-US" sz="1400" dirty="0">
                <a:solidFill>
                  <a:srgbClr val="1A1A1A"/>
                </a:solidFill>
                <a:latin typeface="Times New Roman" pitchFamily="34" charset="0"/>
                <a:ea typeface="Times New Roman" pitchFamily="34" charset="-122"/>
                <a:cs typeface="Times New Roman" pitchFamily="34" charset="-120"/>
              </a:rPr>
              <a:t>XGBoost, RF vs LSTM on ICU time-series.</a:t>
            </a:r>
            <a:endParaRPr lang="en-US" sz="1400" dirty="0"/>
          </a:p>
          <a:p>
            <a:pPr marL="342900" indent="-342900">
              <a:spcAft>
                <a:spcPts val="600"/>
              </a:spcAft>
              <a:buSzPct val="100000"/>
              <a:buChar char="•"/>
            </a:pPr>
            <a:r>
              <a:rPr lang="en-US" sz="1400" b="1" dirty="0">
                <a:solidFill>
                  <a:srgbClr val="1A1A1A"/>
                </a:solidFill>
                <a:latin typeface="Times New Roman" pitchFamily="34" charset="0"/>
                <a:ea typeface="Times New Roman" pitchFamily="34" charset="-122"/>
                <a:cs typeface="Times New Roman" pitchFamily="34" charset="-120"/>
              </a:rPr>
              <a:t>SHAP: </a:t>
            </a:r>
            <a:pPr indent="0" marL="0">
              <a:buNone/>
            </a:pPr>
            <a:r>
              <a:rPr lang="en-US" sz="1400" dirty="0">
                <a:solidFill>
                  <a:srgbClr val="1A1A1A"/>
                </a:solidFill>
                <a:latin typeface="Times New Roman" pitchFamily="34" charset="0"/>
                <a:ea typeface="Times New Roman" pitchFamily="34" charset="-122"/>
                <a:cs typeface="Times New Roman" pitchFamily="34" charset="-120"/>
              </a:rPr>
              <a:t>feature attributions behind each prediction.</a:t>
            </a:r>
            <a:endParaRPr lang="en-US" sz="1400" dirty="0"/>
          </a:p>
          <a:p>
            <a:pPr marL="342900" indent="-342900">
              <a:spcAft>
                <a:spcPts val="600"/>
              </a:spcAft>
              <a:buSzPct val="100000"/>
              <a:buChar char="•"/>
            </a:pPr>
            <a:r>
              <a:rPr lang="en-US" sz="1400" b="1" dirty="0">
                <a:solidFill>
                  <a:srgbClr val="1A1A1A"/>
                </a:solidFill>
                <a:latin typeface="Times New Roman" pitchFamily="34" charset="0"/>
                <a:ea typeface="Times New Roman" pitchFamily="34" charset="-122"/>
                <a:cs typeface="Times New Roman" pitchFamily="34" charset="-120"/>
              </a:rPr>
              <a:t>Attribution Impossibility (2026): </a:t>
            </a:r>
            <a:pPr indent="0" marL="0">
              <a:buNone/>
            </a:pPr>
            <a:r>
              <a:rPr lang="en-US" sz="1400" dirty="0">
                <a:solidFill>
                  <a:srgbClr val="1A1A1A"/>
                </a:solidFill>
                <a:latin typeface="Times New Roman" pitchFamily="34" charset="0"/>
                <a:ea typeface="Times New Roman" pitchFamily="34" charset="-122"/>
                <a:cs typeface="Times New Roman" pitchFamily="34" charset="-120"/>
              </a:rPr>
              <a:t>with correlated features, no ranking is faithful, stable and complete.</a:t>
            </a:r>
            <a:endParaRPr lang="en-US" sz="1400" dirty="0"/>
          </a:p>
          <a:p>
            <a:pPr marL="342900" indent="-342900">
              <a:spcAft>
                <a:spcPts val="600"/>
              </a:spcAft>
              <a:buSzPct val="100000"/>
              <a:buChar char="•"/>
            </a:pPr>
            <a:r>
              <a:rPr lang="en-US" sz="1400" b="1" dirty="0">
                <a:solidFill>
                  <a:srgbClr val="1A1A1A"/>
                </a:solidFill>
                <a:latin typeface="Times New Roman" pitchFamily="34" charset="0"/>
                <a:ea typeface="Times New Roman" pitchFamily="34" charset="-122"/>
                <a:cs typeface="Times New Roman" pitchFamily="34" charset="-120"/>
              </a:rPr>
              <a:t>Reliability: </a:t>
            </a:r>
            <a:pPr indent="0" marL="0">
              <a:buNone/>
            </a:pPr>
            <a:r>
              <a:rPr lang="en-US" sz="1400" dirty="0">
                <a:solidFill>
                  <a:srgbClr val="1A1A1A"/>
                </a:solidFill>
                <a:latin typeface="Times New Roman" pitchFamily="34" charset="0"/>
                <a:ea typeface="Times New Roman" pitchFamily="34" charset="-122"/>
                <a:cs typeface="Times New Roman" pitchFamily="34" charset="-120"/>
              </a:rPr>
              <a:t>stability, faithfulness, robustness.</a:t>
            </a:r>
            <a:endParaRPr lang="en-US" sz="1400" dirty="0"/>
          </a:p>
        </p:txBody>
      </p:sp>
      <p:sp>
        <p:nvSpPr>
          <p:cNvPr id="10" name="Shape 7"/>
          <p:cNvSpPr/>
          <p:nvPr/>
        </p:nvSpPr>
        <p:spPr>
          <a:xfrm>
            <a:off x="6263640" y="5120640"/>
            <a:ext cx="5596128" cy="1234440"/>
          </a:xfrm>
          <a:prstGeom prst="roundRect">
            <a:avLst>
              <a:gd name="adj" fmla="val 7407"/>
            </a:avLst>
          </a:prstGeom>
          <a:solidFill>
            <a:srgbClr val="F0F0F0"/>
          </a:solidFill>
          <a:ln w="15875">
            <a:solidFill>
              <a:srgbClr val="2B3A6B"/>
            </a:solidFill>
            <a:prstDash val="solid"/>
          </a:ln>
        </p:spPr>
      </p:sp>
      <p:sp>
        <p:nvSpPr>
          <p:cNvPr id="11" name="Text 8"/>
          <p:cNvSpPr txBox="1"/>
          <p:nvPr/>
        </p:nvSpPr>
        <p:spPr>
          <a:xfrm>
            <a:off x="6382512" y="5120640"/>
            <a:ext cx="5367528" cy="1234440"/>
          </a:xfrm>
          <a:prstGeom prst="rect">
            <a:avLst/>
          </a:prstGeom>
          <a:noFill/>
          <a:ln/>
        </p:spPr>
        <p:txBody>
          <a:bodyPr wrap="square" lIns="63500" tIns="63500" rIns="63500" bIns="63500" rtlCol="0" anchor="ctr"/>
          <a:lstStyle/>
          <a:p>
            <a:pPr indent="0" marL="0">
              <a:buNone/>
            </a:pPr>
            <a:r>
              <a:rPr lang="en-US" sz="1500" b="1" dirty="0">
                <a:solidFill>
                  <a:srgbClr val="1A1A1A"/>
                </a:solidFill>
                <a:latin typeface="Times New Roman" pitchFamily="34" charset="0"/>
                <a:ea typeface="Times New Roman" pitchFamily="34" charset="-122"/>
                <a:cs typeface="Times New Roman" pitchFamily="34" charset="-120"/>
              </a:rPr>
              <a:t>One-line transition: </a:t>
            </a:r>
            <a:pPr indent="0" marL="0">
              <a:buNone/>
            </a:pPr>
            <a:r>
              <a:rPr lang="en-US" sz="1500" dirty="0">
                <a:solidFill>
                  <a:srgbClr val="1A1A1A"/>
                </a:solidFill>
                <a:latin typeface="Times New Roman" pitchFamily="34" charset="0"/>
                <a:ea typeface="Times New Roman" pitchFamily="34" charset="-122"/>
                <a:cs typeface="Times New Roman" pitchFamily="34" charset="-120"/>
              </a:rPr>
              <a:t>these foundations lead to our framework: a fair model comparison plus a reliability layer that detects, diagnoses, mitigates and abstains.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Literature Study</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914400"/>
        </p:xfrm>
        <a:graphic>
          <a:graphicData uri="http://schemas.openxmlformats.org/drawingml/2006/table">
            <a:tbl>
              <a:tblPr/>
              <a:tblGrid>
                <a:gridCol w="2651760"/>
                <a:gridCol w="2148840"/>
                <a:gridCol w="2331720"/>
                <a:gridCol w="2103120"/>
                <a:gridCol w="2286000"/>
              </a:tblGrid>
              <a:tr h="411480">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Paper / Study</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Problem</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Approach / Method</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Limitations</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Relevance to our work</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r>
              <a:tr h="804672">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Failings of Shapley values, Huang &amp; Marques-Silva (2024)</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Are SHAP scores reliable explanations?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Exhaustive analysis of Boolean classifiers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Theoretical, not clinical</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Motivates checking SHAP in sepsis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804672">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Problems with Shapley-based explanations, Kumar et al. (2020)</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SHAP has mathematical and applicability issues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Conceptual analysis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No sepsis application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Failure modes our diagnose stage targets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r h="804672">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Manifold-based Shapley (Latent SHAP), Hu et al. (2024)</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Correlation-induced SHAP errors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Latent SHAP on the data manifold</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Not applied to sepsis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Mitigation for feature correlation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804672">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LSTM-GAT on PhysioNet 2019, Khorram &amp; Kouchaki (2026)</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Early sepsis prediction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LSTM + graph attention, 5 seeds; AUROC 0.853</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No reliability evaluation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Deep-learning baseline for comparison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r h="804672">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XAI for sepsis systematic review (2026)</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How is XAI used in sepsis?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PRISMA review of 37 studies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Diagnoses the gap only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Establishes the need for reliability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Proposed Approach</a:t>
            </a:r>
            <a:endParaRPr lang="en-US" sz="2400" dirty="0"/>
          </a:p>
        </p:txBody>
      </p:sp>
      <p:sp>
        <p:nvSpPr>
          <p:cNvPr id="4" name="Text 1"/>
          <p:cNvSpPr/>
          <p:nvPr/>
        </p:nvSpPr>
        <p:spPr>
          <a:xfrm>
            <a:off x="329184" y="1783080"/>
            <a:ext cx="1463040" cy="1371600"/>
          </a:xfrm>
          <a:prstGeom prst="roundRect">
            <a:avLst>
              <a:gd name="adj" fmla="val 6667"/>
            </a:avLst>
          </a:prstGeom>
          <a:solidFill>
            <a:srgbClr val="EEF3FC"/>
          </a:solidFill>
          <a:ln w="12700">
            <a:solidFill>
              <a:srgbClr val="B8C4E0"/>
            </a:solidFill>
          </a:ln>
        </p:spPr>
        <p:txBody>
          <a:bodyPr wrap="square" lIns="50800" tIns="50800" rIns="50800" bIns="50800"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ICU time-series</a:t>
            </a:r>
            <a:endParaRPr lang="en-US" sz="1500" dirty="0"/>
          </a:p>
          <a:p>
            <a:pPr algn="ctr" indent="0" marL="0">
              <a:buNone/>
            </a:pPr>
            <a:r>
              <a:rPr lang="en-US" sz="1200" dirty="0">
                <a:solidFill>
                  <a:srgbClr val="1A1A1A"/>
                </a:solidFill>
                <a:latin typeface="Times New Roman" pitchFamily="34" charset="0"/>
                <a:ea typeface="Times New Roman" pitchFamily="34" charset="-122"/>
                <a:cs typeface="Times New Roman" pitchFamily="34" charset="-120"/>
              </a:rPr>
              <a:t>40 variables, hourly</a:t>
            </a:r>
            <a:endParaRPr lang="en-US" sz="1500" dirty="0"/>
          </a:p>
        </p:txBody>
      </p:sp>
      <p:sp>
        <p:nvSpPr>
          <p:cNvPr id="5" name="Shape 2"/>
          <p:cNvSpPr/>
          <p:nvPr/>
        </p:nvSpPr>
        <p:spPr>
          <a:xfrm>
            <a:off x="1792224" y="2468880"/>
            <a:ext cx="214884" cy="0"/>
          </a:xfrm>
          <a:prstGeom prst="line">
            <a:avLst/>
          </a:prstGeom>
          <a:noFill/>
          <a:ln w="19050">
            <a:solidFill>
              <a:srgbClr val="555555"/>
            </a:solidFill>
            <a:prstDash val="solid"/>
            <a:tailEnd type="triangle"/>
          </a:ln>
        </p:spPr>
      </p:sp>
      <p:sp>
        <p:nvSpPr>
          <p:cNvPr id="6" name="Text 3"/>
          <p:cNvSpPr/>
          <p:nvPr/>
        </p:nvSpPr>
        <p:spPr>
          <a:xfrm>
            <a:off x="2007108" y="1783080"/>
            <a:ext cx="1463040" cy="1371600"/>
          </a:xfrm>
          <a:prstGeom prst="roundRect">
            <a:avLst>
              <a:gd name="adj" fmla="val 6667"/>
            </a:avLst>
          </a:prstGeom>
          <a:solidFill>
            <a:srgbClr val="EEF3FC"/>
          </a:solidFill>
          <a:ln w="12700">
            <a:solidFill>
              <a:srgbClr val="B8C4E0"/>
            </a:solidFill>
          </a:ln>
        </p:spPr>
        <p:txBody>
          <a:bodyPr wrap="square" lIns="50800" tIns="50800" rIns="50800" bIns="50800"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Prediction models</a:t>
            </a:r>
            <a:endParaRPr lang="en-US" sz="1500" dirty="0"/>
          </a:p>
          <a:p>
            <a:pPr algn="ctr" indent="0" marL="0">
              <a:buNone/>
            </a:pPr>
            <a:r>
              <a:rPr lang="en-US" sz="1200" dirty="0">
                <a:solidFill>
                  <a:srgbClr val="1A1A1A"/>
                </a:solidFill>
                <a:latin typeface="Times New Roman" pitchFamily="34" charset="0"/>
                <a:ea typeface="Times New Roman" pitchFamily="34" charset="-122"/>
                <a:cs typeface="Times New Roman" pitchFamily="34" charset="-120"/>
              </a:rPr>
              <a:t>XGBoost, RF, LSTM</a:t>
            </a:r>
            <a:endParaRPr lang="en-US" sz="1500" dirty="0"/>
          </a:p>
        </p:txBody>
      </p:sp>
      <p:sp>
        <p:nvSpPr>
          <p:cNvPr id="7" name="Shape 4"/>
          <p:cNvSpPr/>
          <p:nvPr/>
        </p:nvSpPr>
        <p:spPr>
          <a:xfrm>
            <a:off x="3470148" y="2468880"/>
            <a:ext cx="214884" cy="0"/>
          </a:xfrm>
          <a:prstGeom prst="line">
            <a:avLst/>
          </a:prstGeom>
          <a:noFill/>
          <a:ln w="19050">
            <a:solidFill>
              <a:srgbClr val="555555"/>
            </a:solidFill>
            <a:prstDash val="solid"/>
            <a:tailEnd type="triangle"/>
          </a:ln>
        </p:spPr>
      </p:sp>
      <p:sp>
        <p:nvSpPr>
          <p:cNvPr id="8" name="Text 5"/>
          <p:cNvSpPr/>
          <p:nvPr/>
        </p:nvSpPr>
        <p:spPr>
          <a:xfrm>
            <a:off x="3685032" y="1783080"/>
            <a:ext cx="1463040" cy="1371600"/>
          </a:xfrm>
          <a:prstGeom prst="roundRect">
            <a:avLst>
              <a:gd name="adj" fmla="val 6667"/>
            </a:avLst>
          </a:prstGeom>
          <a:solidFill>
            <a:srgbClr val="EEF3FC"/>
          </a:solidFill>
          <a:ln w="12700">
            <a:solidFill>
              <a:srgbClr val="B8C4E0"/>
            </a:solidFill>
          </a:ln>
        </p:spPr>
        <p:txBody>
          <a:bodyPr wrap="square" lIns="50800" tIns="50800" rIns="50800" bIns="50800"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Explanations</a:t>
            </a:r>
            <a:endParaRPr lang="en-US" sz="1500" dirty="0"/>
          </a:p>
          <a:p>
            <a:pPr algn="ctr" indent="0" marL="0">
              <a:buNone/>
            </a:pPr>
            <a:r>
              <a:rPr lang="en-US" sz="1200" dirty="0">
                <a:solidFill>
                  <a:srgbClr val="1A1A1A"/>
                </a:solidFill>
                <a:latin typeface="Times New Roman" pitchFamily="34" charset="0"/>
                <a:ea typeface="Times New Roman" pitchFamily="34" charset="-122"/>
                <a:cs typeface="Times New Roman" pitchFamily="34" charset="-120"/>
              </a:rPr>
              <a:t>TreeSHAP, Kernel SHAP, IG</a:t>
            </a:r>
            <a:endParaRPr lang="en-US" sz="1500" dirty="0"/>
          </a:p>
        </p:txBody>
      </p:sp>
      <p:sp>
        <p:nvSpPr>
          <p:cNvPr id="9" name="Shape 6"/>
          <p:cNvSpPr/>
          <p:nvPr/>
        </p:nvSpPr>
        <p:spPr>
          <a:xfrm>
            <a:off x="5148072" y="2468880"/>
            <a:ext cx="214884" cy="0"/>
          </a:xfrm>
          <a:prstGeom prst="line">
            <a:avLst/>
          </a:prstGeom>
          <a:noFill/>
          <a:ln w="19050">
            <a:solidFill>
              <a:srgbClr val="555555"/>
            </a:solidFill>
            <a:prstDash val="solid"/>
            <a:tailEnd type="triangle"/>
          </a:ln>
        </p:spPr>
      </p:sp>
      <p:sp>
        <p:nvSpPr>
          <p:cNvPr id="10" name="Text 7"/>
          <p:cNvSpPr/>
          <p:nvPr/>
        </p:nvSpPr>
        <p:spPr>
          <a:xfrm>
            <a:off x="5362956"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1. Detect</a:t>
            </a:r>
            <a:endParaRPr lang="en-US" sz="1500" dirty="0"/>
          </a:p>
          <a:p>
            <a:pPr algn="ctr" indent="0" marL="0">
              <a:buNone/>
            </a:pPr>
            <a:r>
              <a:rPr lang="en-US" sz="1200" dirty="0">
                <a:solidFill>
                  <a:srgbClr val="FFFFFF"/>
                </a:solidFill>
                <a:latin typeface="Times New Roman" pitchFamily="34" charset="0"/>
                <a:ea typeface="Times New Roman" pitchFamily="34" charset="-122"/>
                <a:cs typeface="Times New Roman" pitchFamily="34" charset="-120"/>
              </a:rPr>
              <a:t>Stability, faithfulness, robustness</a:t>
            </a:r>
            <a:endParaRPr lang="en-US" sz="1500" dirty="0"/>
          </a:p>
        </p:txBody>
      </p:sp>
      <p:sp>
        <p:nvSpPr>
          <p:cNvPr id="11" name="Shape 8"/>
          <p:cNvSpPr/>
          <p:nvPr/>
        </p:nvSpPr>
        <p:spPr>
          <a:xfrm>
            <a:off x="6825996" y="2468880"/>
            <a:ext cx="214884" cy="0"/>
          </a:xfrm>
          <a:prstGeom prst="line">
            <a:avLst/>
          </a:prstGeom>
          <a:noFill/>
          <a:ln w="19050">
            <a:solidFill>
              <a:srgbClr val="555555"/>
            </a:solidFill>
            <a:prstDash val="solid"/>
            <a:tailEnd type="triangle"/>
          </a:ln>
        </p:spPr>
      </p:sp>
      <p:sp>
        <p:nvSpPr>
          <p:cNvPr id="12" name="Text 9"/>
          <p:cNvSpPr/>
          <p:nvPr/>
        </p:nvSpPr>
        <p:spPr>
          <a:xfrm>
            <a:off x="7040880"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2. Diagnose</a:t>
            </a:r>
            <a:endParaRPr lang="en-US" sz="1500" dirty="0"/>
          </a:p>
          <a:p>
            <a:pPr algn="ctr" indent="0" marL="0">
              <a:buNone/>
            </a:pPr>
            <a:r>
              <a:rPr lang="en-US" sz="1200" dirty="0">
                <a:solidFill>
                  <a:srgbClr val="FFFFFF"/>
                </a:solidFill>
                <a:latin typeface="Times New Roman" pitchFamily="34" charset="0"/>
                <a:ea typeface="Times New Roman" pitchFamily="34" charset="-122"/>
                <a:cs typeface="Times New Roman" pitchFamily="34" charset="-120"/>
              </a:rPr>
              <a:t>Find the failure mode</a:t>
            </a:r>
            <a:endParaRPr lang="en-US" sz="1500" dirty="0"/>
          </a:p>
        </p:txBody>
      </p:sp>
      <p:sp>
        <p:nvSpPr>
          <p:cNvPr id="13" name="Shape 10"/>
          <p:cNvSpPr/>
          <p:nvPr/>
        </p:nvSpPr>
        <p:spPr>
          <a:xfrm>
            <a:off x="8503920" y="2468880"/>
            <a:ext cx="214884" cy="0"/>
          </a:xfrm>
          <a:prstGeom prst="line">
            <a:avLst/>
          </a:prstGeom>
          <a:noFill/>
          <a:ln w="19050">
            <a:solidFill>
              <a:srgbClr val="555555"/>
            </a:solidFill>
            <a:prstDash val="solid"/>
            <a:tailEnd type="triangle"/>
          </a:ln>
        </p:spPr>
      </p:sp>
      <p:sp>
        <p:nvSpPr>
          <p:cNvPr id="14" name="Text 11"/>
          <p:cNvSpPr/>
          <p:nvPr/>
        </p:nvSpPr>
        <p:spPr>
          <a:xfrm>
            <a:off x="8718804"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3. Mitigate</a:t>
            </a:r>
            <a:endParaRPr lang="en-US" sz="1500" dirty="0"/>
          </a:p>
          <a:p>
            <a:pPr algn="ctr" indent="0" marL="0">
              <a:buNone/>
            </a:pPr>
            <a:r>
              <a:rPr lang="en-US" sz="1200" dirty="0">
                <a:solidFill>
                  <a:srgbClr val="FFFFFF"/>
                </a:solidFill>
                <a:latin typeface="Times New Roman" pitchFamily="34" charset="0"/>
                <a:ea typeface="Times New Roman" pitchFamily="34" charset="-122"/>
                <a:cs typeface="Times New Roman" pitchFamily="34" charset="-120"/>
              </a:rPr>
              <a:t>Targeted fix per mode</a:t>
            </a:r>
            <a:endParaRPr lang="en-US" sz="1500" dirty="0"/>
          </a:p>
        </p:txBody>
      </p:sp>
      <p:sp>
        <p:nvSpPr>
          <p:cNvPr id="15" name="Shape 12"/>
          <p:cNvSpPr/>
          <p:nvPr/>
        </p:nvSpPr>
        <p:spPr>
          <a:xfrm>
            <a:off x="10181844" y="2468880"/>
            <a:ext cx="214884" cy="0"/>
          </a:xfrm>
          <a:prstGeom prst="line">
            <a:avLst/>
          </a:prstGeom>
          <a:noFill/>
          <a:ln w="19050">
            <a:solidFill>
              <a:srgbClr val="555555"/>
            </a:solidFill>
            <a:prstDash val="solid"/>
            <a:tailEnd type="triangle"/>
          </a:ln>
        </p:spPr>
      </p:sp>
      <p:sp>
        <p:nvSpPr>
          <p:cNvPr id="16" name="Text 13"/>
          <p:cNvSpPr/>
          <p:nvPr/>
        </p:nvSpPr>
        <p:spPr>
          <a:xfrm>
            <a:off x="10396728"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4. Abstain</a:t>
            </a:r>
            <a:endParaRPr lang="en-US" sz="1500" dirty="0"/>
          </a:p>
          <a:p>
            <a:pPr algn="ctr" indent="0" marL="0">
              <a:buNone/>
            </a:pPr>
            <a:r>
              <a:rPr lang="en-US" sz="1200" dirty="0">
                <a:solidFill>
                  <a:srgbClr val="FFFFFF"/>
                </a:solidFill>
                <a:latin typeface="Times New Roman" pitchFamily="34" charset="0"/>
                <a:ea typeface="Times New Roman" pitchFamily="34" charset="-122"/>
                <a:cs typeface="Times New Roman" pitchFamily="34" charset="-120"/>
              </a:rPr>
              <a:t>Flag if R(x) &lt; 0.5</a:t>
            </a:r>
            <a:endParaRPr lang="en-US" sz="1500" dirty="0"/>
          </a:p>
        </p:txBody>
      </p:sp>
      <p:sp>
        <p:nvSpPr>
          <p:cNvPr id="17" name="Text 14"/>
          <p:cNvSpPr txBox="1"/>
          <p:nvPr/>
        </p:nvSpPr>
        <p:spPr>
          <a:xfrm>
            <a:off x="329184" y="3291840"/>
            <a:ext cx="11530584" cy="411480"/>
          </a:xfrm>
          <a:prstGeom prst="rect">
            <a:avLst/>
          </a:prstGeom>
          <a:noFill/>
          <a:ln/>
        </p:spPr>
        <p:txBody>
          <a:bodyPr wrap="square" lIns="63500" tIns="63500" rIns="63500" bIns="63500" rtlCol="0" anchor="t"/>
          <a:lstStyle/>
          <a:p>
            <a:pPr indent="0" marL="0">
              <a:buNone/>
            </a:pPr>
            <a:r>
              <a:rPr lang="en-US" sz="1500" i="1" dirty="0">
                <a:solidFill>
                  <a:srgbClr val="444444"/>
                </a:solidFill>
                <a:latin typeface="Times New Roman" pitchFamily="34" charset="0"/>
                <a:ea typeface="Times New Roman" pitchFamily="34" charset="-122"/>
                <a:cs typeface="Times New Roman" pitchFamily="34" charset="-120"/>
              </a:rPr>
              <a:t>Blue boxes = our contribution. Output: a reliable explanation, or an “Explanation unreliable” warning.</a:t>
            </a:r>
            <a:endParaRPr lang="en-US" sz="1500" dirty="0"/>
          </a:p>
        </p:txBody>
      </p:sp>
      <p:sp>
        <p:nvSpPr>
          <p:cNvPr id="18" name="Shape 15"/>
          <p:cNvSpPr/>
          <p:nvPr/>
        </p:nvSpPr>
        <p:spPr>
          <a:xfrm>
            <a:off x="329184" y="3840480"/>
            <a:ext cx="5577840" cy="1920240"/>
          </a:xfrm>
          <a:prstGeom prst="roundRect">
            <a:avLst>
              <a:gd name="adj" fmla="val 4762"/>
            </a:avLst>
          </a:prstGeom>
          <a:solidFill>
            <a:srgbClr val="EEF3FC"/>
          </a:solidFill>
          <a:ln w="15875">
            <a:solidFill>
              <a:srgbClr val="DCE4F5"/>
            </a:solidFill>
            <a:prstDash val="solid"/>
          </a:ln>
        </p:spPr>
      </p:sp>
      <p:sp>
        <p:nvSpPr>
          <p:cNvPr id="19" name="Text 16"/>
          <p:cNvSpPr txBox="1"/>
          <p:nvPr/>
        </p:nvSpPr>
        <p:spPr>
          <a:xfrm>
            <a:off x="457200" y="3904488"/>
            <a:ext cx="5349240" cy="1783080"/>
          </a:xfrm>
          <a:prstGeom prst="rect">
            <a:avLst/>
          </a:prstGeom>
          <a:noFill/>
          <a:ln/>
        </p:spPr>
        <p:txBody>
          <a:bodyPr wrap="square" lIns="63500" tIns="63500" rIns="63500" bIns="63500" rtlCol="0" anchor="t"/>
          <a:lstStyle/>
          <a:p>
            <a:pPr indent="0" marL="0">
              <a:buNone/>
            </a:pPr>
            <a:r>
              <a:rPr lang="en-US" sz="2000" b="1" dirty="0">
                <a:solidFill>
                  <a:srgbClr val="0033CC"/>
                </a:solidFill>
                <a:latin typeface="Times New Roman" pitchFamily="34" charset="0"/>
                <a:ea typeface="Times New Roman" pitchFamily="34" charset="-122"/>
                <a:cs typeface="Times New Roman" pitchFamily="34" charset="-120"/>
              </a:rPr>
              <a:t>Reliability score</a:t>
            </a:r>
            <a:endParaRPr lang="en-US" sz="1600" dirty="0"/>
          </a:p>
          <a:p>
            <a:pPr indent="0" marL="0">
              <a:buNone/>
            </a:pPr>
            <a:r>
              <a:rPr lang="en-US" sz="1900" dirty="0">
                <a:solidFill>
                  <a:srgbClr val="1A1A1A"/>
                </a:solidFill>
                <a:latin typeface="Times New Roman" pitchFamily="34" charset="0"/>
                <a:ea typeface="Times New Roman" pitchFamily="34" charset="-122"/>
                <a:cs typeface="Times New Roman" pitchFamily="34" charset="-120"/>
              </a:rPr>
              <a:t>R(x) = w_s · Stability(x) + w_f · Faithfulness(x)</a:t>
            </a:r>
            <a:endParaRPr lang="en-US" sz="1600" dirty="0"/>
          </a:p>
          <a:p>
            <a:pPr indent="0" marL="0">
              <a:buNone/>
            </a:pPr>
            <a:r>
              <a:rPr lang="en-US" sz="1900" dirty="0">
                <a:solidFill>
                  <a:srgbClr val="1A1A1A"/>
                </a:solidFill>
                <a:latin typeface="Times New Roman" pitchFamily="34" charset="0"/>
                <a:ea typeface="Times New Roman" pitchFamily="34" charset="-122"/>
                <a:cs typeface="Times New Roman" pitchFamily="34" charset="-120"/>
              </a:rPr>
              <a:t>          + w_r · Robustness(x)</a:t>
            </a:r>
            <a:endParaRPr lang="en-US" sz="1600" dirty="0"/>
          </a:p>
          <a:p>
            <a:pPr indent="0" marL="0">
              <a:buNone/>
            </a:pPr>
            <a:r>
              <a:rPr lang="en-US" sz="1500" dirty="0">
                <a:solidFill>
                  <a:srgbClr val="1A1A1A"/>
                </a:solidFill>
                <a:latin typeface="Times New Roman" pitchFamily="34" charset="0"/>
                <a:ea typeface="Times New Roman" pitchFamily="34" charset="-122"/>
                <a:cs typeface="Times New Roman" pitchFamily="34" charset="-120"/>
              </a:rPr>
              <a:t>Weights start at 1/3 each and are tuned on the validation set.</a:t>
            </a:r>
            <a:endParaRPr lang="en-US" sz="1600" dirty="0"/>
          </a:p>
        </p:txBody>
      </p:sp>
      <p:sp>
        <p:nvSpPr>
          <p:cNvPr id="20" name="Shape 17"/>
          <p:cNvSpPr/>
          <p:nvPr/>
        </p:nvSpPr>
        <p:spPr>
          <a:xfrm>
            <a:off x="6135624" y="3840480"/>
            <a:ext cx="5724144" cy="1920240"/>
          </a:xfrm>
          <a:prstGeom prst="roundRect">
            <a:avLst>
              <a:gd name="adj" fmla="val 4762"/>
            </a:avLst>
          </a:prstGeom>
          <a:solidFill>
            <a:srgbClr val="FFFFFF"/>
          </a:solidFill>
          <a:ln w="15875">
            <a:solidFill>
              <a:srgbClr val="D40000"/>
            </a:solidFill>
            <a:prstDash val="solid"/>
          </a:ln>
        </p:spPr>
      </p:sp>
      <p:sp>
        <p:nvSpPr>
          <p:cNvPr id="21" name="Text 18"/>
          <p:cNvSpPr txBox="1"/>
          <p:nvPr/>
        </p:nvSpPr>
        <p:spPr>
          <a:xfrm>
            <a:off x="6263640" y="3904488"/>
            <a:ext cx="5486400" cy="1783080"/>
          </a:xfrm>
          <a:prstGeom prst="rect">
            <a:avLst/>
          </a:prstGeom>
          <a:noFill/>
          <a:ln/>
        </p:spPr>
        <p:txBody>
          <a:bodyPr wrap="square" lIns="63500" tIns="63500" rIns="63500" bIns="63500" rtlCol="0" anchor="t"/>
          <a:lstStyle/>
          <a:p>
            <a:pPr indent="0" marL="0">
              <a:buNone/>
            </a:pPr>
            <a:r>
              <a:rPr lang="en-US" sz="2000" b="1" dirty="0">
                <a:solidFill>
                  <a:srgbClr val="D40000"/>
                </a:solidFill>
                <a:latin typeface="Times New Roman" pitchFamily="34" charset="0"/>
                <a:ea typeface="Times New Roman" pitchFamily="34" charset="-122"/>
                <a:cs typeface="Times New Roman" pitchFamily="34" charset="-120"/>
              </a:rPr>
              <a:t>Example output</a:t>
            </a:r>
            <a:endParaRPr lang="en-US" sz="1600" dirty="0"/>
          </a:p>
          <a:p>
            <a:pPr indent="0" marL="0">
              <a:buNone/>
            </a:pPr>
            <a:r>
              <a:rPr lang="en-US" sz="1700" i="1" dirty="0">
                <a:solidFill>
                  <a:srgbClr val="1A1A1A"/>
                </a:solidFill>
                <a:latin typeface="Times New Roman" pitchFamily="34" charset="0"/>
                <a:ea typeface="Times New Roman" pitchFamily="34" charset="-122"/>
                <a:cs typeface="Times New Roman" pitchFamily="34" charset="-120"/>
              </a:rPr>
              <a:t>“Prediction: 82% sepsis risk. Explanation reliability: LOW. Top feature ranking is unstable across model retraining. Use clinical judgment.”</a:t>
            </a:r>
            <a:endParaRPr lang="en-US" sz="1600" dirty="0"/>
          </a:p>
        </p:txBody>
      </p:sp>
      <p:sp>
        <p:nvSpPr>
          <p:cNvPr id="22" name="Text 19"/>
          <p:cNvSpPr txBox="1"/>
          <p:nvPr/>
        </p:nvSpPr>
        <p:spPr>
          <a:xfrm>
            <a:off x="329184" y="5943600"/>
            <a:ext cx="11530584" cy="365760"/>
          </a:xfrm>
          <a:prstGeom prst="rect">
            <a:avLst/>
          </a:prstGeom>
          <a:noFill/>
          <a:ln/>
        </p:spPr>
        <p:txBody>
          <a:bodyPr wrap="square" lIns="63500" tIns="63500" rIns="63500" bIns="63500" rtlCol="0" anchor="t"/>
          <a:lstStyle/>
          <a:p>
            <a:pPr indent="0" marL="0">
              <a:buNone/>
            </a:pPr>
            <a:r>
              <a:rPr lang="en-US" sz="1300" i="1" dirty="0">
                <a:solidFill>
                  <a:srgbClr val="555555"/>
                </a:solidFill>
                <a:latin typeface="Times New Roman" pitchFamily="34" charset="0"/>
                <a:ea typeface="Times New Roman" pitchFamily="34" charset="-122"/>
                <a:cs typeface="Times New Roman" pitchFamily="34" charset="-120"/>
              </a:rPr>
              <a:t>Stack: Python | XGBoost / scikit-learn | PyTorch | SHAP | Captum | SciPy | Pandas / NumPy | Streamlit (optional)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Reliability Layer: Detect</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914400"/>
        </p:xfrm>
        <a:graphic>
          <a:graphicData uri="http://schemas.openxmlformats.org/drawingml/2006/table">
            <a:tbl>
              <a:tblPr/>
              <a:tblGrid>
                <a:gridCol w="2651760"/>
                <a:gridCol w="6309360"/>
                <a:gridCol w="2560320"/>
              </a:tblGrid>
              <a:tr h="411480">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Check</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What we do</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Flag it when</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r>
              <a:tr h="86868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A. Stability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Train the same model 10 times with different seeds and compare the explanation for the same patient (Spearman rank correlation, top-k Jaccard overlap)</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Jaccard is below 0.6</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B. Faithfulness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Get explanations from two methods (SHAP and Integrated Gradients) and see how much their top features overlap</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The two methods disagree strongly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r h="86868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C. Robustness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Change one input a little, for example heart rate by ±5 bpm, and see how much the explanation moves (cosine similarity, distance, change rate)</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Cosine similarity is below 0.8</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D. Temporal stability (LSTM)</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Check that the important time steps stay the same at 6 h, 8 h and 10 h before onset</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The important time window shifts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bl>
          </a:graphicData>
        </a:graphic>
      </p:graphicFrame>
      <p:sp>
        <p:nvSpPr>
          <p:cNvPr id="5" name="Text 1"/>
          <p:cNvSpPr txBox="1"/>
          <p:nvPr/>
        </p:nvSpPr>
        <p:spPr>
          <a:xfrm>
            <a:off x="329184" y="5303520"/>
            <a:ext cx="11530584" cy="365760"/>
          </a:xfrm>
          <a:prstGeom prst="rect">
            <a:avLst/>
          </a:prstGeom>
          <a:noFill/>
          <a:ln/>
        </p:spPr>
        <p:txBody>
          <a:bodyPr wrap="square" lIns="63500" tIns="63500" rIns="63500" bIns="63500" rtlCol="0" anchor="t"/>
          <a:lstStyle/>
          <a:p>
            <a:pPr indent="0" marL="0">
              <a:buNone/>
            </a:pPr>
            <a:r>
              <a:rPr lang="en-US" sz="1700" b="1" dirty="0">
                <a:solidFill>
                  <a:srgbClr val="0033CC"/>
                </a:solidFill>
                <a:latin typeface="Times New Roman" pitchFamily="34" charset="0"/>
                <a:ea typeface="Times New Roman" pitchFamily="34" charset="-122"/>
                <a:cs typeface="Times New Roman" pitchFamily="34" charset="-120"/>
              </a:rPr>
              <a:t>Independent failure labels (defined before we build the detector, so the test is fair)</a:t>
            </a:r>
            <a:endParaRPr lang="en-US" sz="1700" dirty="0"/>
          </a:p>
        </p:txBody>
      </p:sp>
      <p:sp>
        <p:nvSpPr>
          <p:cNvPr id="6" name="Text 2"/>
          <p:cNvSpPr/>
          <p:nvPr/>
        </p:nvSpPr>
        <p:spPr>
          <a:xfrm>
            <a:off x="329184" y="5760720"/>
            <a:ext cx="2743200" cy="548640"/>
          </a:xfrm>
          <a:prstGeom prst="roundRect">
            <a:avLst>
              <a:gd name="adj" fmla="val 16667"/>
            </a:avLst>
          </a:prstGeom>
          <a:solidFill>
            <a:srgbClr val="EEF3FC"/>
          </a:solidFill>
          <a:ln w="12700">
            <a:solidFill>
              <a:srgbClr val="B8C4E0"/>
            </a:solidFill>
          </a:ln>
        </p:spPr>
        <p:txBody>
          <a:bodyPr wrap="square"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Retraining instability</a:t>
            </a:r>
            <a:endParaRPr lang="en-US" sz="1500" dirty="0"/>
          </a:p>
        </p:txBody>
      </p:sp>
      <p:sp>
        <p:nvSpPr>
          <p:cNvPr id="7" name="Text 3"/>
          <p:cNvSpPr/>
          <p:nvPr/>
        </p:nvSpPr>
        <p:spPr>
          <a:xfrm>
            <a:off x="3255264" y="5760720"/>
            <a:ext cx="2743200" cy="548640"/>
          </a:xfrm>
          <a:prstGeom prst="roundRect">
            <a:avLst>
              <a:gd name="adj" fmla="val 16667"/>
            </a:avLst>
          </a:prstGeom>
          <a:solidFill>
            <a:srgbClr val="EEF3FC"/>
          </a:solidFill>
          <a:ln w="12700">
            <a:solidFill>
              <a:srgbClr val="B8C4E0"/>
            </a:solidFill>
          </a:ln>
        </p:spPr>
        <p:txBody>
          <a:bodyPr wrap="square"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Perturbation sensitivity</a:t>
            </a:r>
            <a:endParaRPr lang="en-US" sz="1500" dirty="0"/>
          </a:p>
        </p:txBody>
      </p:sp>
      <p:sp>
        <p:nvSpPr>
          <p:cNvPr id="8" name="Text 4"/>
          <p:cNvSpPr/>
          <p:nvPr/>
        </p:nvSpPr>
        <p:spPr>
          <a:xfrm>
            <a:off x="6181344" y="5760720"/>
            <a:ext cx="2743200" cy="548640"/>
          </a:xfrm>
          <a:prstGeom prst="roundRect">
            <a:avLst>
              <a:gd name="adj" fmla="val 16667"/>
            </a:avLst>
          </a:prstGeom>
          <a:solidFill>
            <a:srgbClr val="EEF3FC"/>
          </a:solidFill>
          <a:ln w="12700">
            <a:solidFill>
              <a:srgbClr val="B8C4E0"/>
            </a:solidFill>
          </a:ln>
        </p:spPr>
        <p:txBody>
          <a:bodyPr wrap="square"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Missingness sensitivity</a:t>
            </a:r>
            <a:endParaRPr lang="en-US" sz="1500" dirty="0"/>
          </a:p>
        </p:txBody>
      </p:sp>
      <p:sp>
        <p:nvSpPr>
          <p:cNvPr id="9" name="Text 5"/>
          <p:cNvSpPr/>
          <p:nvPr/>
        </p:nvSpPr>
        <p:spPr>
          <a:xfrm>
            <a:off x="9107424" y="5760720"/>
            <a:ext cx="2743200" cy="548640"/>
          </a:xfrm>
          <a:prstGeom prst="roundRect">
            <a:avLst>
              <a:gd name="adj" fmla="val 16667"/>
            </a:avLst>
          </a:prstGeom>
          <a:solidFill>
            <a:srgbClr val="EEF3FC"/>
          </a:solidFill>
          <a:ln w="12700">
            <a:solidFill>
              <a:srgbClr val="B8C4E0"/>
            </a:solidFill>
          </a:ln>
        </p:spPr>
        <p:txBody>
          <a:bodyPr wrap="square"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Explainer disagreement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Diagnose, Mitigate and Abstain</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914400"/>
        </p:xfrm>
        <a:graphic>
          <a:graphicData uri="http://schemas.openxmlformats.org/drawingml/2006/table">
            <a:tbl>
              <a:tblPr/>
              <a:tblGrid>
                <a:gridCol w="2926080"/>
                <a:gridCol w="4114800"/>
                <a:gridCol w="4480560"/>
              </a:tblGrid>
              <a:tr h="411480">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Failure mode</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Diagnosis</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Mitigation</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r>
              <a:tr h="50292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Feature correlation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Pairwise correlation among top-K features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Dependence-aware attribution (Latent SHAP)</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Missingness sensitivity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Compare imputed vs dropped explanations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Informative missingness modelling</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r h="50292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Model instability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Retraining variance</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Ensemble attribution across models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Perturbation sensitivity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Explanation change under small input changes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ReCalX-style calibration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r h="50292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Temporal instability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Important time window shifts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DeltaSHAP (explains changes between time steps)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bl>
          </a:graphicData>
        </a:graphic>
      </p:graphicFrame>
      <p:sp>
        <p:nvSpPr>
          <p:cNvPr id="5" name="Shape 1"/>
          <p:cNvSpPr/>
          <p:nvPr/>
        </p:nvSpPr>
        <p:spPr>
          <a:xfrm>
            <a:off x="329184" y="4983480"/>
            <a:ext cx="11530584" cy="1417320"/>
          </a:xfrm>
          <a:prstGeom prst="roundRect">
            <a:avLst>
              <a:gd name="adj" fmla="val 6452"/>
            </a:avLst>
          </a:prstGeom>
          <a:solidFill>
            <a:srgbClr val="FFF3F3"/>
          </a:solidFill>
          <a:ln w="15875">
            <a:solidFill>
              <a:srgbClr val="D40000"/>
            </a:solidFill>
            <a:prstDash val="solid"/>
          </a:ln>
        </p:spPr>
      </p:sp>
      <p:sp>
        <p:nvSpPr>
          <p:cNvPr id="6" name="Text 2"/>
          <p:cNvSpPr txBox="1"/>
          <p:nvPr/>
        </p:nvSpPr>
        <p:spPr>
          <a:xfrm>
            <a:off x="502920" y="5029200"/>
            <a:ext cx="11155680" cy="1325880"/>
          </a:xfrm>
          <a:prstGeom prst="rect">
            <a:avLst/>
          </a:prstGeom>
          <a:noFill/>
          <a:ln/>
        </p:spPr>
        <p:txBody>
          <a:bodyPr wrap="square" lIns="63500" tIns="63500" rIns="63500" bIns="63500" rtlCol="0" anchor="ctr"/>
          <a:lstStyle/>
          <a:p>
            <a:pPr indent="0" marL="0">
              <a:buNone/>
            </a:pPr>
            <a:r>
              <a:rPr lang="en-US" sz="2000" b="1" dirty="0">
                <a:solidFill>
                  <a:srgbClr val="D40000"/>
                </a:solidFill>
                <a:latin typeface="Times New Roman" pitchFamily="34" charset="0"/>
                <a:ea typeface="Times New Roman" pitchFamily="34" charset="-122"/>
                <a:cs typeface="Times New Roman" pitchFamily="34" charset="-120"/>
              </a:rPr>
              <a:t>Stage 4 – Abstain</a:t>
            </a:r>
            <a:endParaRPr lang="en-US" sz="1600" dirty="0"/>
          </a:p>
          <a:p>
            <a:pPr indent="0" marL="0">
              <a:buNone/>
            </a:pPr>
            <a:r>
              <a:rPr lang="en-US" sz="1700" dirty="0">
                <a:solidFill>
                  <a:srgbClr val="1A1A1A"/>
                </a:solidFill>
                <a:latin typeface="Times New Roman" pitchFamily="34" charset="0"/>
                <a:ea typeface="Times New Roman" pitchFamily="34" charset="-122"/>
                <a:cs typeface="Times New Roman" pitchFamily="34" charset="-120"/>
              </a:rPr>
              <a:t>If R(x) &lt; 0.5, show the risk score with a LOW-reliability warning instead of a feature ranking: “Top feature ranking is unstable across model retraining. Use clinical judgment.”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Applications / Use Cases</a:t>
            </a:r>
            <a:endParaRPr lang="en-US" sz="2400" dirty="0"/>
          </a:p>
        </p:txBody>
      </p:sp>
      <p:sp>
        <p:nvSpPr>
          <p:cNvPr id="4" name="Shape 1"/>
          <p:cNvSpPr/>
          <p:nvPr/>
        </p:nvSpPr>
        <p:spPr>
          <a:xfrm>
            <a:off x="329184" y="1783080"/>
            <a:ext cx="3721608" cy="2103120"/>
          </a:xfrm>
          <a:prstGeom prst="roundRect">
            <a:avLst>
              <a:gd name="adj" fmla="val 4348"/>
            </a:avLst>
          </a:prstGeom>
          <a:solidFill>
            <a:srgbClr val="FFFFFF"/>
          </a:solidFill>
          <a:ln w="15875">
            <a:solidFill>
              <a:srgbClr val="D40000"/>
            </a:solidFill>
            <a:prstDash val="solid"/>
          </a:ln>
        </p:spPr>
      </p:sp>
      <p:sp>
        <p:nvSpPr>
          <p:cNvPr id="5" name="Text 2"/>
          <p:cNvSpPr txBox="1"/>
          <p:nvPr/>
        </p:nvSpPr>
        <p:spPr>
          <a:xfrm>
            <a:off x="466344" y="1874520"/>
            <a:ext cx="3447288" cy="1920240"/>
          </a:xfrm>
          <a:prstGeom prst="rect">
            <a:avLst/>
          </a:prstGeom>
          <a:noFill/>
          <a:ln/>
        </p:spPr>
        <p:txBody>
          <a:bodyPr wrap="square" lIns="63500" tIns="63500" rIns="63500" bIns="63500" rtlCol="0" anchor="t"/>
          <a:lstStyle/>
          <a:p>
            <a:pPr indent="0" marL="0">
              <a:buNone/>
            </a:pPr>
            <a:r>
              <a:rPr lang="en-US" sz="1900" b="1" dirty="0">
                <a:solidFill>
                  <a:srgbClr val="D40000"/>
                </a:solidFill>
                <a:latin typeface="Times New Roman" pitchFamily="34" charset="0"/>
                <a:ea typeface="Times New Roman" pitchFamily="34" charset="-122"/>
                <a:cs typeface="Times New Roman" pitchFamily="34" charset="-120"/>
              </a:rPr>
              <a:t>1. ICU decision support</a:t>
            </a:r>
            <a:endParaRPr lang="en-US" sz="1600" dirty="0"/>
          </a:p>
          <a:p>
            <a:pPr indent="0" marL="0">
              <a:buNone/>
            </a:pPr>
            <a:r>
              <a:rPr lang="en-US" sz="1600" dirty="0">
                <a:solidFill>
                  <a:srgbClr val="1A1A1A"/>
                </a:solidFill>
                <a:latin typeface="Times New Roman" pitchFamily="34" charset="0"/>
                <a:ea typeface="Times New Roman" pitchFamily="34" charset="-122"/>
                <a:cs typeface="Times New Roman" pitchFamily="34" charset="-120"/>
              </a:rPr>
              <a:t>A reliability label sits beside every sepsis risk score, so doctors know when not to over-rely on feature attributions.</a:t>
            </a:r>
            <a:endParaRPr lang="en-US" sz="1600" dirty="0"/>
          </a:p>
        </p:txBody>
      </p:sp>
      <p:sp>
        <p:nvSpPr>
          <p:cNvPr id="6" name="Shape 3"/>
          <p:cNvSpPr/>
          <p:nvPr/>
        </p:nvSpPr>
        <p:spPr>
          <a:xfrm>
            <a:off x="4242816" y="1783080"/>
            <a:ext cx="3721608" cy="2103120"/>
          </a:xfrm>
          <a:prstGeom prst="roundRect">
            <a:avLst>
              <a:gd name="adj" fmla="val 4348"/>
            </a:avLst>
          </a:prstGeom>
          <a:solidFill>
            <a:srgbClr val="FFFFFF"/>
          </a:solidFill>
          <a:ln w="15875">
            <a:solidFill>
              <a:srgbClr val="E08A00"/>
            </a:solidFill>
            <a:prstDash val="solid"/>
          </a:ln>
        </p:spPr>
      </p:sp>
      <p:sp>
        <p:nvSpPr>
          <p:cNvPr id="7" name="Text 4"/>
          <p:cNvSpPr txBox="1"/>
          <p:nvPr/>
        </p:nvSpPr>
        <p:spPr>
          <a:xfrm>
            <a:off x="4379976" y="1874520"/>
            <a:ext cx="3447288" cy="1920240"/>
          </a:xfrm>
          <a:prstGeom prst="rect">
            <a:avLst/>
          </a:prstGeom>
          <a:noFill/>
          <a:ln/>
        </p:spPr>
        <p:txBody>
          <a:bodyPr wrap="square" lIns="63500" tIns="63500" rIns="63500" bIns="63500" rtlCol="0" anchor="t"/>
          <a:lstStyle/>
          <a:p>
            <a:pPr indent="0" marL="0">
              <a:buNone/>
            </a:pPr>
            <a:r>
              <a:rPr lang="en-US" sz="1900" b="1" dirty="0">
                <a:solidFill>
                  <a:srgbClr val="E08A00"/>
                </a:solidFill>
                <a:latin typeface="Times New Roman" pitchFamily="34" charset="0"/>
                <a:ea typeface="Times New Roman" pitchFamily="34" charset="-122"/>
                <a:cs typeface="Times New Roman" pitchFamily="34" charset="-120"/>
              </a:rPr>
              <a:t>2. Model auditing</a:t>
            </a:r>
            <a:endParaRPr lang="en-US" sz="1600" dirty="0"/>
          </a:p>
          <a:p>
            <a:pPr indent="0" marL="0">
              <a:buNone/>
            </a:pPr>
            <a:r>
              <a:rPr lang="en-US" sz="1600" dirty="0">
                <a:solidFill>
                  <a:srgbClr val="1A1A1A"/>
                </a:solidFill>
                <a:latin typeface="Times New Roman" pitchFamily="34" charset="0"/>
                <a:ea typeface="Times New Roman" pitchFamily="34" charset="-122"/>
                <a:cs typeface="Times New Roman" pitchFamily="34" charset="-120"/>
              </a:rPr>
              <a:t>AI governance teams audit deployed sepsis models regularly and catch explanation drift over time.</a:t>
            </a:r>
            <a:endParaRPr lang="en-US" sz="1600" dirty="0"/>
          </a:p>
        </p:txBody>
      </p:sp>
      <p:sp>
        <p:nvSpPr>
          <p:cNvPr id="8" name="Shape 5"/>
          <p:cNvSpPr/>
          <p:nvPr/>
        </p:nvSpPr>
        <p:spPr>
          <a:xfrm>
            <a:off x="8147304" y="1783080"/>
            <a:ext cx="3721608" cy="2103120"/>
          </a:xfrm>
          <a:prstGeom prst="roundRect">
            <a:avLst>
              <a:gd name="adj" fmla="val 4348"/>
            </a:avLst>
          </a:prstGeom>
          <a:solidFill>
            <a:srgbClr val="FFFFFF"/>
          </a:solidFill>
          <a:ln w="15875">
            <a:solidFill>
              <a:srgbClr val="0033CC"/>
            </a:solidFill>
            <a:prstDash val="solid"/>
          </a:ln>
        </p:spPr>
      </p:sp>
      <p:sp>
        <p:nvSpPr>
          <p:cNvPr id="9" name="Text 6"/>
          <p:cNvSpPr txBox="1"/>
          <p:nvPr/>
        </p:nvSpPr>
        <p:spPr>
          <a:xfrm>
            <a:off x="8284464" y="1874520"/>
            <a:ext cx="3447288" cy="1920240"/>
          </a:xfrm>
          <a:prstGeom prst="rect">
            <a:avLst/>
          </a:prstGeom>
          <a:noFill/>
          <a:ln/>
        </p:spPr>
        <p:txBody>
          <a:bodyPr wrap="square" lIns="63500" tIns="63500" rIns="63500" bIns="63500" rtlCol="0" anchor="t"/>
          <a:lstStyle/>
          <a:p>
            <a:pPr indent="0" marL="0">
              <a:buNone/>
            </a:pPr>
            <a:r>
              <a:rPr lang="en-US" sz="1900" b="1" dirty="0">
                <a:solidFill>
                  <a:srgbClr val="0033CC"/>
                </a:solidFill>
                <a:latin typeface="Times New Roman" pitchFamily="34" charset="0"/>
                <a:ea typeface="Times New Roman" pitchFamily="34" charset="-122"/>
                <a:cs typeface="Times New Roman" pitchFamily="34" charset="-120"/>
              </a:rPr>
              <a:t>3. XAI method comparison</a:t>
            </a:r>
            <a:endParaRPr lang="en-US" sz="1600" dirty="0"/>
          </a:p>
          <a:p>
            <a:pPr indent="0" marL="0">
              <a:buNone/>
            </a:pPr>
            <a:r>
              <a:rPr lang="en-US" sz="1600" dirty="0">
                <a:solidFill>
                  <a:srgbClr val="1A1A1A"/>
                </a:solidFill>
                <a:latin typeface="Times New Roman" pitchFamily="34" charset="0"/>
                <a:ea typeface="Times New Roman" pitchFamily="34" charset="-122"/>
                <a:cs typeface="Times New Roman" pitchFamily="34" charset="-120"/>
              </a:rPr>
              <a:t>Researchers evaluate how reliable different explanation methods are on clinical time-series data.</a:t>
            </a:r>
            <a:endParaRPr lang="en-US" sz="1600" dirty="0"/>
          </a:p>
        </p:txBody>
      </p:sp>
      <p:sp>
        <p:nvSpPr>
          <p:cNvPr id="10" name="Shape 7"/>
          <p:cNvSpPr/>
          <p:nvPr/>
        </p:nvSpPr>
        <p:spPr>
          <a:xfrm>
            <a:off x="329184" y="4114800"/>
            <a:ext cx="5715000" cy="2103120"/>
          </a:xfrm>
          <a:prstGeom prst="roundRect">
            <a:avLst>
              <a:gd name="adj" fmla="val 4348"/>
            </a:avLst>
          </a:prstGeom>
          <a:solidFill>
            <a:srgbClr val="FFFFFF"/>
          </a:solidFill>
          <a:ln w="15875">
            <a:solidFill>
              <a:srgbClr val="128C8C"/>
            </a:solidFill>
            <a:prstDash val="solid"/>
          </a:ln>
        </p:spPr>
      </p:sp>
      <p:sp>
        <p:nvSpPr>
          <p:cNvPr id="11" name="Text 8"/>
          <p:cNvSpPr txBox="1"/>
          <p:nvPr/>
        </p:nvSpPr>
        <p:spPr>
          <a:xfrm>
            <a:off x="466344" y="4206240"/>
            <a:ext cx="5440680" cy="1920240"/>
          </a:xfrm>
          <a:prstGeom prst="rect">
            <a:avLst/>
          </a:prstGeom>
          <a:noFill/>
          <a:ln/>
        </p:spPr>
        <p:txBody>
          <a:bodyPr wrap="square" lIns="63500" tIns="63500" rIns="63500" bIns="63500" rtlCol="0" anchor="t"/>
          <a:lstStyle/>
          <a:p>
            <a:pPr indent="0" marL="0">
              <a:buNone/>
            </a:pPr>
            <a:r>
              <a:rPr lang="en-US" sz="1900" b="1" dirty="0">
                <a:solidFill>
                  <a:srgbClr val="128C8C"/>
                </a:solidFill>
                <a:latin typeface="Times New Roman" pitchFamily="34" charset="0"/>
                <a:ea typeface="Times New Roman" pitchFamily="34" charset="-122"/>
                <a:cs typeface="Times New Roman" pitchFamily="34" charset="-120"/>
              </a:rPr>
              <a:t>4. Regulatory support</a:t>
            </a:r>
            <a:endParaRPr lang="en-US" sz="1600" dirty="0"/>
          </a:p>
          <a:p>
            <a:pPr indent="0" marL="0">
              <a:buNone/>
            </a:pPr>
            <a:r>
              <a:rPr lang="en-US" sz="1600" dirty="0">
                <a:solidFill>
                  <a:srgbClr val="1A1A1A"/>
                </a:solidFill>
                <a:latin typeface="Times New Roman" pitchFamily="34" charset="0"/>
                <a:ea typeface="Times New Roman" pitchFamily="34" charset="-122"/>
                <a:cs typeface="Times New Roman" pitchFamily="34" charset="-120"/>
              </a:rPr>
              <a:t>Quantitative reliability evidence for explainability requirements in AI medical-device submissions.</a:t>
            </a:r>
            <a:endParaRPr lang="en-US" sz="1600" dirty="0"/>
          </a:p>
        </p:txBody>
      </p:sp>
      <p:sp>
        <p:nvSpPr>
          <p:cNvPr id="12" name="Shape 9"/>
          <p:cNvSpPr/>
          <p:nvPr/>
        </p:nvSpPr>
        <p:spPr>
          <a:xfrm>
            <a:off x="6144768" y="4114800"/>
            <a:ext cx="5715000" cy="2103120"/>
          </a:xfrm>
          <a:prstGeom prst="roundRect">
            <a:avLst>
              <a:gd name="adj" fmla="val 4348"/>
            </a:avLst>
          </a:prstGeom>
          <a:solidFill>
            <a:srgbClr val="FFFFFF"/>
          </a:solidFill>
          <a:ln w="15875">
            <a:solidFill>
              <a:srgbClr val="2E8B57"/>
            </a:solidFill>
            <a:prstDash val="solid"/>
          </a:ln>
        </p:spPr>
      </p:sp>
      <p:sp>
        <p:nvSpPr>
          <p:cNvPr id="13" name="Text 10"/>
          <p:cNvSpPr txBox="1"/>
          <p:nvPr/>
        </p:nvSpPr>
        <p:spPr>
          <a:xfrm>
            <a:off x="6281928" y="4206240"/>
            <a:ext cx="5440680" cy="1920240"/>
          </a:xfrm>
          <a:prstGeom prst="rect">
            <a:avLst/>
          </a:prstGeom>
          <a:noFill/>
          <a:ln/>
        </p:spPr>
        <p:txBody>
          <a:bodyPr wrap="square" lIns="63500" tIns="63500" rIns="63500" bIns="63500" rtlCol="0" anchor="t"/>
          <a:lstStyle/>
          <a:p>
            <a:pPr indent="0" marL="0">
              <a:buNone/>
            </a:pPr>
            <a:r>
              <a:rPr lang="en-US" sz="1900" b="1" dirty="0">
                <a:solidFill>
                  <a:srgbClr val="2E8B57"/>
                </a:solidFill>
                <a:latin typeface="Times New Roman" pitchFamily="34" charset="0"/>
                <a:ea typeface="Times New Roman" pitchFamily="34" charset="-122"/>
                <a:cs typeface="Times New Roman" pitchFamily="34" charset="-120"/>
              </a:rPr>
              <a:t>5. Reusable pattern</a:t>
            </a:r>
            <a:endParaRPr lang="en-US" sz="1600" dirty="0"/>
          </a:p>
          <a:p>
            <a:pPr indent="0" marL="0">
              <a:buNone/>
            </a:pPr>
            <a:r>
              <a:rPr lang="en-US" sz="1600" dirty="0">
                <a:solidFill>
                  <a:srgbClr val="1A1A1A"/>
                </a:solidFill>
                <a:latin typeface="Times New Roman" pitchFamily="34" charset="0"/>
                <a:ea typeface="Times New Roman" pitchFamily="34" charset="-122"/>
                <a:cs typeface="Times New Roman" pitchFamily="34" charset="-120"/>
              </a:rPr>
              <a:t>Detect, diagnose, mitigate, abstain applies to any clinical prediction task with correlated features and missing data.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Expected Deliverables</a:t>
            </a:r>
            <a:endParaRPr lang="en-US" sz="2400" dirty="0"/>
          </a:p>
        </p:txBody>
      </p:sp>
      <p:sp>
        <p:nvSpPr>
          <p:cNvPr id="4" name="Text 1"/>
          <p:cNvSpPr txBox="1"/>
          <p:nvPr/>
        </p:nvSpPr>
        <p:spPr>
          <a:xfrm>
            <a:off x="822960" y="1783080"/>
            <a:ext cx="9144000" cy="457200"/>
          </a:xfrm>
          <a:prstGeom prst="rect">
            <a:avLst/>
          </a:prstGeom>
          <a:noFill/>
          <a:ln/>
        </p:spPr>
        <p:txBody>
          <a:bodyPr wrap="square" lIns="63500" tIns="63500" rIns="63500" bIns="63500" rtlCol="0" anchor="t"/>
          <a:lstStyle/>
          <a:p>
            <a:pPr indent="0" marL="0">
              <a:buNone/>
            </a:pPr>
            <a:r>
              <a:rPr lang="en-US" sz="2400" b="1" u="sng" dirty="0">
                <a:solidFill>
                  <a:srgbClr val="1A1A1A"/>
                </a:solidFill>
                <a:latin typeface="Times New Roman" pitchFamily="34" charset="0"/>
                <a:ea typeface="Times New Roman" pitchFamily="34" charset="-122"/>
                <a:cs typeface="Times New Roman" pitchFamily="34" charset="-120"/>
              </a:rPr>
              <a:t>Capstone-I Deliverables</a:t>
            </a:r>
            <a:endParaRPr lang="en-US" sz="2400" dirty="0"/>
          </a:p>
        </p:txBody>
      </p:sp>
      <p:sp>
        <p:nvSpPr>
          <p:cNvPr id="5" name="Text 2"/>
          <p:cNvSpPr txBox="1"/>
          <p:nvPr/>
        </p:nvSpPr>
        <p:spPr>
          <a:xfrm>
            <a:off x="822960" y="2331720"/>
            <a:ext cx="9144000" cy="365760"/>
          </a:xfrm>
          <a:prstGeom prst="rect">
            <a:avLst/>
          </a:prstGeom>
          <a:noFill/>
          <a:ln/>
        </p:spPr>
        <p:txBody>
          <a:bodyPr wrap="square" lIns="63500" tIns="63500" rIns="63500" bIns="63500" rtlCol="0" anchor="t"/>
          <a:lstStyle/>
          <a:p>
            <a:pPr indent="0" marL="0">
              <a:buNone/>
            </a:pPr>
            <a:r>
              <a:rPr lang="en-US" sz="1900" b="1" dirty="0">
                <a:solidFill>
                  <a:srgbClr val="1A1A1A"/>
                </a:solidFill>
                <a:latin typeface="Times New Roman" pitchFamily="34" charset="0"/>
                <a:ea typeface="Times New Roman" pitchFamily="34" charset="-122"/>
                <a:cs typeface="Times New Roman" pitchFamily="34" charset="-120"/>
              </a:rPr>
              <a:t>Research &amp; Model Foundation</a:t>
            </a:r>
            <a:endParaRPr lang="en-US" sz="1900" dirty="0"/>
          </a:p>
        </p:txBody>
      </p:sp>
      <p:sp>
        <p:nvSpPr>
          <p:cNvPr id="6" name="Text 3"/>
          <p:cNvSpPr txBox="1"/>
          <p:nvPr/>
        </p:nvSpPr>
        <p:spPr>
          <a:xfrm>
            <a:off x="822960" y="2743200"/>
            <a:ext cx="10607040" cy="2743200"/>
          </a:xfrm>
          <a:prstGeom prst="rect">
            <a:avLst/>
          </a:prstGeom>
          <a:noFill/>
          <a:ln/>
        </p:spPr>
        <p:txBody>
          <a:bodyPr wrap="square" lIns="63500" tIns="63500" rIns="63500" bIns="63500" rtlCol="0" anchor="t"/>
          <a:lstStyle/>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Literature &amp; Domain Study</a:t>
            </a:r>
            <a:pPr indent="0" marL="0">
              <a:buNone/>
            </a:pPr>
            <a:r>
              <a:rPr lang="en-US" sz="1800" dirty="0">
                <a:solidFill>
                  <a:srgbClr val="1A1A1A"/>
                </a:solidFill>
                <a:latin typeface="Times New Roman" pitchFamily="34" charset="0"/>
                <a:ea typeface="Times New Roman" pitchFamily="34" charset="-122"/>
                <a:cs typeface="Times New Roman" pitchFamily="34" charset="-120"/>
              </a:rPr>
              <a:t>: Review sepsis prediction, ensemble and deep-learning models, SHAP failure theory and reliability methods.</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Dataset Preparation</a:t>
            </a:r>
            <a:pPr indent="0" marL="0">
              <a:buNone/>
            </a:pPr>
            <a:r>
              <a:rPr lang="en-US" sz="1800" dirty="0">
                <a:solidFill>
                  <a:srgbClr val="1A1A1A"/>
                </a:solidFill>
                <a:latin typeface="Times New Roman" pitchFamily="34" charset="0"/>
                <a:ea typeface="Times New Roman" pitchFamily="34" charset="-122"/>
                <a:cs typeface="Times New Roman" pitchFamily="34" charset="-120"/>
              </a:rPr>
              <a:t>: Prepare PhysioNet/CinC 2019 with patient-level splits and training-only preprocessing; exploratory analysis.</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Prediction Baselines</a:t>
            </a:r>
            <a:pPr indent="0" marL="0">
              <a:buNone/>
            </a:pPr>
            <a:r>
              <a:rPr lang="en-US" sz="1800" dirty="0">
                <a:solidFill>
                  <a:srgbClr val="1A1A1A"/>
                </a:solidFill>
                <a:latin typeface="Times New Roman" pitchFamily="34" charset="0"/>
                <a:ea typeface="Times New Roman" pitchFamily="34" charset="-122"/>
                <a:cs typeface="Times New Roman" pitchFamily="34" charset="-120"/>
              </a:rPr>
              <a:t>: Build XGBoost, Random Forest and LSTM baselines under one evaluation protocol.</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Explanation Pipeline</a:t>
            </a:r>
            <a:pPr indent="0" marL="0">
              <a:buNone/>
            </a:pPr>
            <a:r>
              <a:rPr lang="en-US" sz="1800" dirty="0">
                <a:solidFill>
                  <a:srgbClr val="1A1A1A"/>
                </a:solidFill>
                <a:latin typeface="Times New Roman" pitchFamily="34" charset="0"/>
                <a:ea typeface="Times New Roman" pitchFamily="34" charset="-122"/>
                <a:cs typeface="Times New Roman" pitchFamily="34" charset="-120"/>
              </a:rPr>
              <a:t>: Generate TreeSHAP, Kernel SHAP and Integrated Gradients explanations.</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Feasibility &amp; Evaluation Plan</a:t>
            </a:r>
            <a:pPr indent="0" marL="0">
              <a:buNone/>
            </a:pPr>
            <a:r>
              <a:rPr lang="en-US" sz="1800" dirty="0">
                <a:solidFill>
                  <a:srgbClr val="1A1A1A"/>
                </a:solidFill>
                <a:latin typeface="Times New Roman" pitchFamily="34" charset="0"/>
                <a:ea typeface="Times New Roman" pitchFamily="34" charset="-122"/>
                <a:cs typeface="Times New Roman" pitchFamily="34" charset="-120"/>
              </a:rPr>
              <a:t>: Define the novelty matrix, feasibility study and evaluation plan.</a:t>
            </a:r>
            <a:endParaRPr lang="en-US" sz="1800" dirty="0"/>
          </a:p>
        </p:txBody>
      </p:sp>
      <p:sp>
        <p:nvSpPr>
          <p:cNvPr id="7" name="Text 4"/>
          <p:cNvSpPr txBox="1"/>
          <p:nvPr/>
        </p:nvSpPr>
        <p:spPr>
          <a:xfrm>
            <a:off x="822960" y="5623560"/>
            <a:ext cx="10607040" cy="822960"/>
          </a:xfrm>
          <a:prstGeom prst="rect">
            <a:avLst/>
          </a:prstGeom>
          <a:noFill/>
          <a:ln/>
        </p:spPr>
        <p:txBody>
          <a:bodyPr wrap="square" lIns="63500" tIns="63500" rIns="63500" bIns="63500" rtlCol="0" anchor="t"/>
          <a:lstStyle/>
          <a:p>
            <a:pPr indent="0" marL="0">
              <a:buNone/>
            </a:pPr>
            <a:r>
              <a:rPr lang="en-US" sz="1800" b="1" dirty="0">
                <a:solidFill>
                  <a:srgbClr val="1A1A1A"/>
                </a:solidFill>
                <a:latin typeface="Times New Roman" pitchFamily="34" charset="0"/>
                <a:ea typeface="Times New Roman" pitchFamily="34" charset="-122"/>
                <a:cs typeface="Times New Roman" pitchFamily="34" charset="-120"/>
              </a:rPr>
              <a:t>Phase-I Outcome: </a:t>
            </a:r>
            <a:pPr indent="0" marL="0">
              <a:buNone/>
            </a:pPr>
            <a:r>
              <a:rPr lang="en-US" sz="1800" dirty="0">
                <a:solidFill>
                  <a:srgbClr val="1A1A1A"/>
                </a:solidFill>
                <a:latin typeface="Times New Roman" pitchFamily="34" charset="0"/>
                <a:ea typeface="Times New Roman" pitchFamily="34" charset="-122"/>
                <a:cs typeface="Times New Roman" pitchFamily="34" charset="-120"/>
              </a:rPr>
              <a:t>fair baselines, a working explanation pipeline and a clear evaluation plan.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Expected Deliverables</a:t>
            </a:r>
            <a:endParaRPr lang="en-US" sz="2400" dirty="0"/>
          </a:p>
        </p:txBody>
      </p:sp>
      <p:sp>
        <p:nvSpPr>
          <p:cNvPr id="4" name="Text 1"/>
          <p:cNvSpPr txBox="1"/>
          <p:nvPr/>
        </p:nvSpPr>
        <p:spPr>
          <a:xfrm>
            <a:off x="822960" y="1783080"/>
            <a:ext cx="9144000" cy="457200"/>
          </a:xfrm>
          <a:prstGeom prst="rect">
            <a:avLst/>
          </a:prstGeom>
          <a:noFill/>
          <a:ln/>
        </p:spPr>
        <p:txBody>
          <a:bodyPr wrap="square" lIns="63500" tIns="63500" rIns="63500" bIns="63500" rtlCol="0" anchor="t"/>
          <a:lstStyle/>
          <a:p>
            <a:pPr indent="0" marL="0">
              <a:buNone/>
            </a:pPr>
            <a:r>
              <a:rPr lang="en-US" sz="2400" b="1" u="sng" dirty="0">
                <a:solidFill>
                  <a:srgbClr val="1A1A1A"/>
                </a:solidFill>
                <a:latin typeface="Times New Roman" pitchFamily="34" charset="0"/>
                <a:ea typeface="Times New Roman" pitchFamily="34" charset="-122"/>
                <a:cs typeface="Times New Roman" pitchFamily="34" charset="-120"/>
              </a:rPr>
              <a:t>Capstone-II Deliverables</a:t>
            </a:r>
            <a:endParaRPr lang="en-US" sz="2400" dirty="0"/>
          </a:p>
        </p:txBody>
      </p:sp>
      <p:sp>
        <p:nvSpPr>
          <p:cNvPr id="5" name="Text 2"/>
          <p:cNvSpPr txBox="1"/>
          <p:nvPr/>
        </p:nvSpPr>
        <p:spPr>
          <a:xfrm>
            <a:off x="822960" y="2331720"/>
            <a:ext cx="9144000" cy="365760"/>
          </a:xfrm>
          <a:prstGeom prst="rect">
            <a:avLst/>
          </a:prstGeom>
          <a:noFill/>
          <a:ln/>
        </p:spPr>
        <p:txBody>
          <a:bodyPr wrap="square" lIns="63500" tIns="63500" rIns="63500" bIns="63500" rtlCol="0" anchor="t"/>
          <a:lstStyle/>
          <a:p>
            <a:pPr indent="0" marL="0">
              <a:buNone/>
            </a:pPr>
            <a:r>
              <a:rPr lang="en-US" sz="1900" b="1" dirty="0">
                <a:solidFill>
                  <a:srgbClr val="1A1A1A"/>
                </a:solidFill>
                <a:latin typeface="Times New Roman" pitchFamily="34" charset="0"/>
                <a:ea typeface="Times New Roman" pitchFamily="34" charset="-122"/>
                <a:cs typeface="Times New Roman" pitchFamily="34" charset="-120"/>
              </a:rPr>
              <a:t>Reliability and Detection</a:t>
            </a:r>
            <a:endParaRPr lang="en-US" sz="1900" dirty="0"/>
          </a:p>
        </p:txBody>
      </p:sp>
      <p:sp>
        <p:nvSpPr>
          <p:cNvPr id="6" name="Text 3"/>
          <p:cNvSpPr txBox="1"/>
          <p:nvPr/>
        </p:nvSpPr>
        <p:spPr>
          <a:xfrm>
            <a:off x="822960" y="2743200"/>
            <a:ext cx="10607040" cy="2743200"/>
          </a:xfrm>
          <a:prstGeom prst="rect">
            <a:avLst/>
          </a:prstGeom>
          <a:noFill/>
          <a:ln/>
        </p:spPr>
        <p:txBody>
          <a:bodyPr wrap="square" lIns="63500" tIns="63500" rIns="63500" bIns="63500" rtlCol="0" anchor="t"/>
          <a:lstStyle/>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Reliability Metrics</a:t>
            </a:r>
            <a:pPr indent="0" marL="0">
              <a:buNone/>
            </a:pPr>
            <a:r>
              <a:rPr lang="en-US" sz="1800" dirty="0">
                <a:solidFill>
                  <a:srgbClr val="1A1A1A"/>
                </a:solidFill>
                <a:latin typeface="Times New Roman" pitchFamily="34" charset="0"/>
                <a:ea typeface="Times New Roman" pitchFamily="34" charset="-122"/>
                <a:cs typeface="Times New Roman" pitchFamily="34" charset="-120"/>
              </a:rPr>
              <a:t>: Implement stability, faithfulness and robustness metrics.</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Failure Labels</a:t>
            </a:r>
            <a:pPr indent="0" marL="0">
              <a:buNone/>
            </a:pPr>
            <a:r>
              <a:rPr lang="en-US" sz="1800" dirty="0">
                <a:solidFill>
                  <a:srgbClr val="1A1A1A"/>
                </a:solidFill>
                <a:latin typeface="Times New Roman" pitchFamily="34" charset="0"/>
                <a:ea typeface="Times New Roman" pitchFamily="34" charset="-122"/>
                <a:cs typeface="Times New Roman" pitchFamily="34" charset="-120"/>
              </a:rPr>
              <a:t>: Define and generate independent failure labels before building the detector.</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Detector Construction</a:t>
            </a:r>
            <a:pPr indent="0" marL="0">
              <a:buNone/>
            </a:pPr>
            <a:r>
              <a:rPr lang="en-US" sz="1800" dirty="0">
                <a:solidFill>
                  <a:srgbClr val="1A1A1A"/>
                </a:solidFill>
                <a:latin typeface="Times New Roman" pitchFamily="34" charset="0"/>
                <a:ea typeface="Times New Roman" pitchFamily="34" charset="-122"/>
                <a:cs typeface="Times New Roman" pitchFamily="34" charset="-120"/>
              </a:rPr>
              <a:t>: Build and evaluate a detector for unreliable explanations.</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Diagnosis &amp; Mitigation</a:t>
            </a:r>
            <a:pPr indent="0" marL="0">
              <a:buNone/>
            </a:pPr>
            <a:r>
              <a:rPr lang="en-US" sz="1800" dirty="0">
                <a:solidFill>
                  <a:srgbClr val="1A1A1A"/>
                </a:solidFill>
                <a:latin typeface="Times New Roman" pitchFamily="34" charset="0"/>
                <a:ea typeface="Times New Roman" pitchFamily="34" charset="-122"/>
                <a:cs typeface="Times New Roman" pitchFamily="34" charset="-120"/>
              </a:rPr>
              <a:t>: Identify the failure mode and apply a targeted fix.</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Low-Level Design (LLD)</a:t>
            </a:r>
            <a:pPr indent="0" marL="0">
              <a:buNone/>
            </a:pPr>
            <a:r>
              <a:rPr lang="en-US" sz="1800" dirty="0">
                <a:solidFill>
                  <a:srgbClr val="1A1A1A"/>
                </a:solidFill>
                <a:latin typeface="Times New Roman" pitchFamily="34" charset="0"/>
                <a:ea typeface="Times New Roman" pitchFamily="34" charset="-122"/>
                <a:cs typeface="Times New Roman" pitchFamily="34" charset="-120"/>
              </a:rPr>
              <a:t>: Detailed design of all modules and their interfaces.</a:t>
            </a:r>
            <a:endParaRPr lang="en-US" sz="1800" dirty="0"/>
          </a:p>
        </p:txBody>
      </p:sp>
      <p:sp>
        <p:nvSpPr>
          <p:cNvPr id="7" name="Text 4"/>
          <p:cNvSpPr txBox="1"/>
          <p:nvPr/>
        </p:nvSpPr>
        <p:spPr>
          <a:xfrm>
            <a:off x="822960" y="5623560"/>
            <a:ext cx="10607040" cy="822960"/>
          </a:xfrm>
          <a:prstGeom prst="rect">
            <a:avLst/>
          </a:prstGeom>
          <a:noFill/>
          <a:ln/>
        </p:spPr>
        <p:txBody>
          <a:bodyPr wrap="square" lIns="63500" tIns="63500" rIns="63500" bIns="63500" rtlCol="0" anchor="t"/>
          <a:lstStyle/>
          <a:p>
            <a:pPr indent="0" marL="0">
              <a:buNone/>
            </a:pPr>
            <a:r>
              <a:rPr lang="en-US" sz="1800" b="1" dirty="0">
                <a:solidFill>
                  <a:srgbClr val="1A1A1A"/>
                </a:solidFill>
                <a:latin typeface="Times New Roman" pitchFamily="34" charset="0"/>
                <a:ea typeface="Times New Roman" pitchFamily="34" charset="-122"/>
                <a:cs typeface="Times New Roman" pitchFamily="34" charset="-120"/>
              </a:rPr>
              <a:t>Phase-II Outcome: </a:t>
            </a:r>
            <a:pPr indent="0" marL="0">
              <a:buNone/>
            </a:pPr>
            <a:r>
              <a:rPr lang="en-US" sz="1800" dirty="0">
                <a:solidFill>
                  <a:srgbClr val="1A1A1A"/>
                </a:solidFill>
                <a:latin typeface="Times New Roman" pitchFamily="34" charset="0"/>
                <a:ea typeface="Times New Roman" pitchFamily="34" charset="-122"/>
                <a:cs typeface="Times New Roman" pitchFamily="34" charset="-120"/>
              </a:rPr>
              <a:t>a working reliability detector with diagnosis and mitigation designed.</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Expected Deliverables</a:t>
            </a:r>
            <a:endParaRPr lang="en-US" sz="2400" dirty="0"/>
          </a:p>
        </p:txBody>
      </p:sp>
      <p:sp>
        <p:nvSpPr>
          <p:cNvPr id="4" name="Text 1"/>
          <p:cNvSpPr txBox="1"/>
          <p:nvPr/>
        </p:nvSpPr>
        <p:spPr>
          <a:xfrm>
            <a:off x="822960" y="1783080"/>
            <a:ext cx="9144000" cy="457200"/>
          </a:xfrm>
          <a:prstGeom prst="rect">
            <a:avLst/>
          </a:prstGeom>
          <a:noFill/>
          <a:ln/>
        </p:spPr>
        <p:txBody>
          <a:bodyPr wrap="square" lIns="63500" tIns="63500" rIns="63500" bIns="63500" rtlCol="0" anchor="t"/>
          <a:lstStyle/>
          <a:p>
            <a:pPr indent="0" marL="0">
              <a:buNone/>
            </a:pPr>
            <a:r>
              <a:rPr lang="en-US" sz="2400" b="1" u="sng" dirty="0">
                <a:solidFill>
                  <a:srgbClr val="1A1A1A"/>
                </a:solidFill>
                <a:latin typeface="Times New Roman" pitchFamily="34" charset="0"/>
                <a:ea typeface="Times New Roman" pitchFamily="34" charset="-122"/>
                <a:cs typeface="Times New Roman" pitchFamily="34" charset="-120"/>
              </a:rPr>
              <a:t>Capstone-III Deliverables</a:t>
            </a:r>
            <a:endParaRPr lang="en-US" sz="2400" dirty="0"/>
          </a:p>
        </p:txBody>
      </p:sp>
      <p:sp>
        <p:nvSpPr>
          <p:cNvPr id="5" name="Text 2"/>
          <p:cNvSpPr txBox="1"/>
          <p:nvPr/>
        </p:nvSpPr>
        <p:spPr>
          <a:xfrm>
            <a:off x="822960" y="2331720"/>
            <a:ext cx="9144000" cy="365760"/>
          </a:xfrm>
          <a:prstGeom prst="rect">
            <a:avLst/>
          </a:prstGeom>
          <a:noFill/>
          <a:ln/>
        </p:spPr>
        <p:txBody>
          <a:bodyPr wrap="square" lIns="63500" tIns="63500" rIns="63500" bIns="63500" rtlCol="0" anchor="t"/>
          <a:lstStyle/>
          <a:p>
            <a:pPr indent="0" marL="0">
              <a:buNone/>
            </a:pPr>
            <a:r>
              <a:rPr lang="en-US" sz="1900" b="1" dirty="0">
                <a:solidFill>
                  <a:srgbClr val="1A1A1A"/>
                </a:solidFill>
                <a:latin typeface="Times New Roman" pitchFamily="34" charset="0"/>
                <a:ea typeface="Times New Roman" pitchFamily="34" charset="-122"/>
                <a:cs typeface="Times New Roman" pitchFamily="34" charset="-120"/>
              </a:rPr>
              <a:t>Integration and Evaluation</a:t>
            </a:r>
            <a:endParaRPr lang="en-US" sz="1900" dirty="0"/>
          </a:p>
        </p:txBody>
      </p:sp>
      <p:sp>
        <p:nvSpPr>
          <p:cNvPr id="6" name="Text 3"/>
          <p:cNvSpPr txBox="1"/>
          <p:nvPr/>
        </p:nvSpPr>
        <p:spPr>
          <a:xfrm>
            <a:off x="822960" y="2743200"/>
            <a:ext cx="10607040" cy="2743200"/>
          </a:xfrm>
          <a:prstGeom prst="rect">
            <a:avLst/>
          </a:prstGeom>
          <a:noFill/>
          <a:ln/>
        </p:spPr>
        <p:txBody>
          <a:bodyPr wrap="square" lIns="63500" tIns="63500" rIns="63500" bIns="63500" rtlCol="0" anchor="t"/>
          <a:lstStyle/>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Implementation &amp; Experiments</a:t>
            </a:r>
            <a:pPr indent="0" marL="0">
              <a:buNone/>
            </a:pPr>
            <a:r>
              <a:rPr lang="en-US" sz="1800" dirty="0">
                <a:solidFill>
                  <a:srgbClr val="1A1A1A"/>
                </a:solidFill>
                <a:latin typeface="Times New Roman" pitchFamily="34" charset="0"/>
                <a:ea typeface="Times New Roman" pitchFamily="34" charset="-122"/>
                <a:cs typeface="Times New Roman" pitchFamily="34" charset="-120"/>
              </a:rPr>
              <a:t>: Complete the comparison and reliability framework, including abstention.</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Full Evaluation &amp; Ablations</a:t>
            </a:r>
            <a:pPr indent="0" marL="0">
              <a:buNone/>
            </a:pPr>
            <a:r>
              <a:rPr lang="en-US" sz="1800" dirty="0">
                <a:solidFill>
                  <a:srgbClr val="1A1A1A"/>
                </a:solidFill>
                <a:latin typeface="Times New Roman" pitchFamily="34" charset="0"/>
                <a:ea typeface="Times New Roman" pitchFamily="34" charset="-122"/>
                <a:cs typeface="Times New Roman" pitchFamily="34" charset="-120"/>
              </a:rPr>
              <a:t>: Evaluate prediction, detection and reliability across models and explainers.</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Statistical Analysis &amp; Visualisation</a:t>
            </a:r>
            <a:pPr indent="0" marL="0">
              <a:buNone/>
            </a:pPr>
            <a:r>
              <a:rPr lang="en-US" sz="1800" dirty="0">
                <a:solidFill>
                  <a:srgbClr val="1A1A1A"/>
                </a:solidFill>
                <a:latin typeface="Times New Roman" pitchFamily="34" charset="0"/>
                <a:ea typeface="Times New Roman" pitchFamily="34" charset="-122"/>
                <a:cs typeface="Times New Roman" pitchFamily="34" charset="-120"/>
              </a:rPr>
              <a:t>: Analyse results statistically and visualise failure patterns.</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Research Paper &amp; Documentation</a:t>
            </a:r>
            <a:pPr indent="0" marL="0">
              <a:buNone/>
            </a:pPr>
            <a:r>
              <a:rPr lang="en-US" sz="1800" dirty="0">
                <a:solidFill>
                  <a:srgbClr val="1A1A1A"/>
                </a:solidFill>
                <a:latin typeface="Times New Roman" pitchFamily="34" charset="0"/>
                <a:ea typeface="Times New Roman" pitchFamily="34" charset="-122"/>
                <a:cs typeface="Times New Roman" pitchFamily="34" charset="-120"/>
              </a:rPr>
              <a:t>: Write the research paper and final documentation.</a:t>
            </a:r>
            <a:endParaRPr lang="en-US" sz="1800" dirty="0"/>
          </a:p>
          <a:p>
            <a:pPr marL="342900" indent="-342900">
              <a:spcAft>
                <a:spcPts val="600"/>
              </a:spcAft>
              <a:buSzPct val="100000"/>
              <a:buChar char="•"/>
            </a:pPr>
            <a:r>
              <a:rPr lang="en-US" sz="1800" u="sng" dirty="0">
                <a:solidFill>
                  <a:srgbClr val="1A1A1A"/>
                </a:solidFill>
                <a:latin typeface="Times New Roman" pitchFamily="34" charset="0"/>
                <a:ea typeface="Times New Roman" pitchFamily="34" charset="-122"/>
                <a:cs typeface="Times New Roman" pitchFamily="34" charset="-120"/>
              </a:rPr>
              <a:t>Reproducibility Materials</a:t>
            </a:r>
            <a:pPr indent="0" marL="0">
              <a:buNone/>
            </a:pPr>
            <a:r>
              <a:rPr lang="en-US" sz="1800" dirty="0">
                <a:solidFill>
                  <a:srgbClr val="1A1A1A"/>
                </a:solidFill>
                <a:latin typeface="Times New Roman" pitchFamily="34" charset="0"/>
                <a:ea typeface="Times New Roman" pitchFamily="34" charset="-122"/>
                <a:cs typeface="Times New Roman" pitchFamily="34" charset="-120"/>
              </a:rPr>
              <a:t>: Release code, configurations and seeds.</a:t>
            </a:r>
            <a:endParaRPr lang="en-US" sz="1800" dirty="0"/>
          </a:p>
        </p:txBody>
      </p:sp>
      <p:sp>
        <p:nvSpPr>
          <p:cNvPr id="7" name="Text 4"/>
          <p:cNvSpPr txBox="1"/>
          <p:nvPr/>
        </p:nvSpPr>
        <p:spPr>
          <a:xfrm>
            <a:off x="822960" y="5623560"/>
            <a:ext cx="10607040" cy="822960"/>
          </a:xfrm>
          <a:prstGeom prst="rect">
            <a:avLst/>
          </a:prstGeom>
          <a:noFill/>
          <a:ln/>
        </p:spPr>
        <p:txBody>
          <a:bodyPr wrap="square" lIns="63500" tIns="63500" rIns="63500" bIns="63500" rtlCol="0" anchor="t"/>
          <a:lstStyle/>
          <a:p>
            <a:pPr indent="0" marL="0">
              <a:buNone/>
            </a:pPr>
            <a:r>
              <a:rPr lang="en-US" sz="1800" b="1" dirty="0">
                <a:solidFill>
                  <a:srgbClr val="1A1A1A"/>
                </a:solidFill>
                <a:latin typeface="Times New Roman" pitchFamily="34" charset="0"/>
                <a:ea typeface="Times New Roman" pitchFamily="34" charset="-122"/>
                <a:cs typeface="Times New Roman" pitchFamily="34" charset="-120"/>
              </a:rPr>
              <a:t>Phase-III Outcome: </a:t>
            </a:r>
            <a:pPr indent="0" marL="0">
              <a:buNone/>
            </a:pPr>
            <a:r>
              <a:rPr lang="en-US" sz="1800" dirty="0">
                <a:solidFill>
                  <a:srgbClr val="1A1A1A"/>
                </a:solidFill>
                <a:latin typeface="Times New Roman" pitchFamily="34" charset="0"/>
                <a:ea typeface="Times New Roman" pitchFamily="34" charset="-122"/>
                <a:cs typeface="Times New Roman" pitchFamily="34" charset="-120"/>
              </a:rPr>
              <a:t>an integrated reliability framework with results, a paper and reproducible code.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Capstone (Phase-I, II &amp; III) Project Timeline</a:t>
            </a:r>
            <a:endParaRPr lang="en-US" sz="2400" dirty="0"/>
          </a:p>
        </p:txBody>
      </p:sp>
      <p:sp>
        <p:nvSpPr>
          <p:cNvPr id="4" name="Shape 1"/>
          <p:cNvSpPr/>
          <p:nvPr/>
        </p:nvSpPr>
        <p:spPr>
          <a:xfrm>
            <a:off x="329184" y="1783080"/>
            <a:ext cx="11247120" cy="365760"/>
          </a:xfrm>
          <a:prstGeom prst="rect">
            <a:avLst/>
          </a:prstGeom>
          <a:solidFill>
            <a:srgbClr val="0033CC"/>
          </a:solidFill>
          <a:ln w="12700">
            <a:solidFill>
              <a:srgbClr val="0033CC"/>
            </a:solidFill>
            <a:prstDash val="solid"/>
          </a:ln>
        </p:spPr>
      </p:sp>
      <p:sp>
        <p:nvSpPr>
          <p:cNvPr id="5" name="Text 2"/>
          <p:cNvSpPr txBox="1"/>
          <p:nvPr/>
        </p:nvSpPr>
        <p:spPr>
          <a:xfrm>
            <a:off x="365760" y="1783080"/>
            <a:ext cx="3474720" cy="365760"/>
          </a:xfrm>
          <a:prstGeom prst="rect">
            <a:avLst/>
          </a:prstGeom>
          <a:noFill/>
          <a:ln/>
        </p:spPr>
        <p:txBody>
          <a:bodyPr wrap="square" lIns="63500" tIns="63500" rIns="63500" bIns="63500" rtlCol="0" anchor="ct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Task</a:t>
            </a:r>
            <a:endParaRPr lang="en-US" sz="1500" dirty="0"/>
          </a:p>
        </p:txBody>
      </p:sp>
      <p:sp>
        <p:nvSpPr>
          <p:cNvPr id="6" name="Text 3"/>
          <p:cNvSpPr txBox="1"/>
          <p:nvPr/>
        </p:nvSpPr>
        <p:spPr>
          <a:xfrm>
            <a:off x="3895344" y="1783080"/>
            <a:ext cx="1097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Sep–Oct '26</a:t>
            </a:r>
            <a:endParaRPr lang="en-US" sz="1200" dirty="0"/>
          </a:p>
        </p:txBody>
      </p:sp>
      <p:sp>
        <p:nvSpPr>
          <p:cNvPr id="7" name="Text 4"/>
          <p:cNvSpPr txBox="1"/>
          <p:nvPr/>
        </p:nvSpPr>
        <p:spPr>
          <a:xfrm>
            <a:off x="4992624" y="1783080"/>
            <a:ext cx="1097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Nov '26</a:t>
            </a:r>
            <a:endParaRPr lang="en-US" sz="1200" dirty="0"/>
          </a:p>
        </p:txBody>
      </p:sp>
      <p:sp>
        <p:nvSpPr>
          <p:cNvPr id="8" name="Text 5"/>
          <p:cNvSpPr txBox="1"/>
          <p:nvPr/>
        </p:nvSpPr>
        <p:spPr>
          <a:xfrm>
            <a:off x="6089904" y="1783080"/>
            <a:ext cx="1097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Dec '26</a:t>
            </a:r>
            <a:endParaRPr lang="en-US" sz="1200" dirty="0"/>
          </a:p>
        </p:txBody>
      </p:sp>
      <p:sp>
        <p:nvSpPr>
          <p:cNvPr id="9" name="Text 6"/>
          <p:cNvSpPr txBox="1"/>
          <p:nvPr/>
        </p:nvSpPr>
        <p:spPr>
          <a:xfrm>
            <a:off x="7187184" y="1783080"/>
            <a:ext cx="1097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Jan '27</a:t>
            </a:r>
            <a:endParaRPr lang="en-US" sz="1200" dirty="0"/>
          </a:p>
        </p:txBody>
      </p:sp>
      <p:sp>
        <p:nvSpPr>
          <p:cNvPr id="10" name="Text 7"/>
          <p:cNvSpPr txBox="1"/>
          <p:nvPr/>
        </p:nvSpPr>
        <p:spPr>
          <a:xfrm>
            <a:off x="8284464" y="1783080"/>
            <a:ext cx="1097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Feb '27</a:t>
            </a:r>
            <a:endParaRPr lang="en-US" sz="1200" dirty="0"/>
          </a:p>
        </p:txBody>
      </p:sp>
      <p:sp>
        <p:nvSpPr>
          <p:cNvPr id="11" name="Text 8"/>
          <p:cNvSpPr txBox="1"/>
          <p:nvPr/>
        </p:nvSpPr>
        <p:spPr>
          <a:xfrm>
            <a:off x="9381744" y="1783080"/>
            <a:ext cx="1097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Mar '27</a:t>
            </a:r>
            <a:endParaRPr lang="en-US" sz="1200" dirty="0"/>
          </a:p>
        </p:txBody>
      </p:sp>
      <p:sp>
        <p:nvSpPr>
          <p:cNvPr id="12" name="Text 9"/>
          <p:cNvSpPr txBox="1"/>
          <p:nvPr/>
        </p:nvSpPr>
        <p:spPr>
          <a:xfrm>
            <a:off x="10479024" y="1783080"/>
            <a:ext cx="1097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Apr–Jun '27</a:t>
            </a:r>
            <a:endParaRPr lang="en-US" sz="1200" dirty="0"/>
          </a:p>
        </p:txBody>
      </p:sp>
      <p:sp>
        <p:nvSpPr>
          <p:cNvPr id="13" name="Shape 10"/>
          <p:cNvSpPr/>
          <p:nvPr/>
        </p:nvSpPr>
        <p:spPr>
          <a:xfrm>
            <a:off x="329184" y="2148840"/>
            <a:ext cx="11247120" cy="365760"/>
          </a:xfrm>
          <a:prstGeom prst="rect">
            <a:avLst/>
          </a:prstGeom>
          <a:solidFill>
            <a:srgbClr val="EEF3FC"/>
          </a:solidFill>
          <a:ln w="6350">
            <a:solidFill>
              <a:srgbClr val="DCE4F5"/>
            </a:solidFill>
            <a:prstDash val="solid"/>
          </a:ln>
        </p:spPr>
      </p:sp>
      <p:sp>
        <p:nvSpPr>
          <p:cNvPr id="14" name="Text 11"/>
          <p:cNvSpPr txBox="1"/>
          <p:nvPr/>
        </p:nvSpPr>
        <p:spPr>
          <a:xfrm>
            <a:off x="365760" y="214884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Problem statement</a:t>
            </a:r>
            <a:endParaRPr lang="en-US" sz="1400" dirty="0"/>
          </a:p>
        </p:txBody>
      </p:sp>
      <p:sp>
        <p:nvSpPr>
          <p:cNvPr id="15" name="Shape 12"/>
          <p:cNvSpPr/>
          <p:nvPr/>
        </p:nvSpPr>
        <p:spPr>
          <a:xfrm>
            <a:off x="3931920" y="2221992"/>
            <a:ext cx="1024128" cy="219456"/>
          </a:xfrm>
          <a:prstGeom prst="rect">
            <a:avLst/>
          </a:prstGeom>
          <a:solidFill>
            <a:srgbClr val="0033CC"/>
          </a:solidFill>
          <a:ln w="12700">
            <a:solidFill>
              <a:srgbClr val="0033CC"/>
            </a:solidFill>
            <a:prstDash val="solid"/>
          </a:ln>
        </p:spPr>
      </p:sp>
      <p:sp>
        <p:nvSpPr>
          <p:cNvPr id="16" name="Shape 13"/>
          <p:cNvSpPr/>
          <p:nvPr/>
        </p:nvSpPr>
        <p:spPr>
          <a:xfrm>
            <a:off x="329184" y="2514600"/>
            <a:ext cx="11247120" cy="365760"/>
          </a:xfrm>
          <a:prstGeom prst="rect">
            <a:avLst/>
          </a:prstGeom>
          <a:solidFill>
            <a:srgbClr val="FFFFFF"/>
          </a:solidFill>
          <a:ln w="6350">
            <a:solidFill>
              <a:srgbClr val="DCE4F5"/>
            </a:solidFill>
            <a:prstDash val="solid"/>
          </a:ln>
        </p:spPr>
      </p:sp>
      <p:sp>
        <p:nvSpPr>
          <p:cNvPr id="17" name="Text 14"/>
          <p:cNvSpPr txBox="1"/>
          <p:nvPr/>
        </p:nvSpPr>
        <p:spPr>
          <a:xfrm>
            <a:off x="365760" y="251460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Literature review</a:t>
            </a:r>
            <a:endParaRPr lang="en-US" sz="1400" dirty="0"/>
          </a:p>
        </p:txBody>
      </p:sp>
      <p:sp>
        <p:nvSpPr>
          <p:cNvPr id="18" name="Shape 15"/>
          <p:cNvSpPr/>
          <p:nvPr/>
        </p:nvSpPr>
        <p:spPr>
          <a:xfrm>
            <a:off x="3931920" y="2587752"/>
            <a:ext cx="2121408" cy="219456"/>
          </a:xfrm>
          <a:prstGeom prst="rect">
            <a:avLst/>
          </a:prstGeom>
          <a:solidFill>
            <a:srgbClr val="0033CC"/>
          </a:solidFill>
          <a:ln w="12700">
            <a:solidFill>
              <a:srgbClr val="0033CC"/>
            </a:solidFill>
            <a:prstDash val="solid"/>
          </a:ln>
        </p:spPr>
      </p:sp>
      <p:sp>
        <p:nvSpPr>
          <p:cNvPr id="19" name="Shape 16"/>
          <p:cNvSpPr/>
          <p:nvPr/>
        </p:nvSpPr>
        <p:spPr>
          <a:xfrm>
            <a:off x="329184" y="2880360"/>
            <a:ext cx="11247120" cy="365760"/>
          </a:xfrm>
          <a:prstGeom prst="rect">
            <a:avLst/>
          </a:prstGeom>
          <a:solidFill>
            <a:srgbClr val="EEF3FC"/>
          </a:solidFill>
          <a:ln w="6350">
            <a:solidFill>
              <a:srgbClr val="DCE4F5"/>
            </a:solidFill>
            <a:prstDash val="solid"/>
          </a:ln>
        </p:spPr>
      </p:sp>
      <p:sp>
        <p:nvSpPr>
          <p:cNvPr id="20" name="Text 17"/>
          <p:cNvSpPr txBox="1"/>
          <p:nvPr/>
        </p:nvSpPr>
        <p:spPr>
          <a:xfrm>
            <a:off x="365760" y="288036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Dataset preparation</a:t>
            </a:r>
            <a:endParaRPr lang="en-US" sz="1400" dirty="0"/>
          </a:p>
        </p:txBody>
      </p:sp>
      <p:sp>
        <p:nvSpPr>
          <p:cNvPr id="21" name="Shape 18"/>
          <p:cNvSpPr/>
          <p:nvPr/>
        </p:nvSpPr>
        <p:spPr>
          <a:xfrm>
            <a:off x="5029200" y="2953512"/>
            <a:ext cx="2121408" cy="219456"/>
          </a:xfrm>
          <a:prstGeom prst="rect">
            <a:avLst/>
          </a:prstGeom>
          <a:solidFill>
            <a:srgbClr val="0033CC"/>
          </a:solidFill>
          <a:ln w="12700">
            <a:solidFill>
              <a:srgbClr val="0033CC"/>
            </a:solidFill>
            <a:prstDash val="solid"/>
          </a:ln>
        </p:spPr>
      </p:sp>
      <p:sp>
        <p:nvSpPr>
          <p:cNvPr id="22" name="Shape 19"/>
          <p:cNvSpPr/>
          <p:nvPr/>
        </p:nvSpPr>
        <p:spPr>
          <a:xfrm>
            <a:off x="329184" y="3246120"/>
            <a:ext cx="11247120" cy="365760"/>
          </a:xfrm>
          <a:prstGeom prst="rect">
            <a:avLst/>
          </a:prstGeom>
          <a:solidFill>
            <a:srgbClr val="FFFFFF"/>
          </a:solidFill>
          <a:ln w="6350">
            <a:solidFill>
              <a:srgbClr val="DCE4F5"/>
            </a:solidFill>
            <a:prstDash val="solid"/>
          </a:ln>
        </p:spPr>
      </p:sp>
      <p:sp>
        <p:nvSpPr>
          <p:cNvPr id="23" name="Text 20"/>
          <p:cNvSpPr txBox="1"/>
          <p:nvPr/>
        </p:nvSpPr>
        <p:spPr>
          <a:xfrm>
            <a:off x="365760" y="324612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Prediction baselines</a:t>
            </a:r>
            <a:endParaRPr lang="en-US" sz="1400" dirty="0"/>
          </a:p>
        </p:txBody>
      </p:sp>
      <p:sp>
        <p:nvSpPr>
          <p:cNvPr id="24" name="Shape 21"/>
          <p:cNvSpPr/>
          <p:nvPr/>
        </p:nvSpPr>
        <p:spPr>
          <a:xfrm>
            <a:off x="6126480" y="3319272"/>
            <a:ext cx="2121408" cy="219456"/>
          </a:xfrm>
          <a:prstGeom prst="rect">
            <a:avLst/>
          </a:prstGeom>
          <a:solidFill>
            <a:srgbClr val="0033CC"/>
          </a:solidFill>
          <a:ln w="12700">
            <a:solidFill>
              <a:srgbClr val="0033CC"/>
            </a:solidFill>
            <a:prstDash val="solid"/>
          </a:ln>
        </p:spPr>
      </p:sp>
      <p:sp>
        <p:nvSpPr>
          <p:cNvPr id="25" name="Shape 22"/>
          <p:cNvSpPr/>
          <p:nvPr/>
        </p:nvSpPr>
        <p:spPr>
          <a:xfrm>
            <a:off x="329184" y="3611880"/>
            <a:ext cx="11247120" cy="365760"/>
          </a:xfrm>
          <a:prstGeom prst="rect">
            <a:avLst/>
          </a:prstGeom>
          <a:solidFill>
            <a:srgbClr val="EEF3FC"/>
          </a:solidFill>
          <a:ln w="6350">
            <a:solidFill>
              <a:srgbClr val="DCE4F5"/>
            </a:solidFill>
            <a:prstDash val="solid"/>
          </a:ln>
        </p:spPr>
      </p:sp>
      <p:sp>
        <p:nvSpPr>
          <p:cNvPr id="26" name="Text 23"/>
          <p:cNvSpPr txBox="1"/>
          <p:nvPr/>
        </p:nvSpPr>
        <p:spPr>
          <a:xfrm>
            <a:off x="365760" y="361188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Explanation pipeline</a:t>
            </a:r>
            <a:endParaRPr lang="en-US" sz="1400" dirty="0"/>
          </a:p>
        </p:txBody>
      </p:sp>
      <p:sp>
        <p:nvSpPr>
          <p:cNvPr id="27" name="Shape 24"/>
          <p:cNvSpPr/>
          <p:nvPr/>
        </p:nvSpPr>
        <p:spPr>
          <a:xfrm>
            <a:off x="7223760" y="3685032"/>
            <a:ext cx="2121408" cy="219456"/>
          </a:xfrm>
          <a:prstGeom prst="rect">
            <a:avLst/>
          </a:prstGeom>
          <a:solidFill>
            <a:srgbClr val="0033CC"/>
          </a:solidFill>
          <a:ln w="12700">
            <a:solidFill>
              <a:srgbClr val="0033CC"/>
            </a:solidFill>
            <a:prstDash val="solid"/>
          </a:ln>
        </p:spPr>
      </p:sp>
      <p:sp>
        <p:nvSpPr>
          <p:cNvPr id="28" name="Shape 25"/>
          <p:cNvSpPr/>
          <p:nvPr/>
        </p:nvSpPr>
        <p:spPr>
          <a:xfrm>
            <a:off x="329184" y="3977640"/>
            <a:ext cx="11247120" cy="365760"/>
          </a:xfrm>
          <a:prstGeom prst="rect">
            <a:avLst/>
          </a:prstGeom>
          <a:solidFill>
            <a:srgbClr val="FFFFFF"/>
          </a:solidFill>
          <a:ln w="6350">
            <a:solidFill>
              <a:srgbClr val="DCE4F5"/>
            </a:solidFill>
            <a:prstDash val="solid"/>
          </a:ln>
        </p:spPr>
      </p:sp>
      <p:sp>
        <p:nvSpPr>
          <p:cNvPr id="29" name="Text 26"/>
          <p:cNvSpPr txBox="1"/>
          <p:nvPr/>
        </p:nvSpPr>
        <p:spPr>
          <a:xfrm>
            <a:off x="365760" y="397764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Reliability metrics</a:t>
            </a:r>
            <a:endParaRPr lang="en-US" sz="1400" dirty="0"/>
          </a:p>
        </p:txBody>
      </p:sp>
      <p:sp>
        <p:nvSpPr>
          <p:cNvPr id="30" name="Shape 27"/>
          <p:cNvSpPr/>
          <p:nvPr/>
        </p:nvSpPr>
        <p:spPr>
          <a:xfrm>
            <a:off x="8321040" y="4050792"/>
            <a:ext cx="2121408" cy="219456"/>
          </a:xfrm>
          <a:prstGeom prst="rect">
            <a:avLst/>
          </a:prstGeom>
          <a:solidFill>
            <a:srgbClr val="128C8C"/>
          </a:solidFill>
          <a:ln w="12700">
            <a:solidFill>
              <a:srgbClr val="128C8C"/>
            </a:solidFill>
            <a:prstDash val="solid"/>
          </a:ln>
        </p:spPr>
      </p:sp>
      <p:sp>
        <p:nvSpPr>
          <p:cNvPr id="31" name="Shape 28"/>
          <p:cNvSpPr/>
          <p:nvPr/>
        </p:nvSpPr>
        <p:spPr>
          <a:xfrm>
            <a:off x="329184" y="4343400"/>
            <a:ext cx="11247120" cy="365760"/>
          </a:xfrm>
          <a:prstGeom prst="rect">
            <a:avLst/>
          </a:prstGeom>
          <a:solidFill>
            <a:srgbClr val="EEF3FC"/>
          </a:solidFill>
          <a:ln w="6350">
            <a:solidFill>
              <a:srgbClr val="DCE4F5"/>
            </a:solidFill>
            <a:prstDash val="solid"/>
          </a:ln>
        </p:spPr>
      </p:sp>
      <p:sp>
        <p:nvSpPr>
          <p:cNvPr id="32" name="Text 29"/>
          <p:cNvSpPr txBox="1"/>
          <p:nvPr/>
        </p:nvSpPr>
        <p:spPr>
          <a:xfrm>
            <a:off x="365760" y="434340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Failure labels</a:t>
            </a:r>
            <a:endParaRPr lang="en-US" sz="1400" dirty="0"/>
          </a:p>
        </p:txBody>
      </p:sp>
      <p:sp>
        <p:nvSpPr>
          <p:cNvPr id="33" name="Shape 30"/>
          <p:cNvSpPr/>
          <p:nvPr/>
        </p:nvSpPr>
        <p:spPr>
          <a:xfrm>
            <a:off x="8321040" y="4416552"/>
            <a:ext cx="2121408" cy="219456"/>
          </a:xfrm>
          <a:prstGeom prst="rect">
            <a:avLst/>
          </a:prstGeom>
          <a:solidFill>
            <a:srgbClr val="128C8C"/>
          </a:solidFill>
          <a:ln w="12700">
            <a:solidFill>
              <a:srgbClr val="128C8C"/>
            </a:solidFill>
            <a:prstDash val="solid"/>
          </a:ln>
        </p:spPr>
      </p:sp>
      <p:sp>
        <p:nvSpPr>
          <p:cNvPr id="34" name="Shape 31"/>
          <p:cNvSpPr/>
          <p:nvPr/>
        </p:nvSpPr>
        <p:spPr>
          <a:xfrm>
            <a:off x="329184" y="4709160"/>
            <a:ext cx="11247120" cy="365760"/>
          </a:xfrm>
          <a:prstGeom prst="rect">
            <a:avLst/>
          </a:prstGeom>
          <a:solidFill>
            <a:srgbClr val="FFFFFF"/>
          </a:solidFill>
          <a:ln w="6350">
            <a:solidFill>
              <a:srgbClr val="DCE4F5"/>
            </a:solidFill>
            <a:prstDash val="solid"/>
          </a:ln>
        </p:spPr>
      </p:sp>
      <p:sp>
        <p:nvSpPr>
          <p:cNvPr id="35" name="Text 32"/>
          <p:cNvSpPr txBox="1"/>
          <p:nvPr/>
        </p:nvSpPr>
        <p:spPr>
          <a:xfrm>
            <a:off x="365760" y="470916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Detector construction</a:t>
            </a:r>
            <a:endParaRPr lang="en-US" sz="1400" dirty="0"/>
          </a:p>
        </p:txBody>
      </p:sp>
      <p:sp>
        <p:nvSpPr>
          <p:cNvPr id="36" name="Shape 33"/>
          <p:cNvSpPr/>
          <p:nvPr/>
        </p:nvSpPr>
        <p:spPr>
          <a:xfrm>
            <a:off x="9418320" y="4782312"/>
            <a:ext cx="2121408" cy="219456"/>
          </a:xfrm>
          <a:prstGeom prst="rect">
            <a:avLst/>
          </a:prstGeom>
          <a:solidFill>
            <a:srgbClr val="128C8C"/>
          </a:solidFill>
          <a:ln w="12700">
            <a:solidFill>
              <a:srgbClr val="128C8C"/>
            </a:solidFill>
            <a:prstDash val="solid"/>
          </a:ln>
        </p:spPr>
      </p:sp>
      <p:sp>
        <p:nvSpPr>
          <p:cNvPr id="37" name="Shape 34"/>
          <p:cNvSpPr/>
          <p:nvPr/>
        </p:nvSpPr>
        <p:spPr>
          <a:xfrm>
            <a:off x="329184" y="5074920"/>
            <a:ext cx="11247120" cy="365760"/>
          </a:xfrm>
          <a:prstGeom prst="rect">
            <a:avLst/>
          </a:prstGeom>
          <a:solidFill>
            <a:srgbClr val="EEF3FC"/>
          </a:solidFill>
          <a:ln w="6350">
            <a:solidFill>
              <a:srgbClr val="DCE4F5"/>
            </a:solidFill>
            <a:prstDash val="solid"/>
          </a:ln>
        </p:spPr>
      </p:sp>
      <p:sp>
        <p:nvSpPr>
          <p:cNvPr id="38" name="Text 35"/>
          <p:cNvSpPr txBox="1"/>
          <p:nvPr/>
        </p:nvSpPr>
        <p:spPr>
          <a:xfrm>
            <a:off x="365760" y="507492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Mitigation strategies</a:t>
            </a:r>
            <a:endParaRPr lang="en-US" sz="1400" dirty="0"/>
          </a:p>
        </p:txBody>
      </p:sp>
      <p:sp>
        <p:nvSpPr>
          <p:cNvPr id="39" name="Shape 36"/>
          <p:cNvSpPr/>
          <p:nvPr/>
        </p:nvSpPr>
        <p:spPr>
          <a:xfrm>
            <a:off x="9418320" y="5148072"/>
            <a:ext cx="2121408" cy="219456"/>
          </a:xfrm>
          <a:prstGeom prst="rect">
            <a:avLst/>
          </a:prstGeom>
          <a:solidFill>
            <a:srgbClr val="128C8C"/>
          </a:solidFill>
          <a:ln w="12700">
            <a:solidFill>
              <a:srgbClr val="128C8C"/>
            </a:solidFill>
            <a:prstDash val="solid"/>
          </a:ln>
        </p:spPr>
      </p:sp>
      <p:sp>
        <p:nvSpPr>
          <p:cNvPr id="40" name="Shape 37"/>
          <p:cNvSpPr/>
          <p:nvPr/>
        </p:nvSpPr>
        <p:spPr>
          <a:xfrm>
            <a:off x="329184" y="5440680"/>
            <a:ext cx="11247120" cy="365760"/>
          </a:xfrm>
          <a:prstGeom prst="rect">
            <a:avLst/>
          </a:prstGeom>
          <a:solidFill>
            <a:srgbClr val="FFFFFF"/>
          </a:solidFill>
          <a:ln w="6350">
            <a:solidFill>
              <a:srgbClr val="DCE4F5"/>
            </a:solidFill>
            <a:prstDash val="solid"/>
          </a:ln>
        </p:spPr>
      </p:sp>
      <p:sp>
        <p:nvSpPr>
          <p:cNvPr id="41" name="Text 38"/>
          <p:cNvSpPr txBox="1"/>
          <p:nvPr/>
        </p:nvSpPr>
        <p:spPr>
          <a:xfrm>
            <a:off x="365760" y="544068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Full experiments</a:t>
            </a:r>
            <a:endParaRPr lang="en-US" sz="1400" dirty="0"/>
          </a:p>
        </p:txBody>
      </p:sp>
      <p:sp>
        <p:nvSpPr>
          <p:cNvPr id="42" name="Shape 39"/>
          <p:cNvSpPr/>
          <p:nvPr/>
        </p:nvSpPr>
        <p:spPr>
          <a:xfrm>
            <a:off x="10515600" y="5513832"/>
            <a:ext cx="1024128" cy="219456"/>
          </a:xfrm>
          <a:prstGeom prst="rect">
            <a:avLst/>
          </a:prstGeom>
          <a:solidFill>
            <a:srgbClr val="E08A00"/>
          </a:solidFill>
          <a:ln w="12700">
            <a:solidFill>
              <a:srgbClr val="E08A00"/>
            </a:solidFill>
            <a:prstDash val="solid"/>
          </a:ln>
        </p:spPr>
      </p:sp>
      <p:sp>
        <p:nvSpPr>
          <p:cNvPr id="43" name="Shape 40"/>
          <p:cNvSpPr/>
          <p:nvPr/>
        </p:nvSpPr>
        <p:spPr>
          <a:xfrm>
            <a:off x="329184" y="5806440"/>
            <a:ext cx="11247120" cy="365760"/>
          </a:xfrm>
          <a:prstGeom prst="rect">
            <a:avLst/>
          </a:prstGeom>
          <a:solidFill>
            <a:srgbClr val="EEF3FC"/>
          </a:solidFill>
          <a:ln w="6350">
            <a:solidFill>
              <a:srgbClr val="DCE4F5"/>
            </a:solidFill>
            <a:prstDash val="solid"/>
          </a:ln>
        </p:spPr>
      </p:sp>
      <p:sp>
        <p:nvSpPr>
          <p:cNvPr id="44" name="Text 41"/>
          <p:cNvSpPr txBox="1"/>
          <p:nvPr/>
        </p:nvSpPr>
        <p:spPr>
          <a:xfrm>
            <a:off x="365760" y="5806440"/>
            <a:ext cx="3474720" cy="365760"/>
          </a:xfrm>
          <a:prstGeom prst="rect">
            <a:avLst/>
          </a:prstGeom>
          <a:noFill/>
          <a:ln/>
        </p:spPr>
        <p:txBody>
          <a:bodyPr wrap="square" lIns="63500" tIns="63500" rIns="63500" bIns="63500" rtlCol="0" anchor="ct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Report / publication</a:t>
            </a:r>
            <a:endParaRPr lang="en-US" sz="1400" dirty="0"/>
          </a:p>
        </p:txBody>
      </p:sp>
      <p:sp>
        <p:nvSpPr>
          <p:cNvPr id="45" name="Shape 42"/>
          <p:cNvSpPr/>
          <p:nvPr/>
        </p:nvSpPr>
        <p:spPr>
          <a:xfrm>
            <a:off x="10515600" y="5879592"/>
            <a:ext cx="1024128" cy="219456"/>
          </a:xfrm>
          <a:prstGeom prst="rect">
            <a:avLst/>
          </a:prstGeom>
          <a:solidFill>
            <a:srgbClr val="E08A00"/>
          </a:solidFill>
          <a:ln w="12700">
            <a:solidFill>
              <a:srgbClr val="E08A00"/>
            </a:solidFill>
            <a:prstDash val="solid"/>
          </a:ln>
        </p:spPr>
      </p:sp>
      <p:sp>
        <p:nvSpPr>
          <p:cNvPr id="46" name="Text 43"/>
          <p:cNvSpPr txBox="1"/>
          <p:nvPr/>
        </p:nvSpPr>
        <p:spPr>
          <a:xfrm>
            <a:off x="329184" y="6263640"/>
            <a:ext cx="11530584" cy="320040"/>
          </a:xfrm>
          <a:prstGeom prst="rect">
            <a:avLst/>
          </a:prstGeom>
          <a:noFill/>
          <a:ln/>
        </p:spPr>
        <p:txBody>
          <a:bodyPr wrap="square" lIns="63500" tIns="63500" rIns="63500" bIns="63500" rtlCol="0" anchor="t"/>
          <a:lstStyle/>
          <a:p>
            <a:pPr indent="0" marL="0">
              <a:buNone/>
            </a:pPr>
            <a:r>
              <a:rPr lang="en-US" sz="1200" i="1" dirty="0">
                <a:solidFill>
                  <a:srgbClr val="555555"/>
                </a:solidFill>
                <a:latin typeface="Times New Roman" pitchFamily="34" charset="0"/>
                <a:ea typeface="Times New Roman" pitchFamily="34" charset="-122"/>
                <a:cs typeface="Times New Roman" pitchFamily="34" charset="-120"/>
              </a:rPr>
              <a:t>Blue = Capstone-I (foundation)   |   Teal = Capstone-II (core novelty)   |   Orange = Capstone-III (evaluation and paper)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Capstone (Phase-I, II &amp; III) Project Timeline</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914400"/>
        </p:xfrm>
        <a:graphic>
          <a:graphicData uri="http://schemas.openxmlformats.org/drawingml/2006/table">
            <a:tbl>
              <a:tblPr/>
              <a:tblGrid>
                <a:gridCol w="914400"/>
                <a:gridCol w="3840480"/>
                <a:gridCol w="6766560"/>
              </a:tblGrid>
              <a:tr h="411480">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Stage</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Focus</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Key tasks</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r>
              <a:tr h="91440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1</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Data &amp; Prediction Baselines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Dataset preparation; XGBoost, RF and LSTM baselines; unified evaluation protocol</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2</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Explanation &amp; Reliability Metrics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SHAP / Integrated Gradients pipelines; stability, faithfulness and robustness metrics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r h="91440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3</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Failure Labels &amp; Detection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Independent failure labels; detector construction and evaluation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4</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Mitigation, Experiments &amp; Report</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Diagnosis and mitigation; abstention; full experiments; paper and documentation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Effort Split by Team Member</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914400"/>
        </p:xfrm>
        <a:graphic>
          <a:graphicData uri="http://schemas.openxmlformats.org/drawingml/2006/table">
            <a:tbl>
              <a:tblPr/>
              <a:tblGrid>
                <a:gridCol w="2468880"/>
                <a:gridCol w="2743200"/>
                <a:gridCol w="2743200"/>
                <a:gridCol w="2651760"/>
                <a:gridCol w="914400"/>
              </a:tblGrid>
              <a:tr h="411480">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Member / Role</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Phase-I</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Phase-II</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Phase-III</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Share</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r>
              <a:tr h="91440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Kiran BG</a:t>
                      </a:r>
                      <a:endParaRPr lang="en-US" sz="1400" dirty="0">
                        <a:latin typeface="Times New Roman" charset="0"/>
                        <a:ea typeface="Times New Roman" charset="0"/>
                        <a:cs typeface="Times New Roman" charset="0"/>
                      </a:endParaRPr>
                    </a:p>
                    <a:p>
                      <a:pPr indent="0" marL="0">
                        <a:buNone/>
                      </a:pPr>
                      <a:r>
                        <a:rPr lang="en-US" sz="1400" b="1" dirty="0">
                          <a:solidFill>
                            <a:srgbClr val="0033CC"/>
                          </a:solidFill>
                          <a:latin typeface="Times New Roman" pitchFamily="34" charset="0"/>
                          <a:ea typeface="Times New Roman" pitchFamily="34" charset="-122"/>
                          <a:cs typeface="Times New Roman" pitchFamily="34" charset="-120"/>
                        </a:rPr>
                        <a:t>Prediction models and comparison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Study ensemble and deep-learning baselines; define evaluation protocol</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Implement XGBoost, RF, LSTM; run unified comparison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Analyse prediction performance; ablations; documentation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25%</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Mohammad Anan</a:t>
                      </a:r>
                      <a:endParaRPr lang="en-US" sz="1400" dirty="0">
                        <a:latin typeface="Times New Roman" charset="0"/>
                        <a:ea typeface="Times New Roman" charset="0"/>
                        <a:cs typeface="Times New Roman" charset="0"/>
                      </a:endParaRPr>
                    </a:p>
                    <a:p>
                      <a:pPr indent="0" marL="0">
                        <a:buNone/>
                      </a:pPr>
                      <a:r>
                        <a:rPr lang="en-US" sz="1400" b="1" dirty="0">
                          <a:solidFill>
                            <a:srgbClr val="0033CC"/>
                          </a:solidFill>
                          <a:latin typeface="Times New Roman" pitchFamily="34" charset="0"/>
                          <a:ea typeface="Times New Roman" pitchFamily="34" charset="-122"/>
                          <a:cs typeface="Times New Roman" pitchFamily="34" charset="-120"/>
                        </a:rPr>
                        <a:t>Explanations and reliability metrics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Study SHAP failure modes; define stability, faithfulness, robustness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Implement SHAP / IG pipelines; compute reliability metrics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Tune metrics; analyse failure patterns; final evaluation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25%</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r h="91440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Ibrahim Khaleel</a:t>
                      </a:r>
                      <a:endParaRPr lang="en-US" sz="1400" dirty="0">
                        <a:latin typeface="Times New Roman" charset="0"/>
                        <a:ea typeface="Times New Roman" charset="0"/>
                        <a:cs typeface="Times New Roman" charset="0"/>
                      </a:endParaRPr>
                    </a:p>
                    <a:p>
                      <a:pPr indent="0" marL="0">
                        <a:buNone/>
                      </a:pPr>
                      <a:r>
                        <a:rPr lang="en-US" sz="1400" b="1" dirty="0">
                          <a:solidFill>
                            <a:srgbClr val="0033CC"/>
                          </a:solidFill>
                          <a:latin typeface="Times New Roman" pitchFamily="34" charset="0"/>
                          <a:ea typeface="Times New Roman" pitchFamily="34" charset="-122"/>
                          <a:cs typeface="Times New Roman" pitchFamily="34" charset="-120"/>
                        </a:rPr>
                        <a:t>Failure labels and detector</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Define independent failure labels; design detection strategy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Generate failure annotations; build and evaluate detector</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Evaluate detection across scenarios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25%</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Nikhil KR</a:t>
                      </a:r>
                      <a:endParaRPr lang="en-US" sz="1400" dirty="0">
                        <a:latin typeface="Times New Roman" charset="0"/>
                        <a:ea typeface="Times New Roman" charset="0"/>
                        <a:cs typeface="Times New Roman" charset="0"/>
                      </a:endParaRPr>
                    </a:p>
                    <a:p>
                      <a:pPr indent="0" marL="0">
                        <a:buNone/>
                      </a:pPr>
                      <a:r>
                        <a:rPr lang="en-US" sz="1400" b="1" dirty="0">
                          <a:solidFill>
                            <a:srgbClr val="0033CC"/>
                          </a:solidFill>
                          <a:latin typeface="Times New Roman" pitchFamily="34" charset="0"/>
                          <a:ea typeface="Times New Roman" pitchFamily="34" charset="-122"/>
                          <a:cs typeface="Times New Roman" pitchFamily="34" charset="-120"/>
                        </a:rPr>
                        <a:t>Diagnosis, mitigation, integration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Study failure-mode diagnosis and mitigation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Implement diagnosis, mitigation and abstention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Integrate modules; end-to-end testing</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25%</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bl>
          </a:graphicData>
        </a:graphic>
      </p:graphicFrame>
      <p:sp>
        <p:nvSpPr>
          <p:cNvPr id="5" name="Text 1"/>
          <p:cNvSpPr txBox="1"/>
          <p:nvPr/>
        </p:nvSpPr>
        <p:spPr>
          <a:xfrm>
            <a:off x="329184" y="5989320"/>
            <a:ext cx="11530584" cy="548640"/>
          </a:xfrm>
          <a:prstGeom prst="rect">
            <a:avLst/>
          </a:prstGeom>
          <a:noFill/>
          <a:ln/>
        </p:spPr>
        <p:txBody>
          <a:bodyPr wrap="square" lIns="63500" tIns="63500" rIns="63500" bIns="63500" rtlCol="0" anchor="t"/>
          <a:lstStyle/>
          <a:p>
            <a:pPr indent="0" marL="0">
              <a:buNone/>
            </a:pPr>
            <a:r>
              <a:rPr lang="en-US" sz="1600" b="1" dirty="0">
                <a:solidFill>
                  <a:srgbClr val="0033CC"/>
                </a:solidFill>
                <a:latin typeface="Times New Roman" pitchFamily="34" charset="0"/>
                <a:ea typeface="Times New Roman" pitchFamily="34" charset="-122"/>
                <a:cs typeface="Times New Roman" pitchFamily="34" charset="-120"/>
              </a:rPr>
              <a:t>Shared by all four: </a:t>
            </a:r>
            <a:pPr indent="0" marL="0">
              <a:buNone/>
            </a:pPr>
            <a:r>
              <a:rPr lang="en-US" sz="1600" dirty="0">
                <a:solidFill>
                  <a:srgbClr val="1A1A1A"/>
                </a:solidFill>
                <a:latin typeface="Times New Roman" pitchFamily="34" charset="0"/>
                <a:ea typeface="Times New Roman" pitchFamily="34" charset="-122"/>
                <a:cs typeface="Times New Roman" pitchFamily="34" charset="-120"/>
              </a:rPr>
              <a:t>literature review, own section of the paper, joint evaluation, review presentations and final demo.</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Any Other Information: Data and Evaluation</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914400"/>
        </p:xfrm>
        <a:graphic>
          <a:graphicData uri="http://schemas.openxmlformats.org/drawingml/2006/table">
            <a:tbl>
              <a:tblPr/>
              <a:tblGrid>
                <a:gridCol w="3108960"/>
                <a:gridCol w="5486400"/>
                <a:gridCol w="2926080"/>
              </a:tblGrid>
              <a:tr h="411480">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Dataset</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What it provides</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Used for</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r>
              <a:tr h="86868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PhysioNet/CinC 2019 (primary)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40,336 adult ICU patients, 2 US hospitals; 40 variables, hourly, Sepsis-3 labels; labs 85–95% missing</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Training, model comparison, reliability analysis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MIMIC-IV (if feasible)</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76,307 ICU patients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External validation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r h="731520">
                <a:tc>
                  <a:txBody>
                    <a:bodyPr/>
                    <a:lstStyle/>
                    <a:p>
                      <a:pPr indent="0" marL="0">
                        <a:buNone/>
                      </a:pPr>
                      <a:r>
                        <a:rPr lang="en-US" sz="1400" b="1" dirty="0">
                          <a:solidFill>
                            <a:srgbClr val="0033CC"/>
                          </a:solidFill>
                          <a:latin typeface="Times New Roman" pitchFamily="34" charset="0"/>
                          <a:ea typeface="Times New Roman" pitchFamily="34" charset="-122"/>
                          <a:cs typeface="Times New Roman" pitchFamily="34" charset="-120"/>
                        </a:rPr>
                        <a:t>Reliability annotations (ours)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Stability, faithfulness, robustness scores and failure labels per model-explainer pair</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Times New Roman" pitchFamily="34" charset="0"/>
                          <a:ea typeface="Times New Roman" pitchFamily="34" charset="-122"/>
                          <a:cs typeface="Times New Roman" pitchFamily="34" charset="-120"/>
                        </a:rPr>
                        <a:t>Studying SHAP failures; training the detector</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bl>
          </a:graphicData>
        </a:graphic>
      </p:graphicFrame>
      <p:sp>
        <p:nvSpPr>
          <p:cNvPr id="5" name="Shape 1"/>
          <p:cNvSpPr/>
          <p:nvPr/>
        </p:nvSpPr>
        <p:spPr>
          <a:xfrm>
            <a:off x="329184" y="4480560"/>
            <a:ext cx="3721608" cy="1965960"/>
          </a:xfrm>
          <a:prstGeom prst="roundRect">
            <a:avLst>
              <a:gd name="adj" fmla="val 4651"/>
            </a:avLst>
          </a:prstGeom>
          <a:solidFill>
            <a:srgbClr val="FFFFFF"/>
          </a:solidFill>
          <a:ln w="15875">
            <a:solidFill>
              <a:srgbClr val="0033CC"/>
            </a:solidFill>
            <a:prstDash val="solid"/>
          </a:ln>
        </p:spPr>
      </p:sp>
      <p:sp>
        <p:nvSpPr>
          <p:cNvPr id="6" name="Text 2"/>
          <p:cNvSpPr txBox="1"/>
          <p:nvPr/>
        </p:nvSpPr>
        <p:spPr>
          <a:xfrm>
            <a:off x="466344" y="4553712"/>
            <a:ext cx="3447288" cy="1828800"/>
          </a:xfrm>
          <a:prstGeom prst="rect">
            <a:avLst/>
          </a:prstGeom>
          <a:noFill/>
          <a:ln/>
        </p:spPr>
        <p:txBody>
          <a:bodyPr wrap="square" lIns="63500" tIns="63500" rIns="63500" bIns="63500" rtlCol="0" anchor="t"/>
          <a:lstStyle/>
          <a:p>
            <a:pPr indent="0" marL="0">
              <a:buNone/>
            </a:pPr>
            <a:r>
              <a:rPr lang="en-US" sz="1900" b="1" dirty="0">
                <a:solidFill>
                  <a:srgbClr val="0033CC"/>
                </a:solidFill>
                <a:latin typeface="Times New Roman" pitchFamily="34" charset="0"/>
                <a:ea typeface="Times New Roman" pitchFamily="34" charset="-122"/>
                <a:cs typeface="Times New Roman" pitchFamily="34" charset="-120"/>
              </a:rPr>
              <a:t>Prediction</a:t>
            </a:r>
            <a:endParaRPr lang="en-US" sz="1600" dirty="0"/>
          </a:p>
          <a:p>
            <a:pPr indent="0" marL="0">
              <a:buNone/>
            </a:pPr>
            <a:r>
              <a:rPr lang="en-US" sz="1600" dirty="0">
                <a:solidFill>
                  <a:srgbClr val="1A1A1A"/>
                </a:solidFill>
                <a:latin typeface="Times New Roman" pitchFamily="34" charset="0"/>
                <a:ea typeface="Times New Roman" pitchFamily="34" charset="-122"/>
                <a:cs typeface="Times New Roman" pitchFamily="34" charset="-120"/>
              </a:rPr>
              <a:t>AUROC, AUPRC, sensitivity, specificity, calibration</a:t>
            </a:r>
            <a:endParaRPr lang="en-US" sz="1600" dirty="0"/>
          </a:p>
        </p:txBody>
      </p:sp>
      <p:sp>
        <p:nvSpPr>
          <p:cNvPr id="7" name="Shape 3"/>
          <p:cNvSpPr/>
          <p:nvPr/>
        </p:nvSpPr>
        <p:spPr>
          <a:xfrm>
            <a:off x="4242816" y="4480560"/>
            <a:ext cx="3721608" cy="1965960"/>
          </a:xfrm>
          <a:prstGeom prst="roundRect">
            <a:avLst>
              <a:gd name="adj" fmla="val 4651"/>
            </a:avLst>
          </a:prstGeom>
          <a:solidFill>
            <a:srgbClr val="FFFFFF"/>
          </a:solidFill>
          <a:ln w="15875">
            <a:solidFill>
              <a:srgbClr val="128C8C"/>
            </a:solidFill>
            <a:prstDash val="solid"/>
          </a:ln>
        </p:spPr>
      </p:sp>
      <p:sp>
        <p:nvSpPr>
          <p:cNvPr id="8" name="Text 4"/>
          <p:cNvSpPr txBox="1"/>
          <p:nvPr/>
        </p:nvSpPr>
        <p:spPr>
          <a:xfrm>
            <a:off x="4379976" y="4553712"/>
            <a:ext cx="3447288" cy="1828800"/>
          </a:xfrm>
          <a:prstGeom prst="rect">
            <a:avLst/>
          </a:prstGeom>
          <a:noFill/>
          <a:ln/>
        </p:spPr>
        <p:txBody>
          <a:bodyPr wrap="square" lIns="63500" tIns="63500" rIns="63500" bIns="63500" rtlCol="0" anchor="t"/>
          <a:lstStyle/>
          <a:p>
            <a:pPr indent="0" marL="0">
              <a:buNone/>
            </a:pPr>
            <a:r>
              <a:rPr lang="en-US" sz="1900" b="1" dirty="0">
                <a:solidFill>
                  <a:srgbClr val="128C8C"/>
                </a:solidFill>
                <a:latin typeface="Times New Roman" pitchFamily="34" charset="0"/>
                <a:ea typeface="Times New Roman" pitchFamily="34" charset="-122"/>
                <a:cs typeface="Times New Roman" pitchFamily="34" charset="-120"/>
              </a:rPr>
              <a:t>Reliability detection</a:t>
            </a:r>
            <a:endParaRPr lang="en-US" sz="1600" dirty="0"/>
          </a:p>
          <a:p>
            <a:pPr indent="0" marL="0">
              <a:buNone/>
            </a:pPr>
            <a:r>
              <a:rPr lang="en-US" sz="1600" dirty="0">
                <a:solidFill>
                  <a:srgbClr val="1A1A1A"/>
                </a:solidFill>
                <a:latin typeface="Times New Roman" pitchFamily="34" charset="0"/>
                <a:ea typeface="Times New Roman" pitchFamily="34" charset="-122"/>
                <a:cs typeface="Times New Roman" pitchFamily="34" charset="-120"/>
              </a:rPr>
              <a:t>Precision, recall, F1, AUROC for failure detection</a:t>
            </a:r>
            <a:endParaRPr lang="en-US" sz="1600" dirty="0"/>
          </a:p>
        </p:txBody>
      </p:sp>
      <p:sp>
        <p:nvSpPr>
          <p:cNvPr id="9" name="Shape 5"/>
          <p:cNvSpPr/>
          <p:nvPr/>
        </p:nvSpPr>
        <p:spPr>
          <a:xfrm>
            <a:off x="8147304" y="4480560"/>
            <a:ext cx="3721608" cy="1965960"/>
          </a:xfrm>
          <a:prstGeom prst="roundRect">
            <a:avLst>
              <a:gd name="adj" fmla="val 4651"/>
            </a:avLst>
          </a:prstGeom>
          <a:solidFill>
            <a:srgbClr val="FFFFFF"/>
          </a:solidFill>
          <a:ln w="15875">
            <a:solidFill>
              <a:srgbClr val="E08A00"/>
            </a:solidFill>
            <a:prstDash val="solid"/>
          </a:ln>
        </p:spPr>
      </p:sp>
      <p:sp>
        <p:nvSpPr>
          <p:cNvPr id="10" name="Text 6"/>
          <p:cNvSpPr txBox="1"/>
          <p:nvPr/>
        </p:nvSpPr>
        <p:spPr>
          <a:xfrm>
            <a:off x="8284464" y="4553712"/>
            <a:ext cx="3447288" cy="1828800"/>
          </a:xfrm>
          <a:prstGeom prst="rect">
            <a:avLst/>
          </a:prstGeom>
          <a:noFill/>
          <a:ln/>
        </p:spPr>
        <p:txBody>
          <a:bodyPr wrap="square" lIns="63500" tIns="63500" rIns="63500" bIns="63500" rtlCol="0" anchor="t"/>
          <a:lstStyle/>
          <a:p>
            <a:pPr indent="0" marL="0">
              <a:buNone/>
            </a:pPr>
            <a:r>
              <a:rPr lang="en-US" sz="1900" b="1" dirty="0">
                <a:solidFill>
                  <a:srgbClr val="E08A00"/>
                </a:solidFill>
                <a:latin typeface="Times New Roman" pitchFamily="34" charset="0"/>
                <a:ea typeface="Times New Roman" pitchFamily="34" charset="-122"/>
                <a:cs typeface="Times New Roman" pitchFamily="34" charset="-120"/>
              </a:rPr>
              <a:t>Protocol</a:t>
            </a:r>
            <a:endParaRPr lang="en-US" sz="1600" dirty="0"/>
          </a:p>
          <a:p>
            <a:pPr indent="0" marL="0">
              <a:buNone/>
            </a:pPr>
            <a:r>
              <a:rPr lang="en-US" sz="1600" dirty="0">
                <a:solidFill>
                  <a:srgbClr val="1A1A1A"/>
                </a:solidFill>
                <a:latin typeface="Times New Roman" pitchFamily="34" charset="0"/>
                <a:ea typeface="Times New Roman" pitchFamily="34" charset="-122"/>
                <a:cs typeface="Times New Roman" pitchFamily="34" charset="-120"/>
              </a:rPr>
              <a:t>Patient-level splits, training-only preprocessing, no future-data leakage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Novelty Statement</a:t>
            </a:r>
            <a:endParaRPr lang="en-US" sz="2400" dirty="0"/>
          </a:p>
        </p:txBody>
      </p:sp>
      <p:sp>
        <p:nvSpPr>
          <p:cNvPr id="4" name="Shape 1"/>
          <p:cNvSpPr/>
          <p:nvPr/>
        </p:nvSpPr>
        <p:spPr>
          <a:xfrm>
            <a:off x="329184" y="1783080"/>
            <a:ext cx="11530584" cy="1143000"/>
          </a:xfrm>
          <a:prstGeom prst="roundRect">
            <a:avLst>
              <a:gd name="adj" fmla="val 8000"/>
            </a:avLst>
          </a:prstGeom>
          <a:solidFill>
            <a:srgbClr val="EEF3FC"/>
          </a:solidFill>
          <a:ln w="15875">
            <a:solidFill>
              <a:srgbClr val="0033CC"/>
            </a:solidFill>
            <a:prstDash val="solid"/>
          </a:ln>
        </p:spPr>
      </p:sp>
      <p:sp>
        <p:nvSpPr>
          <p:cNvPr id="5" name="Text 2"/>
          <p:cNvSpPr txBox="1"/>
          <p:nvPr/>
        </p:nvSpPr>
        <p:spPr>
          <a:xfrm>
            <a:off x="502920" y="1783080"/>
            <a:ext cx="11155680" cy="1143000"/>
          </a:xfrm>
          <a:prstGeom prst="rect">
            <a:avLst/>
          </a:prstGeom>
          <a:noFill/>
          <a:ln/>
        </p:spPr>
        <p:txBody>
          <a:bodyPr wrap="square" lIns="63500" tIns="63500" rIns="63500" bIns="63500" rtlCol="0" anchor="ctr"/>
          <a:lstStyle/>
          <a:p>
            <a:pPr indent="0" marL="0">
              <a:buNone/>
            </a:pPr>
            <a:r>
              <a:rPr lang="en-US" sz="1900" b="1" dirty="0">
                <a:solidFill>
                  <a:srgbClr val="D40000"/>
                </a:solidFill>
                <a:latin typeface="Times New Roman" pitchFamily="34" charset="0"/>
                <a:ea typeface="Times New Roman" pitchFamily="34" charset="-122"/>
                <a:cs typeface="Times New Roman" pitchFamily="34" charset="-120"/>
              </a:rPr>
              <a:t>Novelty: </a:t>
            </a:r>
            <a:pPr indent="0" marL="0">
              <a:buNone/>
            </a:pPr>
            <a:r>
              <a:rPr lang="en-US" sz="1900" dirty="0">
                <a:solidFill>
                  <a:srgbClr val="1A1A1A"/>
                </a:solidFill>
                <a:latin typeface="Times New Roman" pitchFamily="34" charset="0"/>
                <a:ea typeface="Times New Roman" pitchFamily="34" charset="-122"/>
                <a:cs typeface="Times New Roman" pitchFamily="34" charset="-120"/>
              </a:rPr>
              <a:t>the first systematic reliability evaluation framework for SHAP explanations in early sepsis prediction, with detection, diagnosis, mitigation and explanation-level abstention.</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9184" y="3154680"/>
          <a:ext cx="11521440" cy="914400"/>
        </p:xfrm>
        <a:graphic>
          <a:graphicData uri="http://schemas.openxmlformats.org/drawingml/2006/table">
            <a:tbl>
              <a:tblPr/>
              <a:tblGrid>
                <a:gridCol w="3840480"/>
                <a:gridCol w="7680960"/>
              </a:tblGrid>
              <a:tr h="411480">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Existing work</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What is missing</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r>
              <a:tr h="457200">
                <a:tc>
                  <a:txBody>
                    <a:bodyPr/>
                    <a:lstStyle/>
                    <a:p>
                      <a:pPr indent="0" marL="0">
                        <a:buNone/>
                      </a:pPr>
                      <a:r>
                        <a:rPr lang="en-US" sz="1500" b="1" dirty="0">
                          <a:solidFill>
                            <a:srgbClr val="0033CC"/>
                          </a:solidFill>
                          <a:latin typeface="Times New Roman" pitchFamily="34" charset="0"/>
                          <a:ea typeface="Times New Roman" pitchFamily="34" charset="-122"/>
                          <a:cs typeface="Times New Roman" pitchFamily="34" charset="-120"/>
                        </a:rPr>
                        <a:t>Systematic reviews</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Times New Roman" pitchFamily="34" charset="0"/>
                          <a:ea typeface="Times New Roman" pitchFamily="34" charset="-122"/>
                          <a:cs typeface="Times New Roman" pitchFamily="34" charset="-120"/>
                        </a:rPr>
                        <a:t>Only point out the problem, no solution</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0033CC"/>
                          </a:solidFill>
                          <a:latin typeface="Times New Roman" pitchFamily="34" charset="0"/>
                          <a:ea typeface="Times New Roman" pitchFamily="34" charset="-122"/>
                          <a:cs typeface="Times New Roman" pitchFamily="34" charset="-120"/>
                        </a:rPr>
                        <a:t>Loss landscape research</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500" dirty="0">
                          <a:solidFill>
                            <a:srgbClr val="1A1A1A"/>
                          </a:solidFill>
                          <a:latin typeface="Times New Roman" pitchFamily="34" charset="0"/>
                          <a:ea typeface="Times New Roman" pitchFamily="34" charset="-122"/>
                          <a:cs typeface="Times New Roman" pitchFamily="34" charset="-120"/>
                        </a:rPr>
                        <a:t>Uses general data, not sepsis or time-series</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r h="457200">
                <a:tc>
                  <a:txBody>
                    <a:bodyPr/>
                    <a:lstStyle/>
                    <a:p>
                      <a:pPr indent="0" marL="0">
                        <a:buNone/>
                      </a:pPr>
                      <a:r>
                        <a:rPr lang="en-US" sz="1500" b="1" dirty="0">
                          <a:solidFill>
                            <a:srgbClr val="0033CC"/>
                          </a:solidFill>
                          <a:latin typeface="Times New Roman" pitchFamily="34" charset="0"/>
                          <a:ea typeface="Times New Roman" pitchFamily="34" charset="-122"/>
                          <a:cs typeface="Times New Roman" pitchFamily="34" charset="-120"/>
                        </a:rPr>
                        <a:t>LSTM-GAT prediction</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Times New Roman" pitchFamily="34" charset="0"/>
                          <a:ea typeface="Times New Roman" pitchFamily="34" charset="-122"/>
                          <a:cs typeface="Times New Roman" pitchFamily="34" charset="-120"/>
                        </a:rPr>
                        <a:t>No reliability evaluation</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0033CC"/>
                          </a:solidFill>
                          <a:latin typeface="Times New Roman" pitchFamily="34" charset="0"/>
                          <a:ea typeface="Times New Roman" pitchFamily="34" charset="-122"/>
                          <a:cs typeface="Times New Roman" pitchFamily="34" charset="-120"/>
                        </a:rPr>
                        <a:t>ACXAI (2026)</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500" dirty="0">
                          <a:solidFill>
                            <a:srgbClr val="1A1A1A"/>
                          </a:solidFill>
                          <a:latin typeface="Times New Roman" pitchFamily="34" charset="0"/>
                          <a:ea typeface="Times New Roman" pitchFamily="34" charset="-122"/>
                          <a:cs typeface="Times New Roman" pitchFamily="34" charset="-120"/>
                        </a:rPr>
                        <a:t>Focuses on generating explanations, not detecting unreliable ones; not sepsis</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r h="457200">
                <a:tc>
                  <a:txBody>
                    <a:bodyPr/>
                    <a:lstStyle/>
                    <a:p>
                      <a:pPr indent="0" marL="0">
                        <a:buNone/>
                      </a:pPr>
                      <a:r>
                        <a:rPr lang="en-US" sz="1500" b="1" dirty="0">
                          <a:solidFill>
                            <a:srgbClr val="0033CC"/>
                          </a:solidFill>
                          <a:latin typeface="Times New Roman" pitchFamily="34" charset="0"/>
                          <a:ea typeface="Times New Roman" pitchFamily="34" charset="-122"/>
                          <a:cs typeface="Times New Roman" pitchFamily="34" charset="-120"/>
                        </a:rPr>
                        <a:t>ReCalX (2025)</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Times New Roman" pitchFamily="34" charset="0"/>
                          <a:ea typeface="Times New Roman" pitchFamily="34" charset="-122"/>
                          <a:cs typeface="Times New Roman" pitchFamily="34" charset="-120"/>
                        </a:rPr>
                        <a:t>Fixes only one failure mode</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0033CC"/>
                          </a:solidFill>
                          <a:latin typeface="Times New Roman" pitchFamily="34" charset="0"/>
                          <a:ea typeface="Times New Roman" pitchFamily="34" charset="-122"/>
                          <a:cs typeface="Times New Roman" pitchFamily="34" charset="-120"/>
                        </a:rPr>
                        <a:t>Attribution Impossibility</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indent="0" marL="0">
                        <a:buNone/>
                      </a:pPr>
                      <a:r>
                        <a:rPr lang="en-US" sz="1500" dirty="0">
                          <a:solidFill>
                            <a:srgbClr val="1A1A1A"/>
                          </a:solidFill>
                          <a:latin typeface="Times New Roman" pitchFamily="34" charset="0"/>
                          <a:ea typeface="Times New Roman" pitchFamily="34" charset="-122"/>
                          <a:cs typeface="Times New Roman" pitchFamily="34" charset="-120"/>
                        </a:rPr>
                        <a:t>Theory only, no clinical framework</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3017520" y="1005840"/>
            <a:ext cx="7644384" cy="502920"/>
          </a:xfrm>
          <a:prstGeom prst="rect">
            <a:avLst/>
          </a:prstGeom>
          <a:noFill/>
          <a:ln/>
        </p:spPr>
        <p:txBody>
          <a:bodyPr wrap="square" lIns="0" tIns="0" rIns="0" bIns="0" rtlCol="0" anchor="b"/>
          <a:lstStyle/>
          <a:p>
            <a:pPr algn="r" indent="0" marL="0">
              <a:buNone/>
            </a:pPr>
            <a:r>
              <a:rPr lang="en-US" sz="2400" dirty="0">
                <a:solidFill>
                  <a:srgbClr val="D40000"/>
                </a:solidFill>
                <a:latin typeface="Times New Roman" pitchFamily="34" charset="0"/>
                <a:ea typeface="Times New Roman" pitchFamily="34" charset="-122"/>
                <a:cs typeface="Times New Roman" pitchFamily="34" charset="-120"/>
              </a:rPr>
              <a:t>Key References</a:t>
            </a:r>
            <a:endParaRPr lang="en-US" sz="2400" dirty="0"/>
          </a:p>
        </p:txBody>
      </p:sp>
      <p:sp>
        <p:nvSpPr>
          <p:cNvPr id="4" name="Shape 1"/>
          <p:cNvSpPr/>
          <p:nvPr/>
        </p:nvSpPr>
        <p:spPr>
          <a:xfrm>
            <a:off x="329184" y="1783080"/>
            <a:ext cx="6675120" cy="4572000"/>
          </a:xfrm>
          <a:prstGeom prst="roundRect">
            <a:avLst>
              <a:gd name="adj" fmla="val 2000"/>
            </a:avLst>
          </a:prstGeom>
          <a:solidFill>
            <a:srgbClr val="F0F0F0"/>
          </a:solidFill>
          <a:ln w="15875">
            <a:solidFill>
              <a:srgbClr val="2B3A6B"/>
            </a:solidFill>
            <a:prstDash val="solid"/>
          </a:ln>
        </p:spPr>
      </p:sp>
      <p:sp>
        <p:nvSpPr>
          <p:cNvPr id="5" name="Text 2"/>
          <p:cNvSpPr txBox="1"/>
          <p:nvPr/>
        </p:nvSpPr>
        <p:spPr>
          <a:xfrm>
            <a:off x="329184" y="1856232"/>
            <a:ext cx="6675120" cy="457200"/>
          </a:xfrm>
          <a:prstGeom prst="rect">
            <a:avLst/>
          </a:prstGeom>
          <a:noFill/>
          <a:ln/>
        </p:spPr>
        <p:txBody>
          <a:bodyPr wrap="square" lIns="63500" tIns="63500" rIns="63500" bIns="63500" rtlCol="0" anchor="t"/>
          <a:lstStyle/>
          <a:p>
            <a:pPr algn="ctr" indent="0" marL="0">
              <a:buNone/>
            </a:pPr>
            <a:r>
              <a:rPr lang="en-US" sz="1900" b="1" dirty="0">
                <a:solidFill>
                  <a:srgbClr val="1A1A1A"/>
                </a:solidFill>
                <a:latin typeface="Times New Roman" pitchFamily="34" charset="0"/>
                <a:ea typeface="Times New Roman" pitchFamily="34" charset="-122"/>
                <a:cs typeface="Times New Roman" pitchFamily="34" charset="-120"/>
              </a:rPr>
              <a:t>Papers</a:t>
            </a:r>
            <a:endParaRPr lang="en-US" sz="1900" dirty="0"/>
          </a:p>
        </p:txBody>
      </p:sp>
      <p:sp>
        <p:nvSpPr>
          <p:cNvPr id="6" name="Text 3"/>
          <p:cNvSpPr txBox="1"/>
          <p:nvPr/>
        </p:nvSpPr>
        <p:spPr>
          <a:xfrm>
            <a:off x="457200" y="2331720"/>
            <a:ext cx="6446520" cy="3977640"/>
          </a:xfrm>
          <a:prstGeom prst="rect">
            <a:avLst/>
          </a:prstGeom>
          <a:noFill/>
          <a:ln/>
        </p:spPr>
        <p:txBody>
          <a:bodyPr wrap="square" lIns="63500" tIns="63500" rIns="63500" bIns="63500" rtlCol="0" anchor="t"/>
          <a:lstStyle/>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Huang &amp; Marques-Silva (2024). On the failings of Shapley values for explainability. IJAR</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Sundararajan &amp; Najmi (2020). The Many Shapley Values for Model Explanation. ICML</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Kumar et al. (2020). Problems with Shapley-value-based explanations. ICML</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Aas et al. (2021). Explaining individual predictions when features are dependent</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Zhao et al. (2024). Error Analysis of Shapley Value-Based Model Explanations</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Hu et al. (2024). Manifold-based Shapley explanations</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UbiQTree (2025). Uncertainty quantification in XAI with tree ensembles</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Khorram &amp; Kouchaki (2026). LSTM-GAT for PhysioNet 2019. BMJ Health &amp; Care Informatics</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MIMIC-Sepsis Benchmark (2025). arXiv:2505.17435</a:t>
            </a:r>
            <a:endParaRPr lang="en-US" sz="1300" dirty="0"/>
          </a:p>
        </p:txBody>
      </p:sp>
      <p:sp>
        <p:nvSpPr>
          <p:cNvPr id="7" name="Shape 4"/>
          <p:cNvSpPr/>
          <p:nvPr/>
        </p:nvSpPr>
        <p:spPr>
          <a:xfrm>
            <a:off x="7178040" y="1783080"/>
            <a:ext cx="4681728" cy="4572000"/>
          </a:xfrm>
          <a:prstGeom prst="roundRect">
            <a:avLst>
              <a:gd name="adj" fmla="val 2000"/>
            </a:avLst>
          </a:prstGeom>
          <a:solidFill>
            <a:srgbClr val="F0F0F0"/>
          </a:solidFill>
          <a:ln w="15875">
            <a:solidFill>
              <a:srgbClr val="2B3A6B"/>
            </a:solidFill>
            <a:prstDash val="solid"/>
          </a:ln>
        </p:spPr>
      </p:sp>
      <p:sp>
        <p:nvSpPr>
          <p:cNvPr id="8" name="Text 5"/>
          <p:cNvSpPr txBox="1"/>
          <p:nvPr/>
        </p:nvSpPr>
        <p:spPr>
          <a:xfrm>
            <a:off x="7178040" y="1856232"/>
            <a:ext cx="4681728" cy="457200"/>
          </a:xfrm>
          <a:prstGeom prst="rect">
            <a:avLst/>
          </a:prstGeom>
          <a:noFill/>
          <a:ln/>
        </p:spPr>
        <p:txBody>
          <a:bodyPr wrap="square" lIns="63500" tIns="63500" rIns="63500" bIns="63500" rtlCol="0" anchor="t"/>
          <a:lstStyle/>
          <a:p>
            <a:pPr algn="ctr" indent="0" marL="0">
              <a:buNone/>
            </a:pPr>
            <a:r>
              <a:rPr lang="en-US" sz="1900" b="1" dirty="0">
                <a:solidFill>
                  <a:srgbClr val="1A1A1A"/>
                </a:solidFill>
                <a:latin typeface="Times New Roman" pitchFamily="34" charset="0"/>
                <a:ea typeface="Times New Roman" pitchFamily="34" charset="-122"/>
                <a:cs typeface="Times New Roman" pitchFamily="34" charset="-120"/>
              </a:rPr>
              <a:t>Tools and datasets</a:t>
            </a:r>
            <a:endParaRPr lang="en-US" sz="1900" dirty="0"/>
          </a:p>
        </p:txBody>
      </p:sp>
      <p:sp>
        <p:nvSpPr>
          <p:cNvPr id="9" name="Text 6"/>
          <p:cNvSpPr txBox="1"/>
          <p:nvPr/>
        </p:nvSpPr>
        <p:spPr>
          <a:xfrm>
            <a:off x="7315200" y="2331720"/>
            <a:ext cx="4434840" cy="3977640"/>
          </a:xfrm>
          <a:prstGeom prst="rect">
            <a:avLst/>
          </a:prstGeom>
          <a:noFill/>
          <a:ln/>
        </p:spPr>
        <p:txBody>
          <a:bodyPr wrap="square" lIns="63500" tIns="63500" rIns="63500" bIns="63500" rtlCol="0" anchor="t"/>
          <a:lstStyle/>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SHAP: github.com/shap/shap</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TimeSHAP: github.com/feedzai/timeshap</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Latent SHAP: github.com/Teriri1999/Latent-SHAP</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UbiQTree: github.com/dubeyakshat07/UBiQTree</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Captum: captum.ai</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PhysioNet 2019: physionet.org/content/challenge-2019/1.0.0/</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MIMIC-IV: physionet.org/content/mimiciv/</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3" name="Image 0" descr="/home/claude/ref/ppt/media/image1.png">    </p:cNvPr>
          <p:cNvPicPr>
            <a:picLocks noChangeAspect="1"/>
          </p:cNvPicPr>
          <p:nvPr/>
        </p:nvPicPr>
        <p:blipFill>
          <a:blip r:embed="rId1"/>
          <a:stretch>
            <a:fillRect/>
          </a:stretch>
        </p:blipFill>
        <p:spPr>
          <a:xfrm>
            <a:off x="10332720" y="320040"/>
            <a:ext cx="1554480" cy="795528"/>
          </a:xfrm>
          <a:prstGeom prst="rect">
            <a:avLst/>
          </a:prstGeom>
        </p:spPr>
      </p:pic>
      <p:sp>
        <p:nvSpPr>
          <p:cNvPr id="4" name="Text 0"/>
          <p:cNvSpPr txBox="1"/>
          <p:nvPr/>
        </p:nvSpPr>
        <p:spPr>
          <a:xfrm>
            <a:off x="1371600" y="2651760"/>
            <a:ext cx="9445752" cy="1188720"/>
          </a:xfrm>
          <a:prstGeom prst="rect">
            <a:avLst/>
          </a:prstGeom>
          <a:noFill/>
          <a:ln/>
        </p:spPr>
        <p:txBody>
          <a:bodyPr wrap="square" lIns="63500" tIns="63500" rIns="63500" bIns="63500" rtlCol="0" anchor="ctr"/>
          <a:lstStyle/>
          <a:p>
            <a:pPr algn="ctr" indent="0" marL="0">
              <a:buNone/>
            </a:pPr>
            <a:r>
              <a:rPr lang="en-US" sz="6000" dirty="0">
                <a:solidFill>
                  <a:srgbClr val="D40000"/>
                </a:solidFill>
                <a:latin typeface="Times New Roman" pitchFamily="34" charset="0"/>
                <a:ea typeface="Times New Roman" pitchFamily="34" charset="-122"/>
                <a:cs typeface="Times New Roman" pitchFamily="34" charset="-120"/>
              </a:rPr>
              <a:t>Thank You</a:t>
            </a:r>
            <a:endParaRPr lang="en-US" sz="6000" dirty="0"/>
          </a:p>
        </p:txBody>
      </p:sp>
      <p:sp>
        <p:nvSpPr>
          <p:cNvPr id="5" name="Text 1"/>
          <p:cNvSpPr txBox="1"/>
          <p:nvPr/>
        </p:nvSpPr>
        <p:spPr>
          <a:xfrm>
            <a:off x="1371600" y="3931920"/>
            <a:ext cx="9445752" cy="640080"/>
          </a:xfrm>
          <a:prstGeom prst="rect">
            <a:avLst/>
          </a:prstGeom>
          <a:noFill/>
          <a:ln/>
        </p:spPr>
        <p:txBody>
          <a:bodyPr wrap="square" lIns="63500" tIns="63500" rIns="63500" bIns="63500" rtlCol="0" anchor="t"/>
          <a:lstStyle/>
          <a:p>
            <a:pPr algn="ctr" indent="0" marL="0">
              <a:buNone/>
            </a:pPr>
            <a:r>
              <a:rPr lang="en-US" sz="2600" i="1" dirty="0">
                <a:solidFill>
                  <a:srgbClr val="0033CC"/>
                </a:solidFill>
                <a:latin typeface="Times New Roman" pitchFamily="34" charset="0"/>
                <a:ea typeface="Times New Roman" pitchFamily="34" charset="-122"/>
                <a:cs typeface="Times New Roman" pitchFamily="34" charset="-120"/>
              </a:rPr>
              <a:t>Questions?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Sepsis Prediction - Capstone Project Approval</dc:title>
  <dc:subject>PptxGenJS Presentation</dc:subject>
  <dc:creator>PptxGenJS</dc:creator>
  <cp:lastModifiedBy>PptxGenJS</cp:lastModifiedBy>
  <cp:revision>1</cp:revision>
  <dcterms:created xsi:type="dcterms:W3CDTF">2026-10-13T11:42:48Z</dcterms:created>
  <dcterms:modified xsi:type="dcterms:W3CDTF">2026-10-13T11:42:48Z</dcterms:modified>
</cp:coreProperties>
</file>