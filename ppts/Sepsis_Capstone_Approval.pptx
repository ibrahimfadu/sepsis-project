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14"/>
    <p:sldId id="270"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A53A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819962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We are presenting our capstone on early sepsis prediction, comparing ensemble and deep learning models and adding a reliability layer that checks whether SHAP explanations can be trusted.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talk covers the problem and scope, background and existing work, our approach, applications, deliverables, timeline, team effort and datasets.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Sepsis needs early prediction, and models are good at it. The gaps are an unfair model comparison and explanations nobody checks. Our objective answers both.</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stay inside one dataset, three models and three explainers. The layer wraps around existing models. Perfect reliability is impossible under collinearity, so detection is the right goal.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problem: models predict well, but the explanations behind them are fragile. A clinician can see a different top feature after retraining while the prediction does not change.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Existing work either predicts well without checking explanations, or shows SHAP can fail without any sepsis framework. Our contribution is the combination.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Patient data flows through the prediction models and SHAP as usual. Our reliability layer, the four blue boxes, then checks the explanation and either passes it or warns the clinician.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detection metrics. Stability retrains with 10 seeds, faithfulness compares SHAP with Integrated Gradients, robustness perturbs inputs, and temporal stability checks LSTM time windows.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failure mode has its own diagnosis and its own fix. If the reliability score still stays below 0.5, we abstain at the explanation level and tell the clinician to use judgment.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Clinicians get a trust label with each score, hospitals can audit models, researchers and regulators get quantitative evidence, and the pattern can be reused for other clinical tasks.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Capstone-I builds the foundation, Capstone-II delivers the core reliability detector, and Capstone-III completes the evaluation and the paper.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plan runs from September 2026 to June 2027. Early months cover the problem, literature and baselines, the middle covers reliability metrics and labels, and the last months cover the detector, mitigation and full experiments.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PhysioNet 2019 is the primary dataset, MIMIC-IV is external validation if feasible, and our own reliability annotations are an original contribution. Patient-level splits prevent leakage.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We compare ensemble and deep learning models fairly, and we check whether SHAP explanations can be trusted, abstaining when they cannot. We are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pic>
        <p:nvPicPr>
          <p:cNvPr id="2" name="Image 0" descr="/home/claude/ref/ppt/media/image1.png"/>
          <p:cNvPicPr>
            <a:picLocks noChangeAspect="1"/>
          </p:cNvPicPr>
          <p:nvPr/>
        </p:nvPicPr>
        <p:blipFill>
          <a:blip r:embed="rId2"/>
          <a:stretch>
            <a:fillRect/>
          </a:stretch>
        </p:blipFill>
        <p:spPr>
          <a:xfrm>
            <a:off x="10607040" y="274320"/>
            <a:ext cx="1280160" cy="658368"/>
          </a:xfrm>
          <a:prstGeom prst="rect">
            <a:avLst/>
          </a:prstGeom>
        </p:spPr>
      </p:pic>
      <p:sp>
        <p:nvSpPr>
          <p:cNvPr id="3" name="Shape 0"/>
          <p:cNvSpPr/>
          <p:nvPr/>
        </p:nvSpPr>
        <p:spPr>
          <a:xfrm>
            <a:off x="3044952" y="1581912"/>
            <a:ext cx="7616952" cy="36576"/>
          </a:xfrm>
          <a:prstGeom prst="rect">
            <a:avLst/>
          </a:prstGeom>
          <a:solidFill>
            <a:srgbClr val="2CC5C5"/>
          </a:solidFill>
          <a:ln/>
        </p:spPr>
      </p:sp>
      <p:sp>
        <p:nvSpPr>
          <p:cNvPr id="4" name="Text 1"/>
          <p:cNvSpPr>
            <a:spLocks noGrp="1"/>
          </p:cNvSpPr>
          <p:nvPr>
            <p:ph type="title" idx="102" hasCustomPrompt="1"/>
          </p:nvPr>
        </p:nvSpPr>
        <p:spPr>
          <a:xfrm>
            <a:off x="3017520" y="1005840"/>
            <a:ext cx="7644384" cy="502920"/>
          </a:xfrm>
          <a:prstGeom prst="rect">
            <a:avLst/>
          </a:prstGeom>
          <a:noFill/>
          <a:ln/>
        </p:spPr>
        <p:txBody>
          <a:bodyPr wrap="square" rtlCol="0"/>
          <a:lstStyle>
            <a:lvl1pPr marL="0" indent="0" algn="r">
              <a:buNone/>
              <a:defRPr lang="en-US" sz="2400" dirty="0">
                <a:solidFill>
                  <a:srgbClr val="D40000"/>
                </a:solidFill>
                <a:latin typeface="Times New Roman" pitchFamily="34" charset="0"/>
                <a:ea typeface="Times New Roman" pitchFamily="34" charset="-122"/>
                <a:cs typeface="Times New Roman" pitchFamily="34" charset="-120"/>
              </a:defRPr>
            </a:lvl1pPr>
          </a:lstStyle>
          <a:p>
            <a:pPr marL="0" indent="0" algn="r">
              <a:buNone/>
            </a:pPr>
            <a:endParaRPr lang="en-US" sz="24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home/claude/ref/ppt/media/image1.png"/>
          <p:cNvPicPr>
            <a:picLocks noChangeAspect="1"/>
          </p:cNvPicPr>
          <p:nvPr/>
        </p:nvPicPr>
        <p:blipFill>
          <a:blip r:embed="rId3"/>
          <a:stretch>
            <a:fillRect/>
          </a:stretch>
        </p:blipFill>
        <p:spPr>
          <a:xfrm>
            <a:off x="10332720" y="320040"/>
            <a:ext cx="1554480" cy="795528"/>
          </a:xfrm>
          <a:prstGeom prst="rect">
            <a:avLst/>
          </a:prstGeom>
        </p:spPr>
      </p:pic>
      <p:sp>
        <p:nvSpPr>
          <p:cNvPr id="4" name="Text 0"/>
          <p:cNvSpPr txBox="1"/>
          <p:nvPr/>
        </p:nvSpPr>
        <p:spPr>
          <a:xfrm>
            <a:off x="1371600" y="914400"/>
            <a:ext cx="9601200" cy="640080"/>
          </a:xfrm>
          <a:prstGeom prst="rect">
            <a:avLst/>
          </a:prstGeom>
          <a:noFill/>
          <a:ln/>
        </p:spPr>
        <p:txBody>
          <a:bodyPr wrap="square" lIns="63500" tIns="63500" rIns="63500" bIns="63500" rtlCol="0" anchor="ctr"/>
          <a:lstStyle/>
          <a:p>
            <a:pPr marL="0" indent="0">
              <a:buNone/>
            </a:pPr>
            <a:r>
              <a:rPr lang="en-US" sz="3200" b="1" dirty="0">
                <a:solidFill>
                  <a:srgbClr val="D40000"/>
                </a:solidFill>
                <a:latin typeface="Times New Roman" pitchFamily="34" charset="0"/>
                <a:ea typeface="Times New Roman" pitchFamily="34" charset="-122"/>
                <a:cs typeface="Times New Roman" pitchFamily="34" charset="-120"/>
              </a:rPr>
              <a:t>UE24CS320A – Capstone Project Approval</a:t>
            </a:r>
            <a:endParaRPr lang="en-US" sz="3200" dirty="0"/>
          </a:p>
        </p:txBody>
      </p:sp>
      <p:sp>
        <p:nvSpPr>
          <p:cNvPr id="5" name="Text 1"/>
          <p:cNvSpPr txBox="1"/>
          <p:nvPr/>
        </p:nvSpPr>
        <p:spPr>
          <a:xfrm>
            <a:off x="1371600" y="2011680"/>
            <a:ext cx="2377440" cy="457200"/>
          </a:xfrm>
          <a:prstGeom prst="rect">
            <a:avLst/>
          </a:prstGeom>
          <a:noFill/>
          <a:ln/>
        </p:spPr>
        <p:txBody>
          <a:bodyPr wrap="square" lIns="63500" tIns="63500" rIns="63500" bIns="63500" rtlCol="0" anchor="t"/>
          <a:lstStyle/>
          <a:p>
            <a:pPr marL="0" indent="0">
              <a:buNone/>
            </a:pPr>
            <a:r>
              <a:rPr lang="en-US" sz="2400" b="1" dirty="0">
                <a:solidFill>
                  <a:srgbClr val="0033CC"/>
                </a:solidFill>
                <a:latin typeface="Times New Roman" pitchFamily="34" charset="0"/>
                <a:ea typeface="Times New Roman" pitchFamily="34" charset="-122"/>
                <a:cs typeface="Times New Roman" pitchFamily="34" charset="-120"/>
              </a:rPr>
              <a:t>Project Title</a:t>
            </a:r>
            <a:endParaRPr lang="en-US" sz="2400" dirty="0"/>
          </a:p>
        </p:txBody>
      </p:sp>
      <p:sp>
        <p:nvSpPr>
          <p:cNvPr id="6" name="Text 2"/>
          <p:cNvSpPr txBox="1"/>
          <p:nvPr/>
        </p:nvSpPr>
        <p:spPr>
          <a:xfrm>
            <a:off x="3749040" y="2011680"/>
            <a:ext cx="274320" cy="457200"/>
          </a:xfrm>
          <a:prstGeom prst="rect">
            <a:avLst/>
          </a:prstGeom>
          <a:noFill/>
          <a:ln/>
        </p:spPr>
        <p:txBody>
          <a:bodyPr wrap="square" lIns="63500" tIns="63500" rIns="63500" bIns="63500" rtlCol="0" anchor="t"/>
          <a:lstStyle/>
          <a:p>
            <a:pPr marL="0" indent="0">
              <a:buNone/>
            </a:pPr>
            <a:r>
              <a:rPr lang="en-US" sz="2400" b="1" dirty="0">
                <a:solidFill>
                  <a:srgbClr val="0033CC"/>
                </a:solidFill>
                <a:latin typeface="Times New Roman" pitchFamily="34" charset="0"/>
                <a:ea typeface="Times New Roman" pitchFamily="34" charset="-122"/>
                <a:cs typeface="Times New Roman" pitchFamily="34" charset="-120"/>
              </a:rPr>
              <a:t>:</a:t>
            </a:r>
            <a:endParaRPr lang="en-US" sz="2400" dirty="0"/>
          </a:p>
        </p:txBody>
      </p:sp>
      <p:sp>
        <p:nvSpPr>
          <p:cNvPr id="7" name="Text 3"/>
          <p:cNvSpPr txBox="1"/>
          <p:nvPr/>
        </p:nvSpPr>
        <p:spPr>
          <a:xfrm>
            <a:off x="4023360" y="2011680"/>
            <a:ext cx="7680960" cy="1234440"/>
          </a:xfrm>
          <a:prstGeom prst="rect">
            <a:avLst/>
          </a:prstGeom>
          <a:noFill/>
          <a:ln/>
        </p:spPr>
        <p:txBody>
          <a:bodyPr wrap="square" lIns="63500" tIns="63500" rIns="63500" bIns="63500" rtlCol="0" anchor="t"/>
          <a:lstStyle/>
          <a:p>
            <a:pPr marL="0" indent="0">
              <a:buNone/>
            </a:pPr>
            <a:r>
              <a:rPr lang="en-US" sz="2400" dirty="0">
                <a:solidFill>
                  <a:srgbClr val="1A1A1A"/>
                </a:solidFill>
                <a:latin typeface="Times New Roman" pitchFamily="34" charset="0"/>
                <a:ea typeface="Times New Roman" pitchFamily="34" charset="-122"/>
                <a:cs typeface="Times New Roman" pitchFamily="34" charset="-120"/>
              </a:rPr>
              <a:t>A Comparative Framework for Early Sepsis Prediction Using Ensemble and Explainable Deep Learning on ICU Data</a:t>
            </a:r>
            <a:endParaRPr lang="en-US" sz="2400" dirty="0"/>
          </a:p>
        </p:txBody>
      </p:sp>
      <p:sp>
        <p:nvSpPr>
          <p:cNvPr id="8" name="Text 4"/>
          <p:cNvSpPr txBox="1"/>
          <p:nvPr/>
        </p:nvSpPr>
        <p:spPr>
          <a:xfrm>
            <a:off x="1371600" y="3383280"/>
            <a:ext cx="2377440" cy="457200"/>
          </a:xfrm>
          <a:prstGeom prst="rect">
            <a:avLst/>
          </a:prstGeom>
          <a:noFill/>
          <a:ln/>
        </p:spPr>
        <p:txBody>
          <a:bodyPr wrap="square" lIns="63500" tIns="63500" rIns="63500" bIns="63500" rtlCol="0" anchor="t"/>
          <a:lstStyle/>
          <a:p>
            <a:pPr marL="0" indent="0">
              <a:buNone/>
            </a:pPr>
            <a:r>
              <a:rPr lang="en-US" sz="2400" b="1" dirty="0">
                <a:solidFill>
                  <a:srgbClr val="0033CC"/>
                </a:solidFill>
                <a:latin typeface="Times New Roman" pitchFamily="34" charset="0"/>
                <a:ea typeface="Times New Roman" pitchFamily="34" charset="-122"/>
                <a:cs typeface="Times New Roman" pitchFamily="34" charset="-120"/>
              </a:rPr>
              <a:t>Project ID</a:t>
            </a:r>
            <a:endParaRPr lang="en-US" sz="2400" dirty="0"/>
          </a:p>
        </p:txBody>
      </p:sp>
      <p:sp>
        <p:nvSpPr>
          <p:cNvPr id="9" name="Text 5"/>
          <p:cNvSpPr txBox="1"/>
          <p:nvPr/>
        </p:nvSpPr>
        <p:spPr>
          <a:xfrm>
            <a:off x="3749040" y="3383280"/>
            <a:ext cx="274320" cy="457200"/>
          </a:xfrm>
          <a:prstGeom prst="rect">
            <a:avLst/>
          </a:prstGeom>
          <a:noFill/>
          <a:ln/>
        </p:spPr>
        <p:txBody>
          <a:bodyPr wrap="square" lIns="63500" tIns="63500" rIns="63500" bIns="63500" rtlCol="0" anchor="t"/>
          <a:lstStyle/>
          <a:p>
            <a:pPr marL="0" indent="0">
              <a:buNone/>
            </a:pPr>
            <a:r>
              <a:rPr lang="en-US" sz="2400" b="1" dirty="0">
                <a:solidFill>
                  <a:srgbClr val="0033CC"/>
                </a:solidFill>
                <a:latin typeface="Times New Roman" pitchFamily="34" charset="0"/>
                <a:ea typeface="Times New Roman" pitchFamily="34" charset="-122"/>
                <a:cs typeface="Times New Roman" pitchFamily="34" charset="-120"/>
              </a:rPr>
              <a:t>:</a:t>
            </a:r>
            <a:endParaRPr lang="en-US" sz="2400" dirty="0"/>
          </a:p>
        </p:txBody>
      </p:sp>
      <p:sp>
        <p:nvSpPr>
          <p:cNvPr id="10" name="Text 6"/>
          <p:cNvSpPr txBox="1"/>
          <p:nvPr/>
        </p:nvSpPr>
        <p:spPr>
          <a:xfrm>
            <a:off x="4023360" y="3383280"/>
            <a:ext cx="7680960" cy="457200"/>
          </a:xfrm>
          <a:prstGeom prst="rect">
            <a:avLst/>
          </a:prstGeom>
          <a:noFill/>
          <a:ln/>
        </p:spPr>
        <p:txBody>
          <a:bodyPr wrap="square" lIns="63500" tIns="63500" rIns="63500" bIns="63500" rtlCol="0" anchor="t"/>
          <a:lstStyle/>
          <a:p>
            <a:pPr marL="0" indent="0">
              <a:buNone/>
            </a:pPr>
            <a:r>
              <a:rPr lang="en-US" sz="2400" dirty="0">
                <a:solidFill>
                  <a:srgbClr val="1A1A1A"/>
                </a:solidFill>
                <a:latin typeface="Times New Roman" pitchFamily="34" charset="0"/>
                <a:ea typeface="Times New Roman" pitchFamily="34" charset="-122"/>
                <a:cs typeface="Times New Roman" pitchFamily="34" charset="-120"/>
              </a:rPr>
              <a:t>186</a:t>
            </a:r>
            <a:endParaRPr lang="en-US" sz="2400" dirty="0"/>
          </a:p>
        </p:txBody>
      </p:sp>
      <p:sp>
        <p:nvSpPr>
          <p:cNvPr id="11" name="Text 7"/>
          <p:cNvSpPr txBox="1"/>
          <p:nvPr/>
        </p:nvSpPr>
        <p:spPr>
          <a:xfrm>
            <a:off x="1371600" y="3886200"/>
            <a:ext cx="2377440" cy="457200"/>
          </a:xfrm>
          <a:prstGeom prst="rect">
            <a:avLst/>
          </a:prstGeom>
          <a:noFill/>
          <a:ln/>
        </p:spPr>
        <p:txBody>
          <a:bodyPr wrap="square" lIns="63500" tIns="63500" rIns="63500" bIns="63500" rtlCol="0" anchor="t"/>
          <a:lstStyle/>
          <a:p>
            <a:pPr marL="0" indent="0">
              <a:buNone/>
            </a:pPr>
            <a:r>
              <a:rPr lang="en-US" sz="2400" b="1" dirty="0">
                <a:solidFill>
                  <a:srgbClr val="0033CC"/>
                </a:solidFill>
                <a:latin typeface="Times New Roman" pitchFamily="34" charset="0"/>
                <a:ea typeface="Times New Roman" pitchFamily="34" charset="-122"/>
                <a:cs typeface="Times New Roman" pitchFamily="34" charset="-120"/>
              </a:rPr>
              <a:t>Project Guide</a:t>
            </a:r>
            <a:endParaRPr lang="en-US" sz="2400" dirty="0"/>
          </a:p>
        </p:txBody>
      </p:sp>
      <p:sp>
        <p:nvSpPr>
          <p:cNvPr id="12" name="Text 8"/>
          <p:cNvSpPr txBox="1"/>
          <p:nvPr/>
        </p:nvSpPr>
        <p:spPr>
          <a:xfrm>
            <a:off x="3749040" y="3886200"/>
            <a:ext cx="274320" cy="457200"/>
          </a:xfrm>
          <a:prstGeom prst="rect">
            <a:avLst/>
          </a:prstGeom>
          <a:noFill/>
          <a:ln/>
        </p:spPr>
        <p:txBody>
          <a:bodyPr wrap="square" lIns="63500" tIns="63500" rIns="63500" bIns="63500" rtlCol="0" anchor="t"/>
          <a:lstStyle/>
          <a:p>
            <a:pPr marL="0" indent="0">
              <a:buNone/>
            </a:pPr>
            <a:r>
              <a:rPr lang="en-US" sz="2400" b="1" dirty="0">
                <a:solidFill>
                  <a:srgbClr val="0033CC"/>
                </a:solidFill>
                <a:latin typeface="Times New Roman" pitchFamily="34" charset="0"/>
                <a:ea typeface="Times New Roman" pitchFamily="34" charset="-122"/>
                <a:cs typeface="Times New Roman" pitchFamily="34" charset="-120"/>
              </a:rPr>
              <a:t>:</a:t>
            </a:r>
            <a:endParaRPr lang="en-US" sz="2400" dirty="0"/>
          </a:p>
        </p:txBody>
      </p:sp>
      <p:sp>
        <p:nvSpPr>
          <p:cNvPr id="13" name="Text 9"/>
          <p:cNvSpPr txBox="1"/>
          <p:nvPr/>
        </p:nvSpPr>
        <p:spPr>
          <a:xfrm>
            <a:off x="4023360" y="3886200"/>
            <a:ext cx="7680960" cy="457200"/>
          </a:xfrm>
          <a:prstGeom prst="rect">
            <a:avLst/>
          </a:prstGeom>
          <a:noFill/>
          <a:ln/>
        </p:spPr>
        <p:txBody>
          <a:bodyPr wrap="square" lIns="63500" tIns="63500" rIns="63500" bIns="63500" rtlCol="0" anchor="t"/>
          <a:lstStyle/>
          <a:p>
            <a:pPr marL="0" indent="0">
              <a:buNone/>
            </a:pPr>
            <a:r>
              <a:rPr lang="en-US" sz="2400" dirty="0">
                <a:solidFill>
                  <a:srgbClr val="1A1A1A"/>
                </a:solidFill>
                <a:latin typeface="Times New Roman" pitchFamily="34" charset="0"/>
                <a:ea typeface="Times New Roman" pitchFamily="34" charset="-122"/>
                <a:cs typeface="Times New Roman" pitchFamily="34" charset="-120"/>
              </a:rPr>
              <a:t>Prof. Lakshmi Satya Vani N</a:t>
            </a:r>
            <a:endParaRPr lang="en-US" sz="2400" dirty="0"/>
          </a:p>
        </p:txBody>
      </p:sp>
      <p:sp>
        <p:nvSpPr>
          <p:cNvPr id="14" name="Text 10"/>
          <p:cNvSpPr txBox="1"/>
          <p:nvPr/>
        </p:nvSpPr>
        <p:spPr>
          <a:xfrm>
            <a:off x="1371600" y="4434840"/>
            <a:ext cx="2377440" cy="457200"/>
          </a:xfrm>
          <a:prstGeom prst="rect">
            <a:avLst/>
          </a:prstGeom>
          <a:noFill/>
          <a:ln/>
        </p:spPr>
        <p:txBody>
          <a:bodyPr wrap="square" lIns="63500" tIns="63500" rIns="63500" bIns="63500" rtlCol="0" anchor="t"/>
          <a:lstStyle/>
          <a:p>
            <a:pPr marL="0" indent="0">
              <a:buNone/>
            </a:pPr>
            <a:r>
              <a:rPr lang="en-US" sz="2400" b="1" dirty="0">
                <a:solidFill>
                  <a:srgbClr val="0033CC"/>
                </a:solidFill>
                <a:latin typeface="Times New Roman" pitchFamily="34" charset="0"/>
                <a:ea typeface="Times New Roman" pitchFamily="34" charset="-122"/>
                <a:cs typeface="Times New Roman" pitchFamily="34" charset="-120"/>
              </a:rPr>
              <a:t>Project Team</a:t>
            </a:r>
            <a:endParaRPr lang="en-US" sz="2400" dirty="0"/>
          </a:p>
        </p:txBody>
      </p:sp>
      <p:sp>
        <p:nvSpPr>
          <p:cNvPr id="15" name="Text 11"/>
          <p:cNvSpPr txBox="1"/>
          <p:nvPr/>
        </p:nvSpPr>
        <p:spPr>
          <a:xfrm>
            <a:off x="3749040" y="4434840"/>
            <a:ext cx="274320" cy="457200"/>
          </a:xfrm>
          <a:prstGeom prst="rect">
            <a:avLst/>
          </a:prstGeom>
          <a:noFill/>
          <a:ln/>
        </p:spPr>
        <p:txBody>
          <a:bodyPr wrap="square" lIns="63500" tIns="63500" rIns="63500" bIns="63500" rtlCol="0" anchor="t"/>
          <a:lstStyle/>
          <a:p>
            <a:pPr marL="0" indent="0">
              <a:buNone/>
            </a:pPr>
            <a:r>
              <a:rPr lang="en-US" sz="2400" b="1" dirty="0">
                <a:solidFill>
                  <a:srgbClr val="0033CC"/>
                </a:solidFill>
                <a:latin typeface="Times New Roman" pitchFamily="34" charset="0"/>
                <a:ea typeface="Times New Roman" pitchFamily="34" charset="-122"/>
                <a:cs typeface="Times New Roman" pitchFamily="34" charset="-120"/>
              </a:rPr>
              <a:t>:</a:t>
            </a:r>
            <a:endParaRPr lang="en-US" sz="2400" dirty="0"/>
          </a:p>
        </p:txBody>
      </p:sp>
      <p:sp>
        <p:nvSpPr>
          <p:cNvPr id="16" name="Text 12"/>
          <p:cNvSpPr txBox="1"/>
          <p:nvPr/>
        </p:nvSpPr>
        <p:spPr>
          <a:xfrm>
            <a:off x="4023360" y="4434840"/>
            <a:ext cx="7680960" cy="1645920"/>
          </a:xfrm>
          <a:prstGeom prst="rect">
            <a:avLst/>
          </a:prstGeom>
          <a:noFill/>
          <a:ln/>
        </p:spPr>
        <p:txBody>
          <a:bodyPr wrap="square" lIns="63500" tIns="63500" rIns="63500" bIns="63500" rtlCol="0" anchor="t"/>
          <a:lstStyle/>
          <a:p>
            <a:pPr marL="0" indent="0">
              <a:buNone/>
            </a:pPr>
            <a:r>
              <a:rPr lang="en-US" sz="2400" dirty="0">
                <a:solidFill>
                  <a:srgbClr val="1A1A1A"/>
                </a:solidFill>
                <a:latin typeface="Times New Roman" pitchFamily="34" charset="0"/>
                <a:ea typeface="Times New Roman" pitchFamily="34" charset="-122"/>
                <a:cs typeface="Times New Roman" pitchFamily="34" charset="-120"/>
              </a:rPr>
              <a:t>Kiran BG (PES2UG24CS227),</a:t>
            </a:r>
            <a:endParaRPr lang="en-US" sz="2400" dirty="0"/>
          </a:p>
          <a:p>
            <a:pPr marL="0" indent="0">
              <a:buNone/>
            </a:pPr>
            <a:r>
              <a:rPr lang="en-US" sz="2400" dirty="0">
                <a:solidFill>
                  <a:srgbClr val="1A1A1A"/>
                </a:solidFill>
                <a:latin typeface="Times New Roman" pitchFamily="34" charset="0"/>
                <a:ea typeface="Times New Roman" pitchFamily="34" charset="-122"/>
                <a:cs typeface="Times New Roman" pitchFamily="34" charset="-120"/>
              </a:rPr>
              <a:t>Mohammad Anan (PES2UG24CS278),</a:t>
            </a:r>
            <a:endParaRPr lang="en-US" sz="2400" dirty="0"/>
          </a:p>
          <a:p>
            <a:pPr marL="0" indent="0">
              <a:buNone/>
            </a:pPr>
            <a:r>
              <a:rPr lang="en-US" sz="2400" dirty="0">
                <a:solidFill>
                  <a:srgbClr val="1A1A1A"/>
                </a:solidFill>
                <a:latin typeface="Times New Roman" pitchFamily="34" charset="0"/>
                <a:ea typeface="Times New Roman" pitchFamily="34" charset="-122"/>
                <a:cs typeface="Times New Roman" pitchFamily="34" charset="-120"/>
              </a:rPr>
              <a:t>Ibrahim Khaleel (PES2UG24CS809),</a:t>
            </a:r>
            <a:endParaRPr lang="en-US" sz="2400" dirty="0"/>
          </a:p>
          <a:p>
            <a:pPr marL="0" indent="0">
              <a:buNone/>
            </a:pPr>
            <a:r>
              <a:rPr lang="en-US" sz="2400" dirty="0">
                <a:solidFill>
                  <a:srgbClr val="1A1A1A"/>
                </a:solidFill>
                <a:latin typeface="Times New Roman" pitchFamily="34" charset="0"/>
                <a:ea typeface="Times New Roman" pitchFamily="34" charset="-122"/>
                <a:cs typeface="Times New Roman" pitchFamily="34" charset="-120"/>
              </a:rPr>
              <a:t>Nikhil KR (PES2UG25CS815)</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3017520" y="1005840"/>
            <a:ext cx="7644384" cy="502920"/>
          </a:xfrm>
          <a:prstGeom prst="rect">
            <a:avLst/>
          </a:prstGeom>
          <a:noFill/>
          <a:ln/>
        </p:spPr>
        <p:txBody>
          <a:bodyPr wrap="square" lIns="0" tIns="0" rIns="0" bIns="0" rtlCol="0" anchor="b"/>
          <a:lstStyle/>
          <a:p>
            <a:pPr marL="0" indent="0" algn="r">
              <a:buNone/>
            </a:pPr>
            <a:r>
              <a:rPr lang="en-US" sz="2400" dirty="0">
                <a:solidFill>
                  <a:srgbClr val="D40000"/>
                </a:solidFill>
                <a:latin typeface="Times New Roman" pitchFamily="34" charset="0"/>
                <a:ea typeface="Times New Roman" pitchFamily="34" charset="-122"/>
                <a:cs typeface="Times New Roman" pitchFamily="34" charset="-120"/>
              </a:rPr>
              <a:t>Outline</a:t>
            </a:r>
            <a:endParaRPr lang="en-US" sz="2400" dirty="0"/>
          </a:p>
        </p:txBody>
      </p:sp>
      <p:sp>
        <p:nvSpPr>
          <p:cNvPr id="4" name="Text 1"/>
          <p:cNvSpPr/>
          <p:nvPr/>
        </p:nvSpPr>
        <p:spPr>
          <a:xfrm>
            <a:off x="1188720" y="2011680"/>
            <a:ext cx="502920" cy="502920"/>
          </a:xfrm>
          <a:prstGeom prst="ellipse">
            <a:avLst/>
          </a:prstGeom>
          <a:solidFill>
            <a:srgbClr val="0033CC"/>
          </a:solidFill>
          <a:ln/>
        </p:spPr>
        <p:txBody>
          <a:bodyPr wrap="square" rtlCol="0" anchor="ctr"/>
          <a:lstStyle/>
          <a:p>
            <a:pPr marL="0" indent="0" algn="ctr">
              <a:buNone/>
            </a:pPr>
            <a:r>
              <a:rPr lang="en-US" sz="1800" b="1" dirty="0">
                <a:solidFill>
                  <a:srgbClr val="FFFFFF"/>
                </a:solidFill>
                <a:latin typeface="Times New Roman" pitchFamily="34" charset="0"/>
                <a:ea typeface="Times New Roman" pitchFamily="34" charset="-122"/>
                <a:cs typeface="Times New Roman" pitchFamily="34" charset="-120"/>
              </a:rPr>
              <a:t>1</a:t>
            </a:r>
            <a:endParaRPr lang="en-US" sz="1800" dirty="0"/>
          </a:p>
        </p:txBody>
      </p:sp>
      <p:sp>
        <p:nvSpPr>
          <p:cNvPr id="5" name="Text 2"/>
          <p:cNvSpPr txBox="1"/>
          <p:nvPr/>
        </p:nvSpPr>
        <p:spPr>
          <a:xfrm>
            <a:off x="1874520" y="2011680"/>
            <a:ext cx="4389120" cy="502920"/>
          </a:xfrm>
          <a:prstGeom prst="rect">
            <a:avLst/>
          </a:prstGeom>
          <a:noFill/>
          <a:ln/>
        </p:spPr>
        <p:txBody>
          <a:bodyPr wrap="square" lIns="63500" tIns="63500" rIns="63500" bIns="63500" rtlCol="0" anchor="ctr"/>
          <a:lstStyle/>
          <a:p>
            <a:pPr marL="0" indent="0">
              <a:buNone/>
            </a:pPr>
            <a:r>
              <a:rPr lang="en-US" sz="2000" dirty="0">
                <a:solidFill>
                  <a:srgbClr val="1A1A1A"/>
                </a:solidFill>
                <a:latin typeface="Times New Roman" pitchFamily="34" charset="0"/>
                <a:ea typeface="Times New Roman" pitchFamily="34" charset="-122"/>
                <a:cs typeface="Times New Roman" pitchFamily="34" charset="-120"/>
              </a:rPr>
              <a:t>Problem Statement</a:t>
            </a:r>
            <a:endParaRPr lang="en-US" sz="2000" dirty="0"/>
          </a:p>
        </p:txBody>
      </p:sp>
      <p:sp>
        <p:nvSpPr>
          <p:cNvPr id="6" name="Text 3"/>
          <p:cNvSpPr/>
          <p:nvPr/>
        </p:nvSpPr>
        <p:spPr>
          <a:xfrm>
            <a:off x="1188720" y="2880360"/>
            <a:ext cx="502920" cy="502920"/>
          </a:xfrm>
          <a:prstGeom prst="ellipse">
            <a:avLst/>
          </a:prstGeom>
          <a:solidFill>
            <a:srgbClr val="2CC5C5"/>
          </a:solidFill>
          <a:ln/>
        </p:spPr>
        <p:txBody>
          <a:bodyPr wrap="square" rtlCol="0" anchor="ctr"/>
          <a:lstStyle/>
          <a:p>
            <a:pPr marL="0" indent="0" algn="ctr">
              <a:buNone/>
            </a:pPr>
            <a:r>
              <a:rPr lang="en-US" sz="1800" b="1" dirty="0">
                <a:solidFill>
                  <a:srgbClr val="FFFFFF"/>
                </a:solidFill>
                <a:latin typeface="Times New Roman" pitchFamily="34" charset="0"/>
                <a:ea typeface="Times New Roman" pitchFamily="34" charset="-122"/>
                <a:cs typeface="Times New Roman" pitchFamily="34" charset="-120"/>
              </a:rPr>
              <a:t>2</a:t>
            </a:r>
            <a:endParaRPr lang="en-US" sz="1800" dirty="0"/>
          </a:p>
        </p:txBody>
      </p:sp>
      <p:sp>
        <p:nvSpPr>
          <p:cNvPr id="7" name="Text 4"/>
          <p:cNvSpPr txBox="1"/>
          <p:nvPr/>
        </p:nvSpPr>
        <p:spPr>
          <a:xfrm>
            <a:off x="1874520" y="2880360"/>
            <a:ext cx="4389120" cy="502920"/>
          </a:xfrm>
          <a:prstGeom prst="rect">
            <a:avLst/>
          </a:prstGeom>
          <a:noFill/>
          <a:ln/>
        </p:spPr>
        <p:txBody>
          <a:bodyPr wrap="square" lIns="63500" tIns="63500" rIns="63500" bIns="63500" rtlCol="0" anchor="ctr"/>
          <a:lstStyle/>
          <a:p>
            <a:pPr marL="0" indent="0">
              <a:buNone/>
            </a:pPr>
            <a:r>
              <a:rPr lang="en-US" sz="2000" dirty="0">
                <a:solidFill>
                  <a:srgbClr val="1A1A1A"/>
                </a:solidFill>
                <a:latin typeface="Times New Roman" pitchFamily="34" charset="0"/>
                <a:ea typeface="Times New Roman" pitchFamily="34" charset="-122"/>
                <a:cs typeface="Times New Roman" pitchFamily="34" charset="-120"/>
              </a:rPr>
              <a:t>Scope and Feasibility Study</a:t>
            </a:r>
            <a:endParaRPr lang="en-US" sz="2000" dirty="0"/>
          </a:p>
        </p:txBody>
      </p:sp>
      <p:sp>
        <p:nvSpPr>
          <p:cNvPr id="8" name="Text 5"/>
          <p:cNvSpPr/>
          <p:nvPr/>
        </p:nvSpPr>
        <p:spPr>
          <a:xfrm>
            <a:off x="1188720" y="3749040"/>
            <a:ext cx="502920" cy="502920"/>
          </a:xfrm>
          <a:prstGeom prst="ellipse">
            <a:avLst/>
          </a:prstGeom>
          <a:solidFill>
            <a:srgbClr val="0033CC"/>
          </a:solidFill>
          <a:ln/>
        </p:spPr>
        <p:txBody>
          <a:bodyPr wrap="square" rtlCol="0" anchor="ctr"/>
          <a:lstStyle/>
          <a:p>
            <a:pPr marL="0" indent="0" algn="ctr">
              <a:buNone/>
            </a:pPr>
            <a:r>
              <a:rPr lang="en-US" sz="1800" b="1" dirty="0">
                <a:solidFill>
                  <a:srgbClr val="FFFFFF"/>
                </a:solidFill>
                <a:latin typeface="Times New Roman" pitchFamily="34" charset="0"/>
                <a:ea typeface="Times New Roman" pitchFamily="34" charset="-122"/>
                <a:cs typeface="Times New Roman" pitchFamily="34" charset="-120"/>
              </a:rPr>
              <a:t>3</a:t>
            </a:r>
            <a:endParaRPr lang="en-US" sz="1800" dirty="0"/>
          </a:p>
        </p:txBody>
      </p:sp>
      <p:sp>
        <p:nvSpPr>
          <p:cNvPr id="9" name="Text 6"/>
          <p:cNvSpPr txBox="1"/>
          <p:nvPr/>
        </p:nvSpPr>
        <p:spPr>
          <a:xfrm>
            <a:off x="1874520" y="3749040"/>
            <a:ext cx="4389120" cy="502920"/>
          </a:xfrm>
          <a:prstGeom prst="rect">
            <a:avLst/>
          </a:prstGeom>
          <a:noFill/>
          <a:ln/>
        </p:spPr>
        <p:txBody>
          <a:bodyPr wrap="square" lIns="63500" tIns="63500" rIns="63500" bIns="63500" rtlCol="0" anchor="ctr"/>
          <a:lstStyle/>
          <a:p>
            <a:pPr marL="0" indent="0">
              <a:buNone/>
            </a:pPr>
            <a:r>
              <a:rPr lang="en-US" sz="2000" dirty="0">
                <a:solidFill>
                  <a:srgbClr val="1A1A1A"/>
                </a:solidFill>
                <a:latin typeface="Times New Roman" pitchFamily="34" charset="0"/>
                <a:ea typeface="Times New Roman" pitchFamily="34" charset="-122"/>
                <a:cs typeface="Times New Roman" pitchFamily="34" charset="-120"/>
              </a:rPr>
              <a:t>Background</a:t>
            </a:r>
            <a:endParaRPr lang="en-US" sz="2000" dirty="0"/>
          </a:p>
        </p:txBody>
      </p:sp>
      <p:sp>
        <p:nvSpPr>
          <p:cNvPr id="10" name="Text 7"/>
          <p:cNvSpPr/>
          <p:nvPr/>
        </p:nvSpPr>
        <p:spPr>
          <a:xfrm>
            <a:off x="1188720" y="4617720"/>
            <a:ext cx="502920" cy="502920"/>
          </a:xfrm>
          <a:prstGeom prst="ellipse">
            <a:avLst/>
          </a:prstGeom>
          <a:solidFill>
            <a:srgbClr val="2CC5C5"/>
          </a:solidFill>
          <a:ln/>
        </p:spPr>
        <p:txBody>
          <a:bodyPr wrap="square" rtlCol="0" anchor="ctr"/>
          <a:lstStyle/>
          <a:p>
            <a:pPr marL="0" indent="0" algn="ctr">
              <a:buNone/>
            </a:pPr>
            <a:r>
              <a:rPr lang="en-US" sz="1800" b="1" dirty="0">
                <a:solidFill>
                  <a:srgbClr val="FFFFFF"/>
                </a:solidFill>
                <a:latin typeface="Times New Roman" pitchFamily="34" charset="0"/>
                <a:ea typeface="Times New Roman" pitchFamily="34" charset="-122"/>
                <a:cs typeface="Times New Roman" pitchFamily="34" charset="-120"/>
              </a:rPr>
              <a:t>4</a:t>
            </a:r>
            <a:endParaRPr lang="en-US" sz="1800" dirty="0"/>
          </a:p>
        </p:txBody>
      </p:sp>
      <p:sp>
        <p:nvSpPr>
          <p:cNvPr id="11" name="Text 8"/>
          <p:cNvSpPr txBox="1"/>
          <p:nvPr/>
        </p:nvSpPr>
        <p:spPr>
          <a:xfrm>
            <a:off x="1874520" y="4617720"/>
            <a:ext cx="4389120" cy="502920"/>
          </a:xfrm>
          <a:prstGeom prst="rect">
            <a:avLst/>
          </a:prstGeom>
          <a:noFill/>
          <a:ln/>
        </p:spPr>
        <p:txBody>
          <a:bodyPr wrap="square" lIns="63500" tIns="63500" rIns="63500" bIns="63500" rtlCol="0" anchor="ctr"/>
          <a:lstStyle/>
          <a:p>
            <a:pPr marL="0" indent="0">
              <a:buNone/>
            </a:pPr>
            <a:r>
              <a:rPr lang="en-US" sz="2000" dirty="0">
                <a:solidFill>
                  <a:srgbClr val="1A1A1A"/>
                </a:solidFill>
                <a:latin typeface="Times New Roman" pitchFamily="34" charset="0"/>
                <a:ea typeface="Times New Roman" pitchFamily="34" charset="-122"/>
                <a:cs typeface="Times New Roman" pitchFamily="34" charset="-120"/>
              </a:rPr>
              <a:t>Background Work</a:t>
            </a:r>
            <a:endParaRPr lang="en-US" sz="2000" dirty="0"/>
          </a:p>
        </p:txBody>
      </p:sp>
      <p:sp>
        <p:nvSpPr>
          <p:cNvPr id="12" name="Text 9"/>
          <p:cNvSpPr/>
          <p:nvPr/>
        </p:nvSpPr>
        <p:spPr>
          <a:xfrm>
            <a:off x="1188720" y="5486400"/>
            <a:ext cx="502920" cy="502920"/>
          </a:xfrm>
          <a:prstGeom prst="ellipse">
            <a:avLst/>
          </a:prstGeom>
          <a:solidFill>
            <a:srgbClr val="0033CC"/>
          </a:solidFill>
          <a:ln/>
        </p:spPr>
        <p:txBody>
          <a:bodyPr wrap="square" rtlCol="0" anchor="ctr"/>
          <a:lstStyle/>
          <a:p>
            <a:pPr marL="0" indent="0" algn="ctr">
              <a:buNone/>
            </a:pPr>
            <a:r>
              <a:rPr lang="en-US" sz="1800" b="1" dirty="0">
                <a:solidFill>
                  <a:srgbClr val="FFFFFF"/>
                </a:solidFill>
                <a:latin typeface="Times New Roman" pitchFamily="34" charset="0"/>
                <a:ea typeface="Times New Roman" pitchFamily="34" charset="-122"/>
                <a:cs typeface="Times New Roman" pitchFamily="34" charset="-120"/>
              </a:rPr>
              <a:t>5</a:t>
            </a:r>
            <a:endParaRPr lang="en-US" sz="1800" dirty="0"/>
          </a:p>
        </p:txBody>
      </p:sp>
      <p:sp>
        <p:nvSpPr>
          <p:cNvPr id="13" name="Text 10"/>
          <p:cNvSpPr txBox="1"/>
          <p:nvPr/>
        </p:nvSpPr>
        <p:spPr>
          <a:xfrm>
            <a:off x="1874520" y="5486400"/>
            <a:ext cx="4389120" cy="502920"/>
          </a:xfrm>
          <a:prstGeom prst="rect">
            <a:avLst/>
          </a:prstGeom>
          <a:noFill/>
          <a:ln/>
        </p:spPr>
        <p:txBody>
          <a:bodyPr wrap="square" lIns="63500" tIns="63500" rIns="63500" bIns="63500" rtlCol="0" anchor="ctr"/>
          <a:lstStyle/>
          <a:p>
            <a:pPr marL="0" indent="0">
              <a:buNone/>
            </a:pPr>
            <a:r>
              <a:rPr lang="en-US" sz="2000" dirty="0">
                <a:solidFill>
                  <a:srgbClr val="1A1A1A"/>
                </a:solidFill>
                <a:latin typeface="Times New Roman" pitchFamily="34" charset="0"/>
                <a:ea typeface="Times New Roman" pitchFamily="34" charset="-122"/>
                <a:cs typeface="Times New Roman" pitchFamily="34" charset="-120"/>
              </a:rPr>
              <a:t>Proposed Approach</a:t>
            </a:r>
            <a:endParaRPr lang="en-US" sz="2000" dirty="0"/>
          </a:p>
        </p:txBody>
      </p:sp>
      <p:sp>
        <p:nvSpPr>
          <p:cNvPr id="14" name="Text 11"/>
          <p:cNvSpPr/>
          <p:nvPr/>
        </p:nvSpPr>
        <p:spPr>
          <a:xfrm>
            <a:off x="6583680" y="2011680"/>
            <a:ext cx="502920" cy="502920"/>
          </a:xfrm>
          <a:prstGeom prst="ellipse">
            <a:avLst/>
          </a:prstGeom>
          <a:solidFill>
            <a:srgbClr val="2CC5C5"/>
          </a:solidFill>
          <a:ln/>
        </p:spPr>
        <p:txBody>
          <a:bodyPr wrap="square" rtlCol="0" anchor="ctr"/>
          <a:lstStyle/>
          <a:p>
            <a:pPr marL="0" indent="0" algn="ctr">
              <a:buNone/>
            </a:pPr>
            <a:r>
              <a:rPr lang="en-US" sz="1800" b="1" dirty="0">
                <a:solidFill>
                  <a:srgbClr val="FFFFFF"/>
                </a:solidFill>
                <a:latin typeface="Times New Roman" pitchFamily="34" charset="0"/>
                <a:ea typeface="Times New Roman" pitchFamily="34" charset="-122"/>
                <a:cs typeface="Times New Roman" pitchFamily="34" charset="-120"/>
              </a:rPr>
              <a:t>6</a:t>
            </a:r>
            <a:endParaRPr lang="en-US" sz="1800" dirty="0"/>
          </a:p>
        </p:txBody>
      </p:sp>
      <p:sp>
        <p:nvSpPr>
          <p:cNvPr id="15" name="Text 12"/>
          <p:cNvSpPr txBox="1"/>
          <p:nvPr/>
        </p:nvSpPr>
        <p:spPr>
          <a:xfrm>
            <a:off x="7269480" y="2011680"/>
            <a:ext cx="4389120" cy="502920"/>
          </a:xfrm>
          <a:prstGeom prst="rect">
            <a:avLst/>
          </a:prstGeom>
          <a:noFill/>
          <a:ln/>
        </p:spPr>
        <p:txBody>
          <a:bodyPr wrap="square" lIns="63500" tIns="63500" rIns="63500" bIns="63500" rtlCol="0" anchor="ctr"/>
          <a:lstStyle/>
          <a:p>
            <a:pPr marL="0" indent="0">
              <a:buNone/>
            </a:pPr>
            <a:r>
              <a:rPr lang="en-US" sz="2000" dirty="0">
                <a:solidFill>
                  <a:srgbClr val="1A1A1A"/>
                </a:solidFill>
                <a:latin typeface="Times New Roman" pitchFamily="34" charset="0"/>
                <a:ea typeface="Times New Roman" pitchFamily="34" charset="-122"/>
                <a:cs typeface="Times New Roman" pitchFamily="34" charset="-120"/>
              </a:rPr>
              <a:t>Applications / Use Cases</a:t>
            </a:r>
            <a:endParaRPr lang="en-US" sz="2000" dirty="0"/>
          </a:p>
        </p:txBody>
      </p:sp>
      <p:sp>
        <p:nvSpPr>
          <p:cNvPr id="16" name="Text 13"/>
          <p:cNvSpPr/>
          <p:nvPr/>
        </p:nvSpPr>
        <p:spPr>
          <a:xfrm>
            <a:off x="6583680" y="2880360"/>
            <a:ext cx="502920" cy="502920"/>
          </a:xfrm>
          <a:prstGeom prst="ellipse">
            <a:avLst/>
          </a:prstGeom>
          <a:solidFill>
            <a:srgbClr val="0033CC"/>
          </a:solidFill>
          <a:ln/>
        </p:spPr>
        <p:txBody>
          <a:bodyPr wrap="square" rtlCol="0" anchor="ctr"/>
          <a:lstStyle/>
          <a:p>
            <a:pPr marL="0" indent="0" algn="ctr">
              <a:buNone/>
            </a:pPr>
            <a:r>
              <a:rPr lang="en-US" sz="1800" b="1" dirty="0">
                <a:solidFill>
                  <a:srgbClr val="FFFFFF"/>
                </a:solidFill>
                <a:latin typeface="Times New Roman" pitchFamily="34" charset="0"/>
                <a:ea typeface="Times New Roman" pitchFamily="34" charset="-122"/>
                <a:cs typeface="Times New Roman" pitchFamily="34" charset="-120"/>
              </a:rPr>
              <a:t>7</a:t>
            </a:r>
            <a:endParaRPr lang="en-US" sz="1800" dirty="0"/>
          </a:p>
        </p:txBody>
      </p:sp>
      <p:sp>
        <p:nvSpPr>
          <p:cNvPr id="17" name="Text 14"/>
          <p:cNvSpPr txBox="1"/>
          <p:nvPr/>
        </p:nvSpPr>
        <p:spPr>
          <a:xfrm>
            <a:off x="7269480" y="2880360"/>
            <a:ext cx="4389120" cy="502920"/>
          </a:xfrm>
          <a:prstGeom prst="rect">
            <a:avLst/>
          </a:prstGeom>
          <a:noFill/>
          <a:ln/>
        </p:spPr>
        <p:txBody>
          <a:bodyPr wrap="square" lIns="63500" tIns="63500" rIns="63500" bIns="63500" rtlCol="0" anchor="ctr"/>
          <a:lstStyle/>
          <a:p>
            <a:pPr marL="0" indent="0">
              <a:buNone/>
            </a:pPr>
            <a:r>
              <a:rPr lang="en-US" sz="2000" dirty="0">
                <a:solidFill>
                  <a:srgbClr val="1A1A1A"/>
                </a:solidFill>
                <a:latin typeface="Times New Roman" pitchFamily="34" charset="0"/>
                <a:ea typeface="Times New Roman" pitchFamily="34" charset="-122"/>
                <a:cs typeface="Times New Roman" pitchFamily="34" charset="-120"/>
              </a:rPr>
              <a:t>Expected Deliverables</a:t>
            </a:r>
            <a:endParaRPr lang="en-US" sz="2000" dirty="0"/>
          </a:p>
        </p:txBody>
      </p:sp>
      <p:sp>
        <p:nvSpPr>
          <p:cNvPr id="18" name="Text 15"/>
          <p:cNvSpPr/>
          <p:nvPr/>
        </p:nvSpPr>
        <p:spPr>
          <a:xfrm>
            <a:off x="6583680" y="3749040"/>
            <a:ext cx="502920" cy="502920"/>
          </a:xfrm>
          <a:prstGeom prst="ellipse">
            <a:avLst/>
          </a:prstGeom>
          <a:solidFill>
            <a:srgbClr val="2CC5C5"/>
          </a:solidFill>
          <a:ln/>
        </p:spPr>
        <p:txBody>
          <a:bodyPr wrap="square" rtlCol="0" anchor="ctr"/>
          <a:lstStyle/>
          <a:p>
            <a:pPr marL="0" indent="0" algn="ctr">
              <a:buNone/>
            </a:pPr>
            <a:r>
              <a:rPr lang="en-US" sz="1800" b="1" dirty="0">
                <a:solidFill>
                  <a:srgbClr val="FFFFFF"/>
                </a:solidFill>
                <a:latin typeface="Times New Roman" pitchFamily="34" charset="0"/>
                <a:ea typeface="Times New Roman" pitchFamily="34" charset="-122"/>
                <a:cs typeface="Times New Roman" pitchFamily="34" charset="-120"/>
              </a:rPr>
              <a:t>8</a:t>
            </a:r>
            <a:endParaRPr lang="en-US" sz="1800" dirty="0"/>
          </a:p>
        </p:txBody>
      </p:sp>
      <p:sp>
        <p:nvSpPr>
          <p:cNvPr id="19" name="Text 16"/>
          <p:cNvSpPr txBox="1"/>
          <p:nvPr/>
        </p:nvSpPr>
        <p:spPr>
          <a:xfrm>
            <a:off x="7269480" y="3749040"/>
            <a:ext cx="4389120" cy="502920"/>
          </a:xfrm>
          <a:prstGeom prst="rect">
            <a:avLst/>
          </a:prstGeom>
          <a:noFill/>
          <a:ln/>
        </p:spPr>
        <p:txBody>
          <a:bodyPr wrap="square" lIns="63500" tIns="63500" rIns="63500" bIns="63500" rtlCol="0" anchor="ctr"/>
          <a:lstStyle/>
          <a:p>
            <a:pPr marL="0" indent="0">
              <a:buNone/>
            </a:pPr>
            <a:r>
              <a:rPr lang="en-US" sz="2000" dirty="0">
                <a:solidFill>
                  <a:srgbClr val="1A1A1A"/>
                </a:solidFill>
                <a:latin typeface="Times New Roman" pitchFamily="34" charset="0"/>
                <a:ea typeface="Times New Roman" pitchFamily="34" charset="-122"/>
                <a:cs typeface="Times New Roman" pitchFamily="34" charset="-120"/>
              </a:rPr>
              <a:t>Capstone Project Timeline</a:t>
            </a:r>
            <a:endParaRPr lang="en-US" sz="2000" dirty="0"/>
          </a:p>
        </p:txBody>
      </p:sp>
      <p:sp>
        <p:nvSpPr>
          <p:cNvPr id="22" name="Text 19"/>
          <p:cNvSpPr/>
          <p:nvPr/>
        </p:nvSpPr>
        <p:spPr>
          <a:xfrm>
            <a:off x="6583680" y="4665305"/>
            <a:ext cx="502920" cy="502920"/>
          </a:xfrm>
          <a:prstGeom prst="ellipse">
            <a:avLst/>
          </a:prstGeom>
          <a:solidFill>
            <a:srgbClr val="2CC5C5"/>
          </a:solidFill>
          <a:ln/>
        </p:spPr>
        <p:txBody>
          <a:bodyPr wrap="square" rtlCol="0" anchor="ctr"/>
          <a:lstStyle/>
          <a:p>
            <a:pPr marL="0" indent="0" algn="ctr">
              <a:buNone/>
            </a:pPr>
            <a:r>
              <a:rPr lang="en-US" b="1" dirty="0">
                <a:solidFill>
                  <a:srgbClr val="FFFFFF"/>
                </a:solidFill>
                <a:latin typeface="Times New Roman" pitchFamily="34" charset="0"/>
                <a:cs typeface="Times New Roman" pitchFamily="34" charset="-120"/>
              </a:rPr>
              <a:t>9</a:t>
            </a:r>
            <a:endParaRPr lang="en-US" sz="1800" dirty="0"/>
          </a:p>
        </p:txBody>
      </p:sp>
      <p:sp>
        <p:nvSpPr>
          <p:cNvPr id="23" name="Text 20"/>
          <p:cNvSpPr txBox="1"/>
          <p:nvPr/>
        </p:nvSpPr>
        <p:spPr>
          <a:xfrm>
            <a:off x="7269480" y="4683967"/>
            <a:ext cx="4389120" cy="502920"/>
          </a:xfrm>
          <a:prstGeom prst="rect">
            <a:avLst/>
          </a:prstGeom>
          <a:noFill/>
          <a:ln/>
        </p:spPr>
        <p:txBody>
          <a:bodyPr wrap="square" lIns="63500" tIns="63500" rIns="63500" bIns="63500" rtlCol="0" anchor="ctr"/>
          <a:lstStyle/>
          <a:p>
            <a:pPr marL="0" indent="0">
              <a:buNone/>
            </a:pPr>
            <a:r>
              <a:rPr lang="en-US" sz="2000" dirty="0">
                <a:solidFill>
                  <a:srgbClr val="1A1A1A"/>
                </a:solidFill>
                <a:latin typeface="Times New Roman" pitchFamily="34" charset="0"/>
                <a:ea typeface="Times New Roman" pitchFamily="34" charset="-122"/>
                <a:cs typeface="Times New Roman" pitchFamily="34" charset="-120"/>
              </a:rPr>
              <a:t>Any Other Information</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3017520" y="1005840"/>
            <a:ext cx="7644384" cy="502920"/>
          </a:xfrm>
          <a:prstGeom prst="rect">
            <a:avLst/>
          </a:prstGeom>
          <a:noFill/>
          <a:ln/>
        </p:spPr>
        <p:txBody>
          <a:bodyPr wrap="square" lIns="0" tIns="0" rIns="0" bIns="0" rtlCol="0" anchor="b"/>
          <a:lstStyle/>
          <a:p>
            <a:pPr marL="0" indent="0" algn="r">
              <a:buNone/>
            </a:pPr>
            <a:r>
              <a:rPr lang="en-US" sz="2400" dirty="0">
                <a:solidFill>
                  <a:srgbClr val="D40000"/>
                </a:solidFill>
                <a:latin typeface="Times New Roman" pitchFamily="34" charset="0"/>
                <a:ea typeface="Times New Roman" pitchFamily="34" charset="-122"/>
                <a:cs typeface="Times New Roman" pitchFamily="34" charset="-120"/>
              </a:rPr>
              <a:t>Problem Statement</a:t>
            </a:r>
            <a:endParaRPr lang="en-US" sz="2400" dirty="0"/>
          </a:p>
        </p:txBody>
      </p:sp>
      <p:sp>
        <p:nvSpPr>
          <p:cNvPr id="4" name="Shape 1"/>
          <p:cNvSpPr/>
          <p:nvPr/>
        </p:nvSpPr>
        <p:spPr>
          <a:xfrm>
            <a:off x="329184" y="1783080"/>
            <a:ext cx="11530584" cy="1097280"/>
          </a:xfrm>
          <a:prstGeom prst="roundRect">
            <a:avLst>
              <a:gd name="adj" fmla="val 8333"/>
            </a:avLst>
          </a:prstGeom>
          <a:solidFill>
            <a:srgbClr val="EEF3FC"/>
          </a:solidFill>
          <a:ln w="15875">
            <a:solidFill>
              <a:srgbClr val="DCE4F5"/>
            </a:solidFill>
            <a:prstDash val="solid"/>
          </a:ln>
        </p:spPr>
      </p:sp>
      <p:sp>
        <p:nvSpPr>
          <p:cNvPr id="5" name="Text 2"/>
          <p:cNvSpPr txBox="1"/>
          <p:nvPr/>
        </p:nvSpPr>
        <p:spPr>
          <a:xfrm>
            <a:off x="502920" y="1828800"/>
            <a:ext cx="11155680" cy="1005840"/>
          </a:xfrm>
          <a:prstGeom prst="rect">
            <a:avLst/>
          </a:prstGeom>
          <a:noFill/>
          <a:ln/>
        </p:spPr>
        <p:txBody>
          <a:bodyPr wrap="square" lIns="63500" tIns="63500" rIns="63500" bIns="63500" rtlCol="0" anchor="ctr"/>
          <a:lstStyle/>
          <a:p>
            <a:pPr marL="0" indent="0">
              <a:buNone/>
            </a:pPr>
            <a:r>
              <a:rPr lang="en-US" sz="1800" dirty="0">
                <a:solidFill>
                  <a:srgbClr val="1A1A1A"/>
                </a:solidFill>
                <a:latin typeface="Times New Roman" pitchFamily="34" charset="0"/>
                <a:ea typeface="Times New Roman" pitchFamily="34" charset="-122"/>
                <a:cs typeface="Times New Roman" pitchFamily="34" charset="-120"/>
              </a:rPr>
              <a:t>Sepsis mortality rises with every hour treatment is delayed, so predicting onset 6 to 12 hours early is critical. Machine-learning models predict well and SHAP is the default explanation, yet no one checks whether those explanations can be trusted.</a:t>
            </a:r>
            <a:endParaRPr lang="en-US" sz="1800" dirty="0"/>
          </a:p>
        </p:txBody>
      </p:sp>
      <p:sp>
        <p:nvSpPr>
          <p:cNvPr id="6" name="Shape 3"/>
          <p:cNvSpPr/>
          <p:nvPr/>
        </p:nvSpPr>
        <p:spPr>
          <a:xfrm>
            <a:off x="329184" y="3063240"/>
            <a:ext cx="3721608" cy="2240280"/>
          </a:xfrm>
          <a:prstGeom prst="roundRect">
            <a:avLst>
              <a:gd name="adj" fmla="val 4082"/>
            </a:avLst>
          </a:prstGeom>
          <a:solidFill>
            <a:srgbClr val="FFFFFF"/>
          </a:solidFill>
          <a:ln w="15875">
            <a:solidFill>
              <a:srgbClr val="D40000"/>
            </a:solidFill>
            <a:prstDash val="solid"/>
          </a:ln>
        </p:spPr>
      </p:sp>
      <p:sp>
        <p:nvSpPr>
          <p:cNvPr id="7" name="Text 4"/>
          <p:cNvSpPr txBox="1"/>
          <p:nvPr/>
        </p:nvSpPr>
        <p:spPr>
          <a:xfrm>
            <a:off x="466344" y="3127248"/>
            <a:ext cx="3447288" cy="2103120"/>
          </a:xfrm>
          <a:prstGeom prst="rect">
            <a:avLst/>
          </a:prstGeom>
          <a:noFill/>
          <a:ln/>
        </p:spPr>
        <p:txBody>
          <a:bodyPr wrap="square" lIns="63500" tIns="63500" rIns="63500" bIns="63500" rtlCol="0" anchor="t"/>
          <a:lstStyle/>
          <a:p>
            <a:pPr marL="0" indent="0">
              <a:buNone/>
            </a:pPr>
            <a:r>
              <a:rPr lang="en-US" sz="1900" b="1" dirty="0">
                <a:solidFill>
                  <a:srgbClr val="D40000"/>
                </a:solidFill>
                <a:latin typeface="Times New Roman" pitchFamily="34" charset="0"/>
                <a:ea typeface="Times New Roman" pitchFamily="34" charset="-122"/>
                <a:cs typeface="Times New Roman" pitchFamily="34" charset="-120"/>
              </a:rPr>
              <a:t>1. Unfair model comparison</a:t>
            </a:r>
            <a:endParaRPr lang="en-US" sz="1600" dirty="0"/>
          </a:p>
          <a:p>
            <a:pPr marL="0" indent="0">
              <a:buNone/>
            </a:pPr>
            <a:r>
              <a:rPr lang="en-US" sz="1600" dirty="0">
                <a:solidFill>
                  <a:srgbClr val="1A1A1A"/>
                </a:solidFill>
                <a:latin typeface="Times New Roman" pitchFamily="34" charset="0"/>
                <a:ea typeface="Times New Roman" pitchFamily="34" charset="-122"/>
                <a:cs typeface="Times New Roman" pitchFamily="34" charset="-120"/>
              </a:rPr>
              <a:t>Ensemble models (AUROC 0.85–0.91) and LSTM (about 0.85) are reported on different datasets, splits and labels, so no fair comparison exists.</a:t>
            </a:r>
            <a:endParaRPr lang="en-US" sz="1600" dirty="0"/>
          </a:p>
        </p:txBody>
      </p:sp>
      <p:sp>
        <p:nvSpPr>
          <p:cNvPr id="8" name="Shape 5"/>
          <p:cNvSpPr/>
          <p:nvPr/>
        </p:nvSpPr>
        <p:spPr>
          <a:xfrm>
            <a:off x="4242816" y="3063240"/>
            <a:ext cx="3721608" cy="2240280"/>
          </a:xfrm>
          <a:prstGeom prst="roundRect">
            <a:avLst>
              <a:gd name="adj" fmla="val 4082"/>
            </a:avLst>
          </a:prstGeom>
          <a:solidFill>
            <a:srgbClr val="FFFFFF"/>
          </a:solidFill>
          <a:ln w="15875">
            <a:solidFill>
              <a:srgbClr val="E08A00"/>
            </a:solidFill>
            <a:prstDash val="solid"/>
          </a:ln>
        </p:spPr>
      </p:sp>
      <p:sp>
        <p:nvSpPr>
          <p:cNvPr id="9" name="Text 6"/>
          <p:cNvSpPr txBox="1"/>
          <p:nvPr/>
        </p:nvSpPr>
        <p:spPr>
          <a:xfrm>
            <a:off x="4379976" y="3127248"/>
            <a:ext cx="3447288" cy="2103120"/>
          </a:xfrm>
          <a:prstGeom prst="rect">
            <a:avLst/>
          </a:prstGeom>
          <a:noFill/>
          <a:ln/>
        </p:spPr>
        <p:txBody>
          <a:bodyPr wrap="square" lIns="63500" tIns="63500" rIns="63500" bIns="63500" rtlCol="0" anchor="t"/>
          <a:lstStyle/>
          <a:p>
            <a:pPr marL="0" indent="0">
              <a:buNone/>
            </a:pPr>
            <a:r>
              <a:rPr lang="en-US" sz="1900" b="1" dirty="0">
                <a:solidFill>
                  <a:srgbClr val="E08A00"/>
                </a:solidFill>
                <a:latin typeface="Times New Roman" pitchFamily="34" charset="0"/>
                <a:ea typeface="Times New Roman" pitchFamily="34" charset="-122"/>
                <a:cs typeface="Times New Roman" pitchFamily="34" charset="-120"/>
              </a:rPr>
              <a:t>2. Explanations never checked</a:t>
            </a:r>
            <a:endParaRPr lang="en-US" sz="1600" dirty="0"/>
          </a:p>
          <a:p>
            <a:pPr marL="0" indent="0">
              <a:buNone/>
            </a:pPr>
            <a:r>
              <a:rPr lang="en-US" sz="1600" dirty="0">
                <a:solidFill>
                  <a:srgbClr val="1A1A1A"/>
                </a:solidFill>
                <a:latin typeface="Times New Roman" pitchFamily="34" charset="0"/>
                <a:ea typeface="Times New Roman" pitchFamily="34" charset="-122"/>
                <a:cs typeface="Times New Roman" pitchFamily="34" charset="-120"/>
              </a:rPr>
              <a:t>Features are correlated and labs are 85–95% missing, yet no study tests whether SHAP is stable, faithful and robust.</a:t>
            </a:r>
            <a:endParaRPr lang="en-US" sz="1600" dirty="0"/>
          </a:p>
        </p:txBody>
      </p:sp>
      <p:sp>
        <p:nvSpPr>
          <p:cNvPr id="10" name="Shape 7"/>
          <p:cNvSpPr/>
          <p:nvPr/>
        </p:nvSpPr>
        <p:spPr>
          <a:xfrm>
            <a:off x="8147304" y="3063240"/>
            <a:ext cx="3721608" cy="2240280"/>
          </a:xfrm>
          <a:prstGeom prst="roundRect">
            <a:avLst>
              <a:gd name="adj" fmla="val 4082"/>
            </a:avLst>
          </a:prstGeom>
          <a:solidFill>
            <a:srgbClr val="FFFFFF"/>
          </a:solidFill>
          <a:ln w="15875">
            <a:solidFill>
              <a:srgbClr val="0033CC"/>
            </a:solidFill>
            <a:prstDash val="solid"/>
          </a:ln>
        </p:spPr>
      </p:sp>
      <p:sp>
        <p:nvSpPr>
          <p:cNvPr id="11" name="Text 8"/>
          <p:cNvSpPr txBox="1"/>
          <p:nvPr/>
        </p:nvSpPr>
        <p:spPr>
          <a:xfrm>
            <a:off x="8284464" y="3127248"/>
            <a:ext cx="3447288" cy="2103120"/>
          </a:xfrm>
          <a:prstGeom prst="rect">
            <a:avLst/>
          </a:prstGeom>
          <a:noFill/>
          <a:ln/>
        </p:spPr>
        <p:txBody>
          <a:bodyPr wrap="square" lIns="63500" tIns="63500" rIns="63500" bIns="63500" rtlCol="0" anchor="t"/>
          <a:lstStyle/>
          <a:p>
            <a:pPr marL="0" indent="0">
              <a:buNone/>
            </a:pPr>
            <a:r>
              <a:rPr lang="en-US" sz="1900" b="1" dirty="0">
                <a:solidFill>
                  <a:srgbClr val="0033CC"/>
                </a:solidFill>
                <a:latin typeface="Times New Roman" pitchFamily="34" charset="0"/>
                <a:ea typeface="Times New Roman" pitchFamily="34" charset="-122"/>
                <a:cs typeface="Times New Roman" pitchFamily="34" charset="-120"/>
              </a:rPr>
              <a:t>3. Unstable, with no warning</a:t>
            </a:r>
            <a:endParaRPr lang="en-US" sz="1600" dirty="0"/>
          </a:p>
          <a:p>
            <a:pPr marL="0" indent="0">
              <a:buNone/>
            </a:pPr>
            <a:r>
              <a:rPr lang="en-US" sz="1600" dirty="0">
                <a:solidFill>
                  <a:srgbClr val="1A1A1A"/>
                </a:solidFill>
                <a:latin typeface="Times New Roman" pitchFamily="34" charset="0"/>
                <a:ea typeface="Times New Roman" pitchFamily="34" charset="-122"/>
                <a:cs typeface="Times New Roman" pitchFamily="34" charset="-120"/>
              </a:rPr>
              <a:t>Theory says no ranking can be faithful, stable and complete at once. Clinicians still get explanations with no reliability indicator.</a:t>
            </a:r>
            <a:endParaRPr lang="en-US" sz="1600" dirty="0"/>
          </a:p>
        </p:txBody>
      </p:sp>
      <p:sp>
        <p:nvSpPr>
          <p:cNvPr id="12" name="Text 9"/>
          <p:cNvSpPr txBox="1"/>
          <p:nvPr/>
        </p:nvSpPr>
        <p:spPr>
          <a:xfrm>
            <a:off x="329184" y="5440680"/>
            <a:ext cx="11530584" cy="1188720"/>
          </a:xfrm>
          <a:prstGeom prst="rect">
            <a:avLst/>
          </a:prstGeom>
          <a:noFill/>
          <a:ln/>
        </p:spPr>
        <p:txBody>
          <a:bodyPr wrap="square" lIns="63500" tIns="63500" rIns="63500" bIns="63500" rtlCol="0" anchor="t"/>
          <a:lstStyle/>
          <a:p>
            <a:pPr marL="0" indent="0">
              <a:buNone/>
            </a:pPr>
            <a:r>
              <a:rPr lang="en-US" sz="1700" b="1" dirty="0">
                <a:solidFill>
                  <a:srgbClr val="0033CC"/>
                </a:solidFill>
                <a:latin typeface="Times New Roman" pitchFamily="34" charset="0"/>
                <a:ea typeface="Times New Roman" pitchFamily="34" charset="-122"/>
                <a:cs typeface="Times New Roman" pitchFamily="34" charset="-120"/>
              </a:rPr>
              <a:t>Objective: </a:t>
            </a:r>
            <a:r>
              <a:rPr lang="en-US" sz="1700" dirty="0">
                <a:solidFill>
                  <a:srgbClr val="1A1A1A"/>
                </a:solidFill>
                <a:latin typeface="Times New Roman" pitchFamily="34" charset="0"/>
                <a:ea typeface="Times New Roman" pitchFamily="34" charset="-122"/>
                <a:cs typeface="Times New Roman" pitchFamily="34" charset="-120"/>
              </a:rPr>
              <a:t>(i) compare XGBoost, Random Forest and LSTM under identical preprocessing, patient-level splits and evaluation; (ii) build a reliability layer that detects, diagnoses and mitigates unreliable SHAP explanations, and abstains when reliability stays too low.</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3017520" y="1005840"/>
            <a:ext cx="7644384" cy="502920"/>
          </a:xfrm>
          <a:prstGeom prst="rect">
            <a:avLst/>
          </a:prstGeom>
          <a:noFill/>
          <a:ln/>
        </p:spPr>
        <p:txBody>
          <a:bodyPr wrap="square" lIns="0" tIns="0" rIns="0" bIns="0" rtlCol="0" anchor="b"/>
          <a:lstStyle/>
          <a:p>
            <a:pPr marL="0" indent="0" algn="r">
              <a:buNone/>
            </a:pPr>
            <a:r>
              <a:rPr lang="en-US" sz="2400" dirty="0">
                <a:solidFill>
                  <a:srgbClr val="D40000"/>
                </a:solidFill>
                <a:latin typeface="Times New Roman" pitchFamily="34" charset="0"/>
                <a:ea typeface="Times New Roman" pitchFamily="34" charset="-122"/>
                <a:cs typeface="Times New Roman" pitchFamily="34" charset="-120"/>
              </a:rPr>
              <a:t>Scope and Feasibility Study</a:t>
            </a:r>
            <a:endParaRPr lang="en-US" sz="2400" dirty="0"/>
          </a:p>
        </p:txBody>
      </p:sp>
      <p:sp>
        <p:nvSpPr>
          <p:cNvPr id="4" name="Text 1"/>
          <p:cNvSpPr/>
          <p:nvPr/>
        </p:nvSpPr>
        <p:spPr>
          <a:xfrm>
            <a:off x="329184" y="1783080"/>
            <a:ext cx="3666744" cy="420624"/>
          </a:xfrm>
          <a:prstGeom prst="roundRect">
            <a:avLst>
              <a:gd name="adj" fmla="val 21739"/>
            </a:avLst>
          </a:prstGeom>
          <a:solidFill>
            <a:srgbClr val="2E8B57"/>
          </a:solidFill>
          <a:ln/>
        </p:spPr>
        <p:txBody>
          <a:bodyPr wrap="square" rtlCol="0" anchor="ctr"/>
          <a:lstStyle/>
          <a:p>
            <a:pPr marL="0" indent="0" algn="ctr">
              <a:buNone/>
            </a:pPr>
            <a:r>
              <a:rPr lang="en-US" sz="1700" b="1" dirty="0">
                <a:solidFill>
                  <a:srgbClr val="FFFFFF"/>
                </a:solidFill>
                <a:latin typeface="Times New Roman" pitchFamily="34" charset="0"/>
                <a:ea typeface="Times New Roman" pitchFamily="34" charset="-122"/>
                <a:cs typeface="Times New Roman" pitchFamily="34" charset="-120"/>
              </a:rPr>
              <a:t>In scope</a:t>
            </a:r>
            <a:endParaRPr lang="en-US" sz="1700" dirty="0"/>
          </a:p>
        </p:txBody>
      </p:sp>
      <p:sp>
        <p:nvSpPr>
          <p:cNvPr id="5" name="Text 2"/>
          <p:cNvSpPr txBox="1"/>
          <p:nvPr/>
        </p:nvSpPr>
        <p:spPr>
          <a:xfrm>
            <a:off x="365760" y="2286000"/>
            <a:ext cx="3611880" cy="2103120"/>
          </a:xfrm>
          <a:prstGeom prst="rect">
            <a:avLst/>
          </a:prstGeom>
          <a:noFill/>
          <a:ln/>
        </p:spPr>
        <p:txBody>
          <a:bodyPr wrap="square" lIns="63500" tIns="63500" rIns="63500" bIns="63500" rtlCol="0" anchor="t"/>
          <a:lstStyle/>
          <a:p>
            <a:pPr marL="342900" indent="-342900">
              <a:spcAft>
                <a:spcPts val="500"/>
              </a:spcAft>
              <a:buSzPct val="100000"/>
              <a:buChar char="•"/>
            </a:pPr>
            <a:r>
              <a:rPr lang="en-US" sz="1500" dirty="0">
                <a:solidFill>
                  <a:srgbClr val="1A1A1A"/>
                </a:solidFill>
                <a:latin typeface="Times New Roman" pitchFamily="34" charset="0"/>
                <a:ea typeface="Times New Roman" pitchFamily="34" charset="-122"/>
                <a:cs typeface="Times New Roman" pitchFamily="34" charset="-120"/>
              </a:rPr>
              <a:t>PhysioNet/CinC 2019 (~40,336 ICU patients)</a:t>
            </a:r>
            <a:endParaRPr lang="en-US" sz="1500" dirty="0"/>
          </a:p>
          <a:p>
            <a:pPr marL="342900" indent="-342900">
              <a:spcAft>
                <a:spcPts val="500"/>
              </a:spcAft>
              <a:buSzPct val="100000"/>
              <a:buChar char="•"/>
            </a:pPr>
            <a:r>
              <a:rPr lang="en-US" sz="1500" dirty="0">
                <a:solidFill>
                  <a:srgbClr val="1A1A1A"/>
                </a:solidFill>
                <a:latin typeface="Times New Roman" pitchFamily="34" charset="0"/>
                <a:ea typeface="Times New Roman" pitchFamily="34" charset="-122"/>
                <a:cs typeface="Times New Roman" pitchFamily="34" charset="-120"/>
              </a:rPr>
              <a:t>XGBoost, Random Forest, LSTM</a:t>
            </a:r>
            <a:endParaRPr lang="en-US" sz="1500" dirty="0"/>
          </a:p>
          <a:p>
            <a:pPr marL="342900" indent="-342900">
              <a:spcAft>
                <a:spcPts val="500"/>
              </a:spcAft>
              <a:buSzPct val="100000"/>
              <a:buChar char="•"/>
            </a:pPr>
            <a:r>
              <a:rPr lang="en-US" sz="1500" dirty="0">
                <a:solidFill>
                  <a:srgbClr val="1A1A1A"/>
                </a:solidFill>
                <a:latin typeface="Times New Roman" pitchFamily="34" charset="0"/>
                <a:ea typeface="Times New Roman" pitchFamily="34" charset="-122"/>
                <a:cs typeface="Times New Roman" pitchFamily="34" charset="-120"/>
              </a:rPr>
              <a:t>TreeSHAP, Kernel SHAP, Integrated Gradients</a:t>
            </a:r>
            <a:endParaRPr lang="en-US" sz="1500" dirty="0"/>
          </a:p>
          <a:p>
            <a:pPr marL="342900" indent="-342900">
              <a:spcAft>
                <a:spcPts val="500"/>
              </a:spcAft>
              <a:buSzPct val="100000"/>
              <a:buChar char="•"/>
            </a:pPr>
            <a:r>
              <a:rPr lang="en-US" sz="1500" dirty="0">
                <a:solidFill>
                  <a:srgbClr val="1A1A1A"/>
                </a:solidFill>
                <a:latin typeface="Times New Roman" pitchFamily="34" charset="0"/>
                <a:ea typeface="Times New Roman" pitchFamily="34" charset="-122"/>
                <a:cs typeface="Times New Roman" pitchFamily="34" charset="-120"/>
              </a:rPr>
              <a:t>Stability, faithfulness, robustness</a:t>
            </a:r>
            <a:endParaRPr lang="en-US" sz="1500" dirty="0"/>
          </a:p>
          <a:p>
            <a:pPr marL="342900" indent="-342900">
              <a:spcAft>
                <a:spcPts val="500"/>
              </a:spcAft>
              <a:buSzPct val="100000"/>
              <a:buChar char="•"/>
            </a:pPr>
            <a:r>
              <a:rPr lang="en-US" sz="1500" dirty="0">
                <a:solidFill>
                  <a:srgbClr val="1A1A1A"/>
                </a:solidFill>
                <a:latin typeface="Times New Roman" pitchFamily="34" charset="0"/>
                <a:ea typeface="Times New Roman" pitchFamily="34" charset="-122"/>
                <a:cs typeface="Times New Roman" pitchFamily="34" charset="-120"/>
              </a:rPr>
              <a:t>Detect, diagnose, mitigate, abstain</a:t>
            </a:r>
            <a:endParaRPr lang="en-US" sz="1500" dirty="0"/>
          </a:p>
        </p:txBody>
      </p:sp>
      <p:sp>
        <p:nvSpPr>
          <p:cNvPr id="6" name="Text 3"/>
          <p:cNvSpPr/>
          <p:nvPr/>
        </p:nvSpPr>
        <p:spPr>
          <a:xfrm>
            <a:off x="329184" y="4480560"/>
            <a:ext cx="3666744" cy="420624"/>
          </a:xfrm>
          <a:prstGeom prst="roundRect">
            <a:avLst>
              <a:gd name="adj" fmla="val 21739"/>
            </a:avLst>
          </a:prstGeom>
          <a:solidFill>
            <a:srgbClr val="D40000"/>
          </a:solidFill>
          <a:ln/>
        </p:spPr>
        <p:txBody>
          <a:bodyPr wrap="square" rtlCol="0" anchor="ctr"/>
          <a:lstStyle/>
          <a:p>
            <a:pPr marL="0" indent="0" algn="ctr">
              <a:buNone/>
            </a:pPr>
            <a:r>
              <a:rPr lang="en-US" sz="1700" b="1" dirty="0">
                <a:solidFill>
                  <a:srgbClr val="FFFFFF"/>
                </a:solidFill>
                <a:latin typeface="Times New Roman" pitchFamily="34" charset="0"/>
                <a:ea typeface="Times New Roman" pitchFamily="34" charset="-122"/>
                <a:cs typeface="Times New Roman" pitchFamily="34" charset="-120"/>
              </a:rPr>
              <a:t>Out of scope</a:t>
            </a:r>
            <a:endParaRPr lang="en-US" sz="1700" dirty="0"/>
          </a:p>
        </p:txBody>
      </p:sp>
      <p:sp>
        <p:nvSpPr>
          <p:cNvPr id="7" name="Text 4"/>
          <p:cNvSpPr txBox="1"/>
          <p:nvPr/>
        </p:nvSpPr>
        <p:spPr>
          <a:xfrm>
            <a:off x="365760" y="4983480"/>
            <a:ext cx="3611880" cy="1645920"/>
          </a:xfrm>
          <a:prstGeom prst="rect">
            <a:avLst/>
          </a:prstGeom>
          <a:noFill/>
          <a:ln/>
        </p:spPr>
        <p:txBody>
          <a:bodyPr wrap="square" lIns="63500" tIns="63500" rIns="63500" bIns="63500" rtlCol="0" anchor="t"/>
          <a:lstStyle/>
          <a:p>
            <a:pPr marL="342900" indent="-342900">
              <a:spcAft>
                <a:spcPts val="500"/>
              </a:spcAft>
              <a:buSzPct val="100000"/>
              <a:buChar char="•"/>
            </a:pPr>
            <a:r>
              <a:rPr lang="en-US" sz="1500" dirty="0">
                <a:solidFill>
                  <a:srgbClr val="1A1A1A"/>
                </a:solidFill>
                <a:latin typeface="Times New Roman" pitchFamily="34" charset="0"/>
                <a:ea typeface="Times New Roman" pitchFamily="34" charset="-122"/>
                <a:cs typeface="Times New Roman" pitchFamily="34" charset="-120"/>
              </a:rPr>
              <a:t>New model architectures</a:t>
            </a:r>
            <a:endParaRPr lang="en-US" sz="1500" dirty="0"/>
          </a:p>
          <a:p>
            <a:pPr marL="342900" indent="-342900">
              <a:spcAft>
                <a:spcPts val="500"/>
              </a:spcAft>
              <a:buSzPct val="100000"/>
              <a:buChar char="•"/>
            </a:pPr>
            <a:r>
              <a:rPr lang="en-US" sz="1500" dirty="0">
                <a:solidFill>
                  <a:srgbClr val="1A1A1A"/>
                </a:solidFill>
                <a:latin typeface="Times New Roman" pitchFamily="34" charset="0"/>
                <a:ea typeface="Times New Roman" pitchFamily="34" charset="-122"/>
                <a:cs typeface="Times New Roman" pitchFamily="34" charset="-120"/>
              </a:rPr>
              <a:t>Chasing AUROC records</a:t>
            </a:r>
            <a:endParaRPr lang="en-US" sz="1500" dirty="0"/>
          </a:p>
          <a:p>
            <a:pPr marL="342900" indent="-342900">
              <a:spcAft>
                <a:spcPts val="500"/>
              </a:spcAft>
              <a:buSzPct val="100000"/>
              <a:buChar char="•"/>
            </a:pPr>
            <a:r>
              <a:rPr lang="en-US" sz="1500" dirty="0">
                <a:solidFill>
                  <a:srgbClr val="1A1A1A"/>
                </a:solidFill>
                <a:latin typeface="Times New Roman" pitchFamily="34" charset="0"/>
                <a:ea typeface="Times New Roman" pitchFamily="34" charset="-122"/>
                <a:cs typeface="Times New Roman" pitchFamily="34" charset="-120"/>
              </a:rPr>
              <a:t>Prospective clinical validation</a:t>
            </a:r>
            <a:endParaRPr lang="en-US" sz="1500" dirty="0"/>
          </a:p>
          <a:p>
            <a:pPr marL="342900" indent="-342900">
              <a:spcAft>
                <a:spcPts val="500"/>
              </a:spcAft>
              <a:buSzPct val="100000"/>
              <a:buChar char="•"/>
            </a:pPr>
            <a:r>
              <a:rPr lang="en-US" sz="1500" dirty="0">
                <a:solidFill>
                  <a:srgbClr val="1A1A1A"/>
                </a:solidFill>
                <a:latin typeface="Times New Roman" pitchFamily="34" charset="0"/>
                <a:ea typeface="Times New Roman" pitchFamily="34" charset="-122"/>
                <a:cs typeface="Times New Roman" pitchFamily="34" charset="-120"/>
              </a:rPr>
              <a:t>Multimodal data (imaging, waveforms)</a:t>
            </a:r>
          </a:p>
        </p:txBody>
      </p:sp>
      <p:sp>
        <p:nvSpPr>
          <p:cNvPr id="8" name="Text 5"/>
          <p:cNvSpPr/>
          <p:nvPr/>
        </p:nvSpPr>
        <p:spPr>
          <a:xfrm>
            <a:off x="4242816" y="1783080"/>
            <a:ext cx="3666744" cy="420624"/>
          </a:xfrm>
          <a:prstGeom prst="roundRect">
            <a:avLst>
              <a:gd name="adj" fmla="val 21739"/>
            </a:avLst>
          </a:prstGeom>
          <a:solidFill>
            <a:srgbClr val="0033CC"/>
          </a:solidFill>
          <a:ln/>
        </p:spPr>
        <p:txBody>
          <a:bodyPr wrap="square" rtlCol="0" anchor="ctr"/>
          <a:lstStyle/>
          <a:p>
            <a:pPr marL="0" indent="0" algn="ctr">
              <a:buNone/>
            </a:pPr>
            <a:r>
              <a:rPr lang="en-US" sz="1700" b="1" dirty="0">
                <a:solidFill>
                  <a:srgbClr val="FFFFFF"/>
                </a:solidFill>
                <a:latin typeface="Times New Roman" pitchFamily="34" charset="0"/>
                <a:ea typeface="Times New Roman" pitchFamily="34" charset="-122"/>
                <a:cs typeface="Times New Roman" pitchFamily="34" charset="-120"/>
              </a:rPr>
              <a:t>Feasibility</a:t>
            </a:r>
            <a:endParaRPr lang="en-US" sz="1700" dirty="0"/>
          </a:p>
        </p:txBody>
      </p:sp>
      <p:sp>
        <p:nvSpPr>
          <p:cNvPr id="9" name="Text 6"/>
          <p:cNvSpPr txBox="1"/>
          <p:nvPr/>
        </p:nvSpPr>
        <p:spPr>
          <a:xfrm>
            <a:off x="4279392" y="2286000"/>
            <a:ext cx="3611880" cy="4297680"/>
          </a:xfrm>
          <a:prstGeom prst="rect">
            <a:avLst/>
          </a:prstGeom>
          <a:noFill/>
          <a:ln/>
        </p:spPr>
        <p:txBody>
          <a:bodyPr wrap="square" lIns="63500" tIns="63500" rIns="63500" bIns="63500" rtlCol="0" anchor="t"/>
          <a:lstStyle/>
          <a:p>
            <a:pPr marL="0" indent="0">
              <a:buNone/>
            </a:pPr>
            <a:r>
              <a:rPr lang="en-US" sz="1500" b="1" dirty="0">
                <a:solidFill>
                  <a:srgbClr val="0033CC"/>
                </a:solidFill>
                <a:latin typeface="Times New Roman" pitchFamily="34" charset="0"/>
                <a:ea typeface="Times New Roman" pitchFamily="34" charset="-122"/>
                <a:cs typeface="Times New Roman" pitchFamily="34" charset="-120"/>
              </a:rPr>
              <a:t>Implementation: </a:t>
            </a:r>
            <a:r>
              <a:rPr lang="en-US" sz="1500" dirty="0">
                <a:solidFill>
                  <a:srgbClr val="1A1A1A"/>
                </a:solidFill>
                <a:latin typeface="Times New Roman" pitchFamily="34" charset="0"/>
                <a:ea typeface="Times New Roman" pitchFamily="34" charset="-122"/>
                <a:cs typeface="Times New Roman" pitchFamily="34" charset="-120"/>
              </a:rPr>
              <a:t>the layer wraps existing models; SHAP, Captum, XGBoost and PyTorch are mature.</a:t>
            </a:r>
            <a:endParaRPr lang="en-US" sz="1500" dirty="0"/>
          </a:p>
          <a:p>
            <a:pPr marL="0" indent="0">
              <a:buNone/>
            </a:pPr>
            <a:r>
              <a:rPr lang="en-US" sz="1500" b="1" dirty="0">
                <a:solidFill>
                  <a:srgbClr val="0033CC"/>
                </a:solidFill>
                <a:latin typeface="Times New Roman" pitchFamily="34" charset="0"/>
                <a:ea typeface="Times New Roman" pitchFamily="34" charset="-122"/>
                <a:cs typeface="Times New Roman" pitchFamily="34" charset="-120"/>
              </a:rPr>
              <a:t>Evaluation: </a:t>
            </a:r>
            <a:r>
              <a:rPr lang="en-US" sz="1500" dirty="0">
                <a:solidFill>
                  <a:srgbClr val="1A1A1A"/>
                </a:solidFill>
                <a:latin typeface="Times New Roman" pitchFamily="34" charset="0"/>
                <a:ea typeface="Times New Roman" pitchFamily="34" charset="-122"/>
                <a:cs typeface="Times New Roman" pitchFamily="34" charset="-120"/>
              </a:rPr>
              <a:t>failure labels are defined before the detector, so evaluation is not circular.</a:t>
            </a:r>
            <a:endParaRPr lang="en-US" sz="1500" dirty="0"/>
          </a:p>
          <a:p>
            <a:pPr marL="0" indent="0">
              <a:buNone/>
            </a:pPr>
            <a:r>
              <a:rPr lang="en-US" sz="1500" b="1" dirty="0">
                <a:solidFill>
                  <a:srgbClr val="0033CC"/>
                </a:solidFill>
                <a:latin typeface="Times New Roman" pitchFamily="34" charset="0"/>
                <a:ea typeface="Times New Roman" pitchFamily="34" charset="-122"/>
                <a:cs typeface="Times New Roman" pitchFamily="34" charset="-120"/>
              </a:rPr>
              <a:t>Systematic: </a:t>
            </a:r>
            <a:r>
              <a:rPr lang="en-US" sz="1500" dirty="0">
                <a:solidFill>
                  <a:srgbClr val="1A1A1A"/>
                </a:solidFill>
                <a:latin typeface="Times New Roman" pitchFamily="34" charset="0"/>
                <a:ea typeface="Times New Roman" pitchFamily="34" charset="-122"/>
                <a:cs typeface="Times New Roman" pitchFamily="34" charset="-120"/>
              </a:rPr>
              <a:t>perfect reliability is impossible under collinearity, so we detect rather than eliminate.</a:t>
            </a:r>
            <a:endParaRPr lang="en-US" sz="1500" dirty="0"/>
          </a:p>
          <a:p>
            <a:pPr marL="0" indent="0">
              <a:buNone/>
            </a:pPr>
            <a:r>
              <a:rPr lang="en-US" sz="1500" b="1" dirty="0">
                <a:solidFill>
                  <a:srgbClr val="0033CC"/>
                </a:solidFill>
                <a:latin typeface="Times New Roman" pitchFamily="34" charset="0"/>
                <a:ea typeface="Times New Roman" pitchFamily="34" charset="-122"/>
                <a:cs typeface="Times New Roman" pitchFamily="34" charset="-120"/>
              </a:rPr>
              <a:t>Practical: </a:t>
            </a:r>
            <a:r>
              <a:rPr lang="en-US" sz="1500" dirty="0">
                <a:solidFill>
                  <a:srgbClr val="1A1A1A"/>
                </a:solidFill>
                <a:latin typeface="Times New Roman" pitchFamily="34" charset="0"/>
                <a:ea typeface="Times New Roman" pitchFamily="34" charset="-122"/>
                <a:cs typeface="Times New Roman" pitchFamily="34" charset="-120"/>
              </a:rPr>
              <a:t>a post-hoc layer, not real-time; latency and cost are acceptable.</a:t>
            </a:r>
            <a:endParaRPr lang="en-US" sz="1500" dirty="0"/>
          </a:p>
        </p:txBody>
      </p:sp>
      <p:sp>
        <p:nvSpPr>
          <p:cNvPr id="10" name="Text 7"/>
          <p:cNvSpPr/>
          <p:nvPr/>
        </p:nvSpPr>
        <p:spPr>
          <a:xfrm>
            <a:off x="8147304" y="1783080"/>
            <a:ext cx="3721608" cy="420624"/>
          </a:xfrm>
          <a:prstGeom prst="roundRect">
            <a:avLst>
              <a:gd name="adj" fmla="val 21739"/>
            </a:avLst>
          </a:prstGeom>
          <a:solidFill>
            <a:srgbClr val="E08A00"/>
          </a:solidFill>
          <a:ln/>
        </p:spPr>
        <p:txBody>
          <a:bodyPr wrap="square" rtlCol="0" anchor="ctr"/>
          <a:lstStyle/>
          <a:p>
            <a:pPr marL="0" indent="0" algn="ctr">
              <a:buNone/>
            </a:pPr>
            <a:r>
              <a:rPr lang="en-US" sz="1700" b="1" dirty="0">
                <a:solidFill>
                  <a:srgbClr val="FFFFFF"/>
                </a:solidFill>
                <a:latin typeface="Times New Roman" pitchFamily="34" charset="0"/>
                <a:ea typeface="Times New Roman" pitchFamily="34" charset="-122"/>
                <a:cs typeface="Times New Roman" pitchFamily="34" charset="-120"/>
              </a:rPr>
              <a:t>Challenges → Mitigation</a:t>
            </a:r>
            <a:endParaRPr lang="en-US" sz="1700" dirty="0"/>
          </a:p>
        </p:txBody>
      </p:sp>
      <p:sp>
        <p:nvSpPr>
          <p:cNvPr id="11" name="Text 8"/>
          <p:cNvSpPr txBox="1"/>
          <p:nvPr/>
        </p:nvSpPr>
        <p:spPr>
          <a:xfrm>
            <a:off x="8183880" y="2286000"/>
            <a:ext cx="3657600" cy="4297680"/>
          </a:xfrm>
          <a:prstGeom prst="rect">
            <a:avLst/>
          </a:prstGeom>
          <a:noFill/>
          <a:ln/>
        </p:spPr>
        <p:txBody>
          <a:bodyPr wrap="square" lIns="63500" tIns="63500" rIns="63500" bIns="63500" rtlCol="0" anchor="t"/>
          <a:lstStyle/>
          <a:p>
            <a:pPr marL="0" indent="0">
              <a:buNone/>
            </a:pPr>
            <a:r>
              <a:rPr lang="en-US" sz="1500" b="1" dirty="0">
                <a:solidFill>
                  <a:srgbClr val="1A1A1A"/>
                </a:solidFill>
                <a:latin typeface="Times New Roman" pitchFamily="34" charset="0"/>
                <a:ea typeface="Times New Roman" pitchFamily="34" charset="-122"/>
                <a:cs typeface="Times New Roman" pitchFamily="34" charset="-120"/>
              </a:rPr>
              <a:t>No benchmark for explanation reliability → </a:t>
            </a:r>
            <a:r>
              <a:rPr lang="en-US" sz="1500" dirty="0">
                <a:solidFill>
                  <a:srgbClr val="1A1A1A"/>
                </a:solidFill>
                <a:latin typeface="Times New Roman" pitchFamily="34" charset="0"/>
                <a:ea typeface="Times New Roman" pitchFamily="34" charset="-122"/>
                <a:cs typeface="Times New Roman" pitchFamily="34" charset="-120"/>
              </a:rPr>
              <a:t>define independent failure labels first</a:t>
            </a:r>
            <a:endParaRPr lang="en-US" sz="1500" dirty="0"/>
          </a:p>
          <a:p>
            <a:pPr marL="0" indent="0">
              <a:buNone/>
            </a:pPr>
            <a:r>
              <a:rPr lang="en-US" sz="1500" b="1" dirty="0">
                <a:solidFill>
                  <a:srgbClr val="1A1A1A"/>
                </a:solidFill>
                <a:latin typeface="Times New Roman" pitchFamily="34" charset="0"/>
                <a:ea typeface="Times New Roman" pitchFamily="34" charset="-122"/>
                <a:cs typeface="Times New Roman" pitchFamily="34" charset="-120"/>
              </a:rPr>
              <a:t>Labs 85–95% missing → </a:t>
            </a:r>
            <a:r>
              <a:rPr lang="en-US" sz="1500" dirty="0">
                <a:solidFill>
                  <a:srgbClr val="1A1A1A"/>
                </a:solidFill>
                <a:latin typeface="Times New Roman" pitchFamily="34" charset="0"/>
                <a:ea typeface="Times New Roman" pitchFamily="34" charset="-122"/>
                <a:cs typeface="Times New Roman" pitchFamily="34" charset="-120"/>
              </a:rPr>
              <a:t>compare imputed vs dropped explanations</a:t>
            </a:r>
            <a:endParaRPr lang="en-US" sz="1500" dirty="0"/>
          </a:p>
          <a:p>
            <a:pPr marL="0" indent="0">
              <a:buNone/>
            </a:pPr>
            <a:r>
              <a:rPr lang="en-US" sz="1500" b="1" dirty="0">
                <a:solidFill>
                  <a:srgbClr val="1A1A1A"/>
                </a:solidFill>
                <a:latin typeface="Times New Roman" pitchFamily="34" charset="0"/>
                <a:ea typeface="Times New Roman" pitchFamily="34" charset="-122"/>
                <a:cs typeface="Times New Roman" pitchFamily="34" charset="-120"/>
              </a:rPr>
              <a:t>Correlated features → </a:t>
            </a:r>
            <a:r>
              <a:rPr lang="en-US" sz="1500" dirty="0">
                <a:solidFill>
                  <a:srgbClr val="1A1A1A"/>
                </a:solidFill>
                <a:latin typeface="Times New Roman" pitchFamily="34" charset="0"/>
                <a:ea typeface="Times New Roman" pitchFamily="34" charset="-122"/>
                <a:cs typeface="Times New Roman" pitchFamily="34" charset="-120"/>
              </a:rPr>
              <a:t>dependence-aware attribution (Latent SHAP)</a:t>
            </a:r>
            <a:endParaRPr lang="en-US" sz="1500" dirty="0"/>
          </a:p>
          <a:p>
            <a:pPr marL="0" indent="0">
              <a:buNone/>
            </a:pPr>
            <a:r>
              <a:rPr lang="en-US" sz="1500" b="1" dirty="0">
                <a:solidFill>
                  <a:srgbClr val="1A1A1A"/>
                </a:solidFill>
                <a:latin typeface="Times New Roman" pitchFamily="34" charset="0"/>
                <a:ea typeface="Times New Roman" pitchFamily="34" charset="-122"/>
                <a:cs typeface="Times New Roman" pitchFamily="34" charset="-120"/>
              </a:rPr>
              <a:t>Circular evaluation → </a:t>
            </a:r>
            <a:r>
              <a:rPr lang="en-US" sz="1500" dirty="0">
                <a:solidFill>
                  <a:srgbClr val="1A1A1A"/>
                </a:solidFill>
                <a:latin typeface="Times New Roman" pitchFamily="34" charset="0"/>
                <a:ea typeface="Times New Roman" pitchFamily="34" charset="-122"/>
                <a:cs typeface="Times New Roman" pitchFamily="34" charset="-120"/>
              </a:rPr>
              <a:t>labels from retraining, perturbation and explainer disagreement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3017520" y="1005840"/>
            <a:ext cx="7644384" cy="502920"/>
          </a:xfrm>
          <a:prstGeom prst="rect">
            <a:avLst/>
          </a:prstGeom>
          <a:noFill/>
          <a:ln/>
        </p:spPr>
        <p:txBody>
          <a:bodyPr wrap="square" lIns="0" tIns="0" rIns="0" bIns="0" rtlCol="0" anchor="b"/>
          <a:lstStyle/>
          <a:p>
            <a:pPr marL="0" indent="0" algn="r">
              <a:buNone/>
            </a:pPr>
            <a:r>
              <a:rPr lang="en-US" sz="2400" dirty="0">
                <a:solidFill>
                  <a:srgbClr val="D40000"/>
                </a:solidFill>
                <a:latin typeface="Times New Roman" pitchFamily="34" charset="0"/>
                <a:ea typeface="Times New Roman" pitchFamily="34" charset="-122"/>
                <a:cs typeface="Times New Roman" pitchFamily="34" charset="-120"/>
              </a:rPr>
              <a:t>Background</a:t>
            </a:r>
            <a:endParaRPr lang="en-US" sz="2400" dirty="0"/>
          </a:p>
        </p:txBody>
      </p:sp>
      <p:sp>
        <p:nvSpPr>
          <p:cNvPr id="4" name="Shape 1"/>
          <p:cNvSpPr/>
          <p:nvPr/>
        </p:nvSpPr>
        <p:spPr>
          <a:xfrm>
            <a:off x="329184" y="1783080"/>
            <a:ext cx="3721608" cy="2286000"/>
          </a:xfrm>
          <a:prstGeom prst="roundRect">
            <a:avLst>
              <a:gd name="adj" fmla="val 4000"/>
            </a:avLst>
          </a:prstGeom>
          <a:solidFill>
            <a:srgbClr val="EEF3FC"/>
          </a:solidFill>
          <a:ln w="15875">
            <a:solidFill>
              <a:srgbClr val="DCE4F5"/>
            </a:solidFill>
            <a:prstDash val="solid"/>
          </a:ln>
        </p:spPr>
      </p:sp>
      <p:sp>
        <p:nvSpPr>
          <p:cNvPr id="5" name="Text 2"/>
          <p:cNvSpPr txBox="1"/>
          <p:nvPr/>
        </p:nvSpPr>
        <p:spPr>
          <a:xfrm>
            <a:off x="466344" y="1828800"/>
            <a:ext cx="3447288" cy="777240"/>
          </a:xfrm>
          <a:prstGeom prst="rect">
            <a:avLst/>
          </a:prstGeom>
          <a:noFill/>
          <a:ln/>
        </p:spPr>
        <p:txBody>
          <a:bodyPr wrap="square" lIns="63500" tIns="63500" rIns="63500" bIns="63500" rtlCol="0" anchor="ctr"/>
          <a:lstStyle/>
          <a:p>
            <a:pPr marL="0" indent="0">
              <a:buNone/>
            </a:pPr>
            <a:r>
              <a:rPr lang="en-US" sz="4400" b="1" dirty="0">
                <a:solidFill>
                  <a:srgbClr val="D40000"/>
                </a:solidFill>
                <a:latin typeface="Times New Roman" pitchFamily="34" charset="0"/>
                <a:ea typeface="Times New Roman" pitchFamily="34" charset="-122"/>
                <a:cs typeface="Times New Roman" pitchFamily="34" charset="-120"/>
              </a:rPr>
              <a:t>0.85–0.91</a:t>
            </a:r>
            <a:endParaRPr lang="en-US" sz="4400" dirty="0"/>
          </a:p>
        </p:txBody>
      </p:sp>
      <p:sp>
        <p:nvSpPr>
          <p:cNvPr id="6" name="Text 3"/>
          <p:cNvSpPr txBox="1"/>
          <p:nvPr/>
        </p:nvSpPr>
        <p:spPr>
          <a:xfrm>
            <a:off x="466344" y="2651760"/>
            <a:ext cx="3447288" cy="1005840"/>
          </a:xfrm>
          <a:prstGeom prst="rect">
            <a:avLst/>
          </a:prstGeom>
          <a:noFill/>
          <a:ln/>
        </p:spPr>
        <p:txBody>
          <a:bodyPr wrap="square" lIns="63500" tIns="63500" rIns="63500" bIns="63500" rtlCol="0" anchor="t"/>
          <a:lstStyle/>
          <a:p>
            <a:pPr marL="0" indent="0">
              <a:buNone/>
            </a:pPr>
            <a:r>
              <a:rPr lang="en-US" sz="1600" dirty="0">
                <a:solidFill>
                  <a:srgbClr val="1A1A1A"/>
                </a:solidFill>
                <a:latin typeface="Times New Roman" pitchFamily="34" charset="0"/>
                <a:ea typeface="Times New Roman" pitchFamily="34" charset="-122"/>
                <a:cs typeface="Times New Roman" pitchFamily="34" charset="-120"/>
              </a:rPr>
              <a:t>AUROC of ensemble models on PhysioNet 2019; LSTM reaches about 0.85</a:t>
            </a:r>
            <a:endParaRPr lang="en-US" sz="1600" dirty="0"/>
          </a:p>
        </p:txBody>
      </p:sp>
      <p:sp>
        <p:nvSpPr>
          <p:cNvPr id="7" name="Text 4"/>
          <p:cNvSpPr txBox="1"/>
          <p:nvPr/>
        </p:nvSpPr>
        <p:spPr>
          <a:xfrm>
            <a:off x="466344" y="3703320"/>
            <a:ext cx="3447288" cy="320040"/>
          </a:xfrm>
          <a:prstGeom prst="rect">
            <a:avLst/>
          </a:prstGeom>
          <a:noFill/>
          <a:ln/>
        </p:spPr>
        <p:txBody>
          <a:bodyPr wrap="square" lIns="63500" tIns="63500" rIns="63500" bIns="63500" rtlCol="0" anchor="t"/>
          <a:lstStyle/>
          <a:p>
            <a:pPr marL="0" indent="0">
              <a:buNone/>
            </a:pPr>
            <a:r>
              <a:rPr lang="en-US" sz="1200" i="1" dirty="0">
                <a:solidFill>
                  <a:srgbClr val="555555"/>
                </a:solidFill>
                <a:latin typeface="Times New Roman" pitchFamily="34" charset="0"/>
                <a:ea typeface="Times New Roman" pitchFamily="34" charset="-122"/>
                <a:cs typeface="Times New Roman" pitchFamily="34" charset="-120"/>
              </a:rPr>
              <a:t>PhysioNet/CinC Challenge 2019 studies</a:t>
            </a:r>
            <a:endParaRPr lang="en-US" sz="1200" dirty="0"/>
          </a:p>
        </p:txBody>
      </p:sp>
      <p:sp>
        <p:nvSpPr>
          <p:cNvPr id="8" name="Shape 5"/>
          <p:cNvSpPr/>
          <p:nvPr/>
        </p:nvSpPr>
        <p:spPr>
          <a:xfrm>
            <a:off x="4242816" y="1783080"/>
            <a:ext cx="3721608" cy="2286000"/>
          </a:xfrm>
          <a:prstGeom prst="roundRect">
            <a:avLst>
              <a:gd name="adj" fmla="val 4000"/>
            </a:avLst>
          </a:prstGeom>
          <a:solidFill>
            <a:srgbClr val="EEF3FC"/>
          </a:solidFill>
          <a:ln w="15875">
            <a:solidFill>
              <a:srgbClr val="DCE4F5"/>
            </a:solidFill>
            <a:prstDash val="solid"/>
          </a:ln>
        </p:spPr>
      </p:sp>
      <p:sp>
        <p:nvSpPr>
          <p:cNvPr id="9" name="Text 6"/>
          <p:cNvSpPr txBox="1"/>
          <p:nvPr/>
        </p:nvSpPr>
        <p:spPr>
          <a:xfrm>
            <a:off x="4379976" y="1828800"/>
            <a:ext cx="3447288" cy="777240"/>
          </a:xfrm>
          <a:prstGeom prst="rect">
            <a:avLst/>
          </a:prstGeom>
          <a:noFill/>
          <a:ln/>
        </p:spPr>
        <p:txBody>
          <a:bodyPr wrap="square" lIns="63500" tIns="63500" rIns="63500" bIns="63500" rtlCol="0" anchor="ctr"/>
          <a:lstStyle/>
          <a:p>
            <a:pPr marL="0" indent="0">
              <a:buNone/>
            </a:pPr>
            <a:r>
              <a:rPr lang="en-US" sz="4400" b="1" dirty="0">
                <a:solidFill>
                  <a:srgbClr val="E08A00"/>
                </a:solidFill>
                <a:latin typeface="Times New Roman" pitchFamily="34" charset="0"/>
                <a:ea typeface="Times New Roman" pitchFamily="34" charset="-122"/>
                <a:cs typeface="Times New Roman" pitchFamily="34" charset="-120"/>
              </a:rPr>
              <a:t>85–95%</a:t>
            </a:r>
            <a:endParaRPr lang="en-US" sz="4400" dirty="0"/>
          </a:p>
        </p:txBody>
      </p:sp>
      <p:sp>
        <p:nvSpPr>
          <p:cNvPr id="10" name="Text 7"/>
          <p:cNvSpPr txBox="1"/>
          <p:nvPr/>
        </p:nvSpPr>
        <p:spPr>
          <a:xfrm>
            <a:off x="4379976" y="2651760"/>
            <a:ext cx="3447288" cy="1005840"/>
          </a:xfrm>
          <a:prstGeom prst="rect">
            <a:avLst/>
          </a:prstGeom>
          <a:noFill/>
          <a:ln/>
        </p:spPr>
        <p:txBody>
          <a:bodyPr wrap="square" lIns="63500" tIns="63500" rIns="63500" bIns="63500" rtlCol="0" anchor="t"/>
          <a:lstStyle/>
          <a:p>
            <a:pPr marL="0" indent="0">
              <a:buNone/>
            </a:pPr>
            <a:r>
              <a:rPr lang="en-US" sz="1600" dirty="0">
                <a:solidFill>
                  <a:srgbClr val="1A1A1A"/>
                </a:solidFill>
                <a:latin typeface="Times New Roman" pitchFamily="34" charset="0"/>
                <a:ea typeface="Times New Roman" pitchFamily="34" charset="-122"/>
                <a:cs typeface="Times New Roman" pitchFamily="34" charset="-120"/>
              </a:rPr>
              <a:t>missingness in lab values, so SHAP depends on which features were measured</a:t>
            </a:r>
            <a:endParaRPr lang="en-US" sz="1600" dirty="0"/>
          </a:p>
        </p:txBody>
      </p:sp>
      <p:sp>
        <p:nvSpPr>
          <p:cNvPr id="11" name="Text 8"/>
          <p:cNvSpPr txBox="1"/>
          <p:nvPr/>
        </p:nvSpPr>
        <p:spPr>
          <a:xfrm>
            <a:off x="4379976" y="3703320"/>
            <a:ext cx="3447288" cy="320040"/>
          </a:xfrm>
          <a:prstGeom prst="rect">
            <a:avLst/>
          </a:prstGeom>
          <a:noFill/>
          <a:ln/>
        </p:spPr>
        <p:txBody>
          <a:bodyPr wrap="square" lIns="63500" tIns="63500" rIns="63500" bIns="63500" rtlCol="0" anchor="t"/>
          <a:lstStyle/>
          <a:p>
            <a:pPr marL="0" indent="0">
              <a:buNone/>
            </a:pPr>
            <a:r>
              <a:rPr lang="en-US" sz="1200" i="1" dirty="0">
                <a:solidFill>
                  <a:srgbClr val="555555"/>
                </a:solidFill>
                <a:latin typeface="Times New Roman" pitchFamily="34" charset="0"/>
                <a:ea typeface="Times New Roman" pitchFamily="34" charset="-122"/>
                <a:cs typeface="Times New Roman" pitchFamily="34" charset="-120"/>
              </a:rPr>
              <a:t>PhysioNet/CinC 2019 data</a:t>
            </a:r>
            <a:endParaRPr lang="en-US" sz="1200" dirty="0"/>
          </a:p>
        </p:txBody>
      </p:sp>
      <p:sp>
        <p:nvSpPr>
          <p:cNvPr id="12" name="Shape 9"/>
          <p:cNvSpPr/>
          <p:nvPr/>
        </p:nvSpPr>
        <p:spPr>
          <a:xfrm>
            <a:off x="8147304" y="1783080"/>
            <a:ext cx="3721608" cy="2286000"/>
          </a:xfrm>
          <a:prstGeom prst="roundRect">
            <a:avLst>
              <a:gd name="adj" fmla="val 4000"/>
            </a:avLst>
          </a:prstGeom>
          <a:solidFill>
            <a:srgbClr val="EEF3FC"/>
          </a:solidFill>
          <a:ln w="15875">
            <a:solidFill>
              <a:srgbClr val="DCE4F5"/>
            </a:solidFill>
            <a:prstDash val="solid"/>
          </a:ln>
        </p:spPr>
      </p:sp>
      <p:sp>
        <p:nvSpPr>
          <p:cNvPr id="13" name="Text 10"/>
          <p:cNvSpPr txBox="1"/>
          <p:nvPr/>
        </p:nvSpPr>
        <p:spPr>
          <a:xfrm>
            <a:off x="8284464" y="1828800"/>
            <a:ext cx="3447288" cy="777240"/>
          </a:xfrm>
          <a:prstGeom prst="rect">
            <a:avLst/>
          </a:prstGeom>
          <a:noFill/>
          <a:ln/>
        </p:spPr>
        <p:txBody>
          <a:bodyPr wrap="square" lIns="63500" tIns="63500" rIns="63500" bIns="63500" rtlCol="0" anchor="ctr"/>
          <a:lstStyle/>
          <a:p>
            <a:pPr marL="0" indent="0">
              <a:buNone/>
            </a:pPr>
            <a:r>
              <a:rPr lang="en-US" sz="4400" b="1" dirty="0">
                <a:solidFill>
                  <a:srgbClr val="0033CC"/>
                </a:solidFill>
                <a:latin typeface="Times New Roman" pitchFamily="34" charset="0"/>
                <a:ea typeface="Times New Roman" pitchFamily="34" charset="-122"/>
                <a:cs typeface="Times New Roman" pitchFamily="34" charset="-120"/>
              </a:rPr>
              <a:t>+67% / yr</a:t>
            </a:r>
            <a:endParaRPr lang="en-US" sz="4400" dirty="0"/>
          </a:p>
        </p:txBody>
      </p:sp>
      <p:sp>
        <p:nvSpPr>
          <p:cNvPr id="14" name="Text 11"/>
          <p:cNvSpPr txBox="1"/>
          <p:nvPr/>
        </p:nvSpPr>
        <p:spPr>
          <a:xfrm>
            <a:off x="8284464" y="2651760"/>
            <a:ext cx="3447288" cy="1005840"/>
          </a:xfrm>
          <a:prstGeom prst="rect">
            <a:avLst/>
          </a:prstGeom>
          <a:noFill/>
          <a:ln/>
        </p:spPr>
        <p:txBody>
          <a:bodyPr wrap="square" lIns="63500" tIns="63500" rIns="63500" bIns="63500" rtlCol="0" anchor="t"/>
          <a:lstStyle/>
          <a:p>
            <a:pPr marL="0" indent="0">
              <a:buNone/>
            </a:pPr>
            <a:r>
              <a:rPr lang="en-US" sz="1600" dirty="0">
                <a:solidFill>
                  <a:srgbClr val="1A1A1A"/>
                </a:solidFill>
                <a:latin typeface="Times New Roman" pitchFamily="34" charset="0"/>
                <a:ea typeface="Times New Roman" pitchFamily="34" charset="-122"/>
                <a:cs typeface="Times New Roman" pitchFamily="34" charset="-120"/>
              </a:rPr>
              <a:t>growth in explainability adoption across 37 sepsis studies; PCT/CRP rarely rank high</a:t>
            </a:r>
            <a:endParaRPr lang="en-US" sz="1600" dirty="0"/>
          </a:p>
        </p:txBody>
      </p:sp>
      <p:sp>
        <p:nvSpPr>
          <p:cNvPr id="15" name="Text 12"/>
          <p:cNvSpPr txBox="1"/>
          <p:nvPr/>
        </p:nvSpPr>
        <p:spPr>
          <a:xfrm>
            <a:off x="8284464" y="3703320"/>
            <a:ext cx="3447288" cy="320040"/>
          </a:xfrm>
          <a:prstGeom prst="rect">
            <a:avLst/>
          </a:prstGeom>
          <a:noFill/>
          <a:ln/>
        </p:spPr>
        <p:txBody>
          <a:bodyPr wrap="square" lIns="63500" tIns="63500" rIns="63500" bIns="63500" rtlCol="0" anchor="t"/>
          <a:lstStyle/>
          <a:p>
            <a:pPr marL="0" indent="0">
              <a:buNone/>
            </a:pPr>
            <a:r>
              <a:rPr lang="en-US" sz="1200" i="1" dirty="0">
                <a:solidFill>
                  <a:srgbClr val="555555"/>
                </a:solidFill>
                <a:latin typeface="Times New Roman" pitchFamily="34" charset="0"/>
                <a:ea typeface="Times New Roman" pitchFamily="34" charset="-122"/>
                <a:cs typeface="Times New Roman" pitchFamily="34" charset="-120"/>
              </a:rPr>
              <a:t>BMC Med. Inform. Decis. Mak., 2026</a:t>
            </a:r>
            <a:endParaRPr lang="en-US" sz="1200" dirty="0"/>
          </a:p>
        </p:txBody>
      </p:sp>
      <p:sp>
        <p:nvSpPr>
          <p:cNvPr id="16" name="Text 13"/>
          <p:cNvSpPr txBox="1"/>
          <p:nvPr/>
        </p:nvSpPr>
        <p:spPr>
          <a:xfrm>
            <a:off x="329184" y="4251960"/>
            <a:ext cx="5486400" cy="411480"/>
          </a:xfrm>
          <a:prstGeom prst="rect">
            <a:avLst/>
          </a:prstGeom>
          <a:noFill/>
          <a:ln/>
        </p:spPr>
        <p:txBody>
          <a:bodyPr wrap="square" lIns="63500" tIns="63500" rIns="63500" bIns="63500" rtlCol="0" anchor="t"/>
          <a:lstStyle/>
          <a:p>
            <a:pPr marL="0" indent="0">
              <a:buNone/>
            </a:pPr>
            <a:r>
              <a:rPr lang="en-US" sz="2000" b="1" dirty="0">
                <a:solidFill>
                  <a:srgbClr val="0033CC"/>
                </a:solidFill>
                <a:latin typeface="Times New Roman" pitchFamily="34" charset="0"/>
                <a:ea typeface="Times New Roman" pitchFamily="34" charset="-122"/>
                <a:cs typeface="Times New Roman" pitchFamily="34" charset="-120"/>
              </a:rPr>
              <a:t>Domain context</a:t>
            </a:r>
            <a:endParaRPr lang="en-US" sz="2000" dirty="0"/>
          </a:p>
        </p:txBody>
      </p:sp>
      <p:sp>
        <p:nvSpPr>
          <p:cNvPr id="17" name="Text 14"/>
          <p:cNvSpPr txBox="1"/>
          <p:nvPr/>
        </p:nvSpPr>
        <p:spPr>
          <a:xfrm>
            <a:off x="329184" y="4663440"/>
            <a:ext cx="11530584" cy="1828800"/>
          </a:xfrm>
          <a:prstGeom prst="rect">
            <a:avLst/>
          </a:prstGeom>
          <a:noFill/>
          <a:ln/>
        </p:spPr>
        <p:txBody>
          <a:bodyPr wrap="square" lIns="63500" tIns="63500" rIns="63500" bIns="63500" rtlCol="0" anchor="t"/>
          <a:lstStyle/>
          <a:p>
            <a:pPr marL="0" indent="0">
              <a:buNone/>
            </a:pPr>
            <a:r>
              <a:rPr lang="en-US" sz="1800" dirty="0">
                <a:solidFill>
                  <a:srgbClr val="1A1A1A"/>
                </a:solidFill>
                <a:latin typeface="Times New Roman" pitchFamily="34" charset="0"/>
                <a:ea typeface="Times New Roman" pitchFamily="34" charset="-122"/>
                <a:cs typeface="Times New Roman" pitchFamily="34" charset="-120"/>
              </a:rPr>
              <a:t>Early sepsis prediction uses ensemble models and deep learning, and SHAP is the default explanation. Because clinical variables are correlated, theory (Attribution Impossibility, 2026) shows no feature ranking can be faithful, stable and complete together. A clinician may see respiratory rate as the top feature, then heart rate after retraining. The prediction is stable, the explanation is not, and nothing tells the clinician.</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3017520" y="1005840"/>
            <a:ext cx="7644384" cy="502920"/>
          </a:xfrm>
          <a:prstGeom prst="rect">
            <a:avLst/>
          </a:prstGeom>
          <a:noFill/>
          <a:ln/>
        </p:spPr>
        <p:txBody>
          <a:bodyPr wrap="square" lIns="0" tIns="0" rIns="0" bIns="0" rtlCol="0" anchor="b"/>
          <a:lstStyle/>
          <a:p>
            <a:pPr marL="0" indent="0" algn="r">
              <a:buNone/>
            </a:pPr>
            <a:r>
              <a:rPr lang="en-US" sz="2400" dirty="0">
                <a:solidFill>
                  <a:srgbClr val="D40000"/>
                </a:solidFill>
                <a:latin typeface="Times New Roman" pitchFamily="34" charset="0"/>
                <a:ea typeface="Times New Roman" pitchFamily="34" charset="-122"/>
                <a:cs typeface="Times New Roman" pitchFamily="34" charset="-120"/>
              </a:rPr>
              <a:t>Background Work</a:t>
            </a:r>
            <a:endParaRPr lang="en-US" sz="2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329184" y="1783080"/>
          <a:ext cx="11521440" cy="3813048"/>
        </p:xfrm>
        <a:graphic>
          <a:graphicData uri="http://schemas.openxmlformats.org/drawingml/2006/table">
            <a:tbl>
              <a:tblPr/>
              <a:tblGrid>
                <a:gridCol w="356616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3931920">
                  <a:extLst>
                    <a:ext uri="{9D8B030D-6E8A-4147-A177-3AD203B41FA5}">
                      <a16:colId xmlns:a16="http://schemas.microsoft.com/office/drawing/2014/main" val="20002"/>
                    </a:ext>
                  </a:extLst>
                </a:gridCol>
              </a:tblGrid>
              <a:tr h="411480">
                <a:tc>
                  <a:txBody>
                    <a:bodyPr/>
                    <a:lstStyle/>
                    <a:p>
                      <a:pPr marL="0" indent="0">
                        <a:buNone/>
                      </a:pPr>
                      <a:r>
                        <a:rPr lang="en-US" sz="1500" b="1" dirty="0">
                          <a:solidFill>
                            <a:srgbClr val="FFFFFF"/>
                          </a:solidFill>
                          <a:latin typeface="Times New Roman" pitchFamily="34" charset="0"/>
                          <a:ea typeface="Times New Roman" pitchFamily="34" charset="-122"/>
                          <a:cs typeface="Times New Roman" pitchFamily="34" charset="-120"/>
                        </a:rPr>
                        <a:t>Work</a:t>
                      </a:r>
                      <a:endParaRPr lang="en-US" sz="15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0033CC"/>
                    </a:solidFill>
                  </a:tcPr>
                </a:tc>
                <a:tc>
                  <a:txBody>
                    <a:bodyPr/>
                    <a:lstStyle/>
                    <a:p>
                      <a:pPr marL="0" indent="0">
                        <a:buNone/>
                      </a:pPr>
                      <a:r>
                        <a:rPr lang="en-US" sz="1500" b="1" dirty="0">
                          <a:solidFill>
                            <a:srgbClr val="FFFFFF"/>
                          </a:solidFill>
                          <a:latin typeface="Times New Roman" pitchFamily="34" charset="0"/>
                          <a:ea typeface="Times New Roman" pitchFamily="34" charset="-122"/>
                          <a:cs typeface="Times New Roman" pitchFamily="34" charset="-120"/>
                        </a:rPr>
                        <a:t>What it shows</a:t>
                      </a:r>
                      <a:endParaRPr lang="en-US" sz="15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0033CC"/>
                    </a:solidFill>
                  </a:tcPr>
                </a:tc>
                <a:tc>
                  <a:txBody>
                    <a:bodyPr/>
                    <a:lstStyle/>
                    <a:p>
                      <a:pPr marL="0" indent="0">
                        <a:buNone/>
                      </a:pPr>
                      <a:r>
                        <a:rPr lang="en-US" sz="1500" b="1" dirty="0">
                          <a:solidFill>
                            <a:srgbClr val="FFFFFF"/>
                          </a:solidFill>
                          <a:latin typeface="Times New Roman" pitchFamily="34" charset="0"/>
                          <a:ea typeface="Times New Roman" pitchFamily="34" charset="-122"/>
                          <a:cs typeface="Times New Roman" pitchFamily="34" charset="-120"/>
                        </a:rPr>
                        <a:t>What is missing</a:t>
                      </a:r>
                      <a:endParaRPr lang="en-US" sz="15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0033CC"/>
                    </a:solidFill>
                  </a:tcPr>
                </a:tc>
                <a:extLst>
                  <a:ext uri="{0D108BD9-81ED-4DB2-BD59-A6C34878D82A}">
                    <a16:rowId xmlns:a16="http://schemas.microsoft.com/office/drawing/2014/main" val="10000"/>
                  </a:ext>
                </a:extLst>
              </a:tr>
              <a:tr h="566928">
                <a:tc>
                  <a:txBody>
                    <a:bodyPr/>
                    <a:lstStyle/>
                    <a:p>
                      <a:pPr marL="0" indent="0">
                        <a:buNone/>
                      </a:pPr>
                      <a:r>
                        <a:rPr lang="en-US" sz="1400" b="1" dirty="0">
                          <a:solidFill>
                            <a:srgbClr val="0033CC"/>
                          </a:solidFill>
                          <a:latin typeface="Times New Roman" pitchFamily="34" charset="0"/>
                          <a:ea typeface="Times New Roman" pitchFamily="34" charset="-122"/>
                          <a:cs typeface="Times New Roman" pitchFamily="34" charset="-120"/>
                        </a:rPr>
                        <a:t>Ensemble models (XGBoost, RF, LightGBM)</a:t>
                      </a:r>
                      <a:endParaRPr lang="en-US" sz="14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tc>
                  <a:txBody>
                    <a:bodyPr/>
                    <a:lstStyle/>
                    <a:p>
                      <a:pPr marL="0" indent="0">
                        <a:buNone/>
                      </a:pPr>
                      <a:r>
                        <a:rPr lang="en-US" sz="1400" dirty="0">
                          <a:solidFill>
                            <a:srgbClr val="1A1A1A"/>
                          </a:solidFill>
                          <a:latin typeface="Times New Roman" pitchFamily="34" charset="0"/>
                          <a:ea typeface="Times New Roman" pitchFamily="34" charset="-122"/>
                          <a:cs typeface="Times New Roman" pitchFamily="34" charset="-120"/>
                        </a:rPr>
                        <a:t>AUROC 0.85–0.91 on PhysioNet 2019</a:t>
                      </a:r>
                      <a:endParaRPr lang="en-US" sz="14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tc>
                  <a:txBody>
                    <a:bodyPr/>
                    <a:lstStyle/>
                    <a:p>
                      <a:pPr marL="0" indent="0">
                        <a:buNone/>
                      </a:pPr>
                      <a:r>
                        <a:rPr lang="en-US" sz="1400" dirty="0">
                          <a:solidFill>
                            <a:srgbClr val="1A1A1A"/>
                          </a:solidFill>
                          <a:latin typeface="Times New Roman" pitchFamily="34" charset="0"/>
                          <a:ea typeface="Times New Roman" pitchFamily="34" charset="-122"/>
                          <a:cs typeface="Times New Roman" pitchFamily="34" charset="-120"/>
                        </a:rPr>
                        <a:t>Compared with deep learning only across different pipelines</a:t>
                      </a:r>
                      <a:endParaRPr lang="en-US" sz="14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400" b="1" dirty="0">
                          <a:solidFill>
                            <a:srgbClr val="0033CC"/>
                          </a:solidFill>
                          <a:latin typeface="Times New Roman" pitchFamily="34" charset="0"/>
                          <a:ea typeface="Times New Roman" pitchFamily="34" charset="-122"/>
                          <a:cs typeface="Times New Roman" pitchFamily="34" charset="-120"/>
                        </a:rPr>
                        <a:t>LSTM-GAT; MIMIC-Sepsis benchmark (2025–26)</a:t>
                      </a:r>
                      <a:endParaRPr lang="en-US" sz="14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EEF3FC"/>
                    </a:solidFill>
                  </a:tcPr>
                </a:tc>
                <a:tc>
                  <a:txBody>
                    <a:bodyPr/>
                    <a:lstStyle/>
                    <a:p>
                      <a:pPr marL="0" indent="0">
                        <a:buNone/>
                      </a:pPr>
                      <a:r>
                        <a:rPr lang="en-US" sz="1400" dirty="0">
                          <a:solidFill>
                            <a:srgbClr val="1A1A1A"/>
                          </a:solidFill>
                          <a:latin typeface="Times New Roman" pitchFamily="34" charset="0"/>
                          <a:ea typeface="Times New Roman" pitchFamily="34" charset="-122"/>
                          <a:cs typeface="Times New Roman" pitchFamily="34" charset="-120"/>
                        </a:rPr>
                        <a:t>AUROC 0.853 ± 0.005; Transformer 0.919</a:t>
                      </a:r>
                      <a:endParaRPr lang="en-US" sz="14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EEF3FC"/>
                    </a:solidFill>
                  </a:tcPr>
                </a:tc>
                <a:tc>
                  <a:txBody>
                    <a:bodyPr/>
                    <a:lstStyle/>
                    <a:p>
                      <a:pPr marL="0" indent="0">
                        <a:buNone/>
                      </a:pPr>
                      <a:r>
                        <a:rPr lang="en-US" sz="1400" dirty="0">
                          <a:solidFill>
                            <a:srgbClr val="1A1A1A"/>
                          </a:solidFill>
                          <a:latin typeface="Times New Roman" pitchFamily="34" charset="0"/>
                          <a:ea typeface="Times New Roman" pitchFamily="34" charset="-122"/>
                          <a:cs typeface="Times New Roman" pitchFamily="34" charset="-120"/>
                        </a:rPr>
                        <a:t>No explanation reliability evaluation</a:t>
                      </a:r>
                      <a:endParaRPr lang="en-US" sz="14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EEF3FC"/>
                    </a:solidFill>
                  </a:tcPr>
                </a:tc>
                <a:extLst>
                  <a:ext uri="{0D108BD9-81ED-4DB2-BD59-A6C34878D82A}">
                    <a16:rowId xmlns:a16="http://schemas.microsoft.com/office/drawing/2014/main" val="10002"/>
                  </a:ext>
                </a:extLst>
              </a:tr>
              <a:tr h="566928">
                <a:tc>
                  <a:txBody>
                    <a:bodyPr/>
                    <a:lstStyle/>
                    <a:p>
                      <a:pPr marL="0" indent="0">
                        <a:buNone/>
                      </a:pPr>
                      <a:r>
                        <a:rPr lang="en-US" sz="1400" b="1" dirty="0">
                          <a:solidFill>
                            <a:srgbClr val="0033CC"/>
                          </a:solidFill>
                          <a:latin typeface="Times New Roman" pitchFamily="34" charset="0"/>
                          <a:ea typeface="Times New Roman" pitchFamily="34" charset="-122"/>
                          <a:cs typeface="Times New Roman" pitchFamily="34" charset="-120"/>
                        </a:rPr>
                        <a:t>XAI for sepsis review, 37 studies (2026)</a:t>
                      </a:r>
                      <a:endParaRPr lang="en-US" sz="14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tc>
                  <a:txBody>
                    <a:bodyPr/>
                    <a:lstStyle/>
                    <a:p>
                      <a:pPr marL="0" indent="0">
                        <a:buNone/>
                      </a:pPr>
                      <a:r>
                        <a:rPr lang="en-US" sz="1400" dirty="0">
                          <a:solidFill>
                            <a:srgbClr val="1A1A1A"/>
                          </a:solidFill>
                          <a:latin typeface="Times New Roman" pitchFamily="34" charset="0"/>
                          <a:ea typeface="Times New Roman" pitchFamily="34" charset="-122"/>
                          <a:cs typeface="Times New Roman" pitchFamily="34" charset="-120"/>
                        </a:rPr>
                        <a:t>Adoption +67% per year; key biomarkers rarely rank high</a:t>
                      </a:r>
                      <a:endParaRPr lang="en-US" sz="14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tc>
                  <a:txBody>
                    <a:bodyPr/>
                    <a:lstStyle/>
                    <a:p>
                      <a:pPr marL="0" indent="0">
                        <a:buNone/>
                      </a:pPr>
                      <a:r>
                        <a:rPr lang="en-US" sz="1400" dirty="0">
                          <a:solidFill>
                            <a:srgbClr val="1A1A1A"/>
                          </a:solidFill>
                          <a:latin typeface="Times New Roman" pitchFamily="34" charset="0"/>
                          <a:ea typeface="Times New Roman" pitchFamily="34" charset="-122"/>
                          <a:cs typeface="Times New Roman" pitchFamily="34" charset="-120"/>
                        </a:rPr>
                        <a:t>Diagnoses the gap, offers no solution</a:t>
                      </a:r>
                      <a:endParaRPr lang="en-US" sz="14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buNone/>
                      </a:pPr>
                      <a:r>
                        <a:rPr lang="en-US" sz="1400" b="1" dirty="0">
                          <a:solidFill>
                            <a:srgbClr val="0033CC"/>
                          </a:solidFill>
                          <a:latin typeface="Times New Roman" pitchFamily="34" charset="0"/>
                          <a:ea typeface="Times New Roman" pitchFamily="34" charset="-122"/>
                          <a:cs typeface="Times New Roman" pitchFamily="34" charset="-120"/>
                        </a:rPr>
                        <a:t>SHAP failure theory (Huang 2024; Kumar 2020)</a:t>
                      </a:r>
                      <a:endParaRPr lang="en-US" sz="14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EEF3FC"/>
                    </a:solidFill>
                  </a:tcPr>
                </a:tc>
                <a:tc>
                  <a:txBody>
                    <a:bodyPr/>
                    <a:lstStyle/>
                    <a:p>
                      <a:pPr marL="0" indent="0">
                        <a:buNone/>
                      </a:pPr>
                      <a:r>
                        <a:rPr lang="en-US" sz="1400" dirty="0">
                          <a:solidFill>
                            <a:srgbClr val="1A1A1A"/>
                          </a:solidFill>
                          <a:latin typeface="Times New Roman" pitchFamily="34" charset="0"/>
                          <a:ea typeface="Times New Roman" pitchFamily="34" charset="-122"/>
                          <a:cs typeface="Times New Roman" pitchFamily="34" charset="-120"/>
                        </a:rPr>
                        <a:t>SHAP can mislead; many Shapley variants differ</a:t>
                      </a:r>
                      <a:endParaRPr lang="en-US" sz="14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EEF3FC"/>
                    </a:solidFill>
                  </a:tcPr>
                </a:tc>
                <a:tc>
                  <a:txBody>
                    <a:bodyPr/>
                    <a:lstStyle/>
                    <a:p>
                      <a:pPr marL="0" indent="0">
                        <a:buNone/>
                      </a:pPr>
                      <a:r>
                        <a:rPr lang="en-US" sz="1400" dirty="0">
                          <a:solidFill>
                            <a:srgbClr val="1A1A1A"/>
                          </a:solidFill>
                          <a:latin typeface="Times New Roman" pitchFamily="34" charset="0"/>
                          <a:ea typeface="Times New Roman" pitchFamily="34" charset="-122"/>
                          <a:cs typeface="Times New Roman" pitchFamily="34" charset="-120"/>
                        </a:rPr>
                        <a:t>Theoretical; no sepsis or clinical framework</a:t>
                      </a:r>
                      <a:endParaRPr lang="en-US" sz="14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EEF3FC"/>
                    </a:solidFill>
                  </a:tcPr>
                </a:tc>
                <a:extLst>
                  <a:ext uri="{0D108BD9-81ED-4DB2-BD59-A6C34878D82A}">
                    <a16:rowId xmlns:a16="http://schemas.microsoft.com/office/drawing/2014/main" val="10004"/>
                  </a:ext>
                </a:extLst>
              </a:tr>
              <a:tr h="566928">
                <a:tc>
                  <a:txBody>
                    <a:bodyPr/>
                    <a:lstStyle/>
                    <a:p>
                      <a:pPr marL="0" indent="0">
                        <a:buNone/>
                      </a:pPr>
                      <a:r>
                        <a:rPr lang="en-US" sz="1400" b="1" dirty="0">
                          <a:solidFill>
                            <a:srgbClr val="0033CC"/>
                          </a:solidFill>
                          <a:latin typeface="Times New Roman" pitchFamily="34" charset="0"/>
                          <a:ea typeface="Times New Roman" pitchFamily="34" charset="-122"/>
                          <a:cs typeface="Times New Roman" pitchFamily="34" charset="-120"/>
                        </a:rPr>
                        <a:t>Latent SHAP, ReCalX, UbiQTree (2024–25)</a:t>
                      </a:r>
                      <a:endParaRPr lang="en-US" sz="14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tc>
                  <a:txBody>
                    <a:bodyPr/>
                    <a:lstStyle/>
                    <a:p>
                      <a:pPr marL="0" indent="0">
                        <a:buNone/>
                      </a:pPr>
                      <a:r>
                        <a:rPr lang="en-US" sz="1400" dirty="0">
                          <a:solidFill>
                            <a:srgbClr val="1A1A1A"/>
                          </a:solidFill>
                          <a:latin typeface="Times New Roman" pitchFamily="34" charset="0"/>
                          <a:ea typeface="Times New Roman" pitchFamily="34" charset="-122"/>
                          <a:cs typeface="Times New Roman" pitchFamily="34" charset="-120"/>
                        </a:rPr>
                        <a:t>Each fixes or quantifies one failure mode</a:t>
                      </a:r>
                      <a:endParaRPr lang="en-US" sz="14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tc>
                  <a:txBody>
                    <a:bodyPr/>
                    <a:lstStyle/>
                    <a:p>
                      <a:pPr marL="0" indent="0">
                        <a:buNone/>
                      </a:pPr>
                      <a:r>
                        <a:rPr lang="en-US" sz="1400" dirty="0">
                          <a:solidFill>
                            <a:srgbClr val="1A1A1A"/>
                          </a:solidFill>
                          <a:latin typeface="Times New Roman" pitchFamily="34" charset="0"/>
                          <a:ea typeface="Times New Roman" pitchFamily="34" charset="-122"/>
                          <a:cs typeface="Times New Roman" pitchFamily="34" charset="-120"/>
                        </a:rPr>
                        <a:t>Not a detector; not applied to sepsis</a:t>
                      </a:r>
                      <a:endParaRPr lang="en-US" sz="14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66928">
                <a:tc>
                  <a:txBody>
                    <a:bodyPr/>
                    <a:lstStyle/>
                    <a:p>
                      <a:pPr marL="0" indent="0">
                        <a:buNone/>
                      </a:pPr>
                      <a:r>
                        <a:rPr lang="en-US" sz="1400" b="1" dirty="0">
                          <a:solidFill>
                            <a:srgbClr val="0033CC"/>
                          </a:solidFill>
                          <a:latin typeface="Times New Roman" pitchFamily="34" charset="0"/>
                          <a:ea typeface="Times New Roman" pitchFamily="34" charset="-122"/>
                          <a:cs typeface="Times New Roman" pitchFamily="34" charset="-120"/>
                        </a:rPr>
                        <a:t>Our framework</a:t>
                      </a:r>
                      <a:endParaRPr lang="en-US" sz="14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EEF3FC"/>
                    </a:solidFill>
                  </a:tcPr>
                </a:tc>
                <a:tc>
                  <a:txBody>
                    <a:bodyPr/>
                    <a:lstStyle/>
                    <a:p>
                      <a:pPr marL="0" indent="0">
                        <a:buNone/>
                      </a:pPr>
                      <a:r>
                        <a:rPr lang="en-US" sz="1400" dirty="0">
                          <a:solidFill>
                            <a:srgbClr val="1A1A1A"/>
                          </a:solidFill>
                          <a:latin typeface="Times New Roman" pitchFamily="34" charset="0"/>
                          <a:ea typeface="Times New Roman" pitchFamily="34" charset="-122"/>
                          <a:cs typeface="Times New Roman" pitchFamily="34" charset="-120"/>
                        </a:rPr>
                        <a:t>Unified comparison + detect, diagnose, mitigate, abstain</a:t>
                      </a:r>
                      <a:endParaRPr lang="en-US" sz="14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EEF3FC"/>
                    </a:solidFill>
                  </a:tcPr>
                </a:tc>
                <a:tc>
                  <a:txBody>
                    <a:bodyPr/>
                    <a:lstStyle/>
                    <a:p>
                      <a:pPr marL="0" indent="0">
                        <a:buNone/>
                      </a:pPr>
                      <a:r>
                        <a:rPr lang="en-US" sz="1400" dirty="0">
                          <a:solidFill>
                            <a:srgbClr val="1A1A1A"/>
                          </a:solidFill>
                          <a:latin typeface="Times New Roman" pitchFamily="34" charset="0"/>
                          <a:ea typeface="Times New Roman" pitchFamily="34" charset="-122"/>
                          <a:cs typeface="Times New Roman" pitchFamily="34" charset="-120"/>
                        </a:rPr>
                        <a:t>—</a:t>
                      </a:r>
                      <a:endParaRPr lang="en-US" sz="14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EEF3FC"/>
                    </a:solidFill>
                  </a:tcPr>
                </a:tc>
                <a:extLst>
                  <a:ext uri="{0D108BD9-81ED-4DB2-BD59-A6C34878D82A}">
                    <a16:rowId xmlns:a16="http://schemas.microsoft.com/office/drawing/2014/main" val="10006"/>
                  </a:ext>
                </a:extLst>
              </a:tr>
            </a:tbl>
          </a:graphicData>
        </a:graphic>
      </p:graphicFrame>
      <p:sp>
        <p:nvSpPr>
          <p:cNvPr id="5" name="Text 1"/>
          <p:cNvSpPr txBox="1"/>
          <p:nvPr/>
        </p:nvSpPr>
        <p:spPr>
          <a:xfrm>
            <a:off x="329184" y="5852160"/>
            <a:ext cx="11530584" cy="731520"/>
          </a:xfrm>
          <a:prstGeom prst="rect">
            <a:avLst/>
          </a:prstGeom>
          <a:noFill/>
          <a:ln/>
        </p:spPr>
        <p:txBody>
          <a:bodyPr wrap="square" lIns="63500" tIns="63500" rIns="63500" bIns="63500" rtlCol="0" anchor="t"/>
          <a:lstStyle/>
          <a:p>
            <a:pPr marL="0" indent="0">
              <a:buNone/>
            </a:pPr>
            <a:r>
              <a:rPr lang="en-US" sz="1700" b="1" dirty="0">
                <a:solidFill>
                  <a:srgbClr val="D40000"/>
                </a:solidFill>
                <a:latin typeface="Times New Roman" pitchFamily="34" charset="0"/>
                <a:ea typeface="Times New Roman" pitchFamily="34" charset="-122"/>
                <a:cs typeface="Times New Roman" pitchFamily="34" charset="-120"/>
              </a:rPr>
              <a:t>Research gap: </a:t>
            </a:r>
            <a:r>
              <a:rPr lang="en-US" sz="1700" b="1" dirty="0">
                <a:solidFill>
                  <a:srgbClr val="0033CC"/>
                </a:solidFill>
                <a:latin typeface="Times New Roman" pitchFamily="34" charset="0"/>
                <a:ea typeface="Times New Roman" pitchFamily="34" charset="-122"/>
                <a:cs typeface="Times New Roman" pitchFamily="34" charset="-120"/>
              </a:rPr>
              <a:t>no study evaluates whether SHAP explanations for sepsis are stable, faithful and robust, or abstains when they are not.</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3017520" y="1005840"/>
            <a:ext cx="7644384" cy="502920"/>
          </a:xfrm>
          <a:prstGeom prst="rect">
            <a:avLst/>
          </a:prstGeom>
          <a:noFill/>
          <a:ln/>
        </p:spPr>
        <p:txBody>
          <a:bodyPr wrap="square" lIns="0" tIns="0" rIns="0" bIns="0" rtlCol="0" anchor="b"/>
          <a:lstStyle/>
          <a:p>
            <a:pPr marL="0" indent="0" algn="r">
              <a:buNone/>
            </a:pPr>
            <a:r>
              <a:rPr lang="en-US" sz="2400" dirty="0">
                <a:solidFill>
                  <a:srgbClr val="D40000"/>
                </a:solidFill>
                <a:latin typeface="Times New Roman" pitchFamily="34" charset="0"/>
                <a:ea typeface="Times New Roman" pitchFamily="34" charset="-122"/>
                <a:cs typeface="Times New Roman" pitchFamily="34" charset="-120"/>
              </a:rPr>
              <a:t>Proposed Approach</a:t>
            </a:r>
            <a:endParaRPr lang="en-US" sz="2400" dirty="0"/>
          </a:p>
        </p:txBody>
      </p:sp>
      <p:sp>
        <p:nvSpPr>
          <p:cNvPr id="4" name="Text 1"/>
          <p:cNvSpPr/>
          <p:nvPr/>
        </p:nvSpPr>
        <p:spPr>
          <a:xfrm>
            <a:off x="329184" y="1783080"/>
            <a:ext cx="1463040" cy="1371600"/>
          </a:xfrm>
          <a:prstGeom prst="roundRect">
            <a:avLst>
              <a:gd name="adj" fmla="val 6667"/>
            </a:avLst>
          </a:prstGeom>
          <a:solidFill>
            <a:srgbClr val="EEF3FC"/>
          </a:solidFill>
          <a:ln w="12700">
            <a:solidFill>
              <a:srgbClr val="B8C4E0"/>
            </a:solidFill>
          </a:ln>
        </p:spPr>
        <p:txBody>
          <a:bodyPr wrap="square" lIns="50800" tIns="50800" rIns="50800" bIns="50800" rtlCol="0" anchor="ctr"/>
          <a:lstStyle/>
          <a:p>
            <a:pPr marL="0" indent="0" algn="ctr">
              <a:buNone/>
            </a:pPr>
            <a:r>
              <a:rPr lang="en-US" sz="1500" b="1" dirty="0">
                <a:solidFill>
                  <a:srgbClr val="1A1A1A"/>
                </a:solidFill>
                <a:latin typeface="Times New Roman" pitchFamily="34" charset="0"/>
                <a:ea typeface="Times New Roman" pitchFamily="34" charset="-122"/>
                <a:cs typeface="Times New Roman" pitchFamily="34" charset="-120"/>
              </a:rPr>
              <a:t>ICU time-series</a:t>
            </a:r>
            <a:endParaRPr lang="en-US" sz="1500" dirty="0"/>
          </a:p>
          <a:p>
            <a:pPr marL="0" indent="0" algn="ctr">
              <a:buNone/>
            </a:pPr>
            <a:r>
              <a:rPr lang="en-US" sz="1200" dirty="0">
                <a:solidFill>
                  <a:srgbClr val="1A1A1A"/>
                </a:solidFill>
                <a:latin typeface="Times New Roman" pitchFamily="34" charset="0"/>
                <a:ea typeface="Times New Roman" pitchFamily="34" charset="-122"/>
                <a:cs typeface="Times New Roman" pitchFamily="34" charset="-120"/>
              </a:rPr>
              <a:t>40 variables, hourly</a:t>
            </a:r>
            <a:endParaRPr lang="en-US" sz="1500" dirty="0"/>
          </a:p>
        </p:txBody>
      </p:sp>
      <p:sp>
        <p:nvSpPr>
          <p:cNvPr id="5" name="Shape 2"/>
          <p:cNvSpPr/>
          <p:nvPr/>
        </p:nvSpPr>
        <p:spPr>
          <a:xfrm>
            <a:off x="1792224" y="2468880"/>
            <a:ext cx="214884" cy="0"/>
          </a:xfrm>
          <a:prstGeom prst="line">
            <a:avLst/>
          </a:prstGeom>
          <a:noFill/>
          <a:ln w="19050">
            <a:solidFill>
              <a:srgbClr val="555555"/>
            </a:solidFill>
            <a:prstDash val="solid"/>
            <a:tailEnd type="triangle"/>
          </a:ln>
        </p:spPr>
      </p:sp>
      <p:sp>
        <p:nvSpPr>
          <p:cNvPr id="6" name="Text 3"/>
          <p:cNvSpPr/>
          <p:nvPr/>
        </p:nvSpPr>
        <p:spPr>
          <a:xfrm>
            <a:off x="2007108" y="1783080"/>
            <a:ext cx="1463040" cy="1371600"/>
          </a:xfrm>
          <a:prstGeom prst="roundRect">
            <a:avLst>
              <a:gd name="adj" fmla="val 6667"/>
            </a:avLst>
          </a:prstGeom>
          <a:solidFill>
            <a:srgbClr val="EEF3FC"/>
          </a:solidFill>
          <a:ln w="12700">
            <a:solidFill>
              <a:srgbClr val="B8C4E0"/>
            </a:solidFill>
          </a:ln>
        </p:spPr>
        <p:txBody>
          <a:bodyPr wrap="square" lIns="50800" tIns="50800" rIns="50800" bIns="50800" rtlCol="0" anchor="ctr"/>
          <a:lstStyle/>
          <a:p>
            <a:pPr marL="0" indent="0" algn="ctr">
              <a:buNone/>
            </a:pPr>
            <a:r>
              <a:rPr lang="en-US" sz="1500" b="1" dirty="0">
                <a:solidFill>
                  <a:srgbClr val="1A1A1A"/>
                </a:solidFill>
                <a:latin typeface="Times New Roman" pitchFamily="34" charset="0"/>
                <a:ea typeface="Times New Roman" pitchFamily="34" charset="-122"/>
                <a:cs typeface="Times New Roman" pitchFamily="34" charset="-120"/>
              </a:rPr>
              <a:t>Prediction models</a:t>
            </a:r>
            <a:endParaRPr lang="en-US" sz="1500" dirty="0"/>
          </a:p>
          <a:p>
            <a:pPr marL="0" indent="0" algn="ctr">
              <a:buNone/>
            </a:pPr>
            <a:r>
              <a:rPr lang="en-US" sz="1200" dirty="0">
                <a:solidFill>
                  <a:srgbClr val="1A1A1A"/>
                </a:solidFill>
                <a:latin typeface="Times New Roman" pitchFamily="34" charset="0"/>
                <a:ea typeface="Times New Roman" pitchFamily="34" charset="-122"/>
                <a:cs typeface="Times New Roman" pitchFamily="34" charset="-120"/>
              </a:rPr>
              <a:t>XGBoost, RF, LSTM</a:t>
            </a:r>
            <a:endParaRPr lang="en-US" sz="1500" dirty="0"/>
          </a:p>
        </p:txBody>
      </p:sp>
      <p:sp>
        <p:nvSpPr>
          <p:cNvPr id="7" name="Shape 4"/>
          <p:cNvSpPr/>
          <p:nvPr/>
        </p:nvSpPr>
        <p:spPr>
          <a:xfrm>
            <a:off x="3470148" y="2468880"/>
            <a:ext cx="214884" cy="0"/>
          </a:xfrm>
          <a:prstGeom prst="line">
            <a:avLst/>
          </a:prstGeom>
          <a:noFill/>
          <a:ln w="19050">
            <a:solidFill>
              <a:srgbClr val="555555"/>
            </a:solidFill>
            <a:prstDash val="solid"/>
            <a:tailEnd type="triangle"/>
          </a:ln>
        </p:spPr>
      </p:sp>
      <p:sp>
        <p:nvSpPr>
          <p:cNvPr id="8" name="Text 5"/>
          <p:cNvSpPr/>
          <p:nvPr/>
        </p:nvSpPr>
        <p:spPr>
          <a:xfrm>
            <a:off x="3685032" y="1783080"/>
            <a:ext cx="1463040" cy="1371600"/>
          </a:xfrm>
          <a:prstGeom prst="roundRect">
            <a:avLst>
              <a:gd name="adj" fmla="val 6667"/>
            </a:avLst>
          </a:prstGeom>
          <a:solidFill>
            <a:srgbClr val="EEF3FC"/>
          </a:solidFill>
          <a:ln w="12700">
            <a:solidFill>
              <a:srgbClr val="B8C4E0"/>
            </a:solidFill>
          </a:ln>
        </p:spPr>
        <p:txBody>
          <a:bodyPr wrap="square" lIns="50800" tIns="50800" rIns="50800" bIns="50800" rtlCol="0" anchor="ctr"/>
          <a:lstStyle/>
          <a:p>
            <a:pPr marL="0" indent="0" algn="ctr">
              <a:buNone/>
            </a:pPr>
            <a:r>
              <a:rPr lang="en-US" sz="1500" b="1" dirty="0">
                <a:solidFill>
                  <a:srgbClr val="1A1A1A"/>
                </a:solidFill>
                <a:latin typeface="Times New Roman" pitchFamily="34" charset="0"/>
                <a:ea typeface="Times New Roman" pitchFamily="34" charset="-122"/>
                <a:cs typeface="Times New Roman" pitchFamily="34" charset="-120"/>
              </a:rPr>
              <a:t>Explanations</a:t>
            </a:r>
            <a:endParaRPr lang="en-US" sz="1500" dirty="0"/>
          </a:p>
          <a:p>
            <a:pPr marL="0" indent="0" algn="ctr">
              <a:buNone/>
            </a:pPr>
            <a:r>
              <a:rPr lang="en-US" sz="1200" dirty="0">
                <a:solidFill>
                  <a:srgbClr val="1A1A1A"/>
                </a:solidFill>
                <a:latin typeface="Times New Roman" pitchFamily="34" charset="0"/>
                <a:ea typeface="Times New Roman" pitchFamily="34" charset="-122"/>
                <a:cs typeface="Times New Roman" pitchFamily="34" charset="-120"/>
              </a:rPr>
              <a:t>TreeSHAP, Kernel SHAP, IG</a:t>
            </a:r>
            <a:endParaRPr lang="en-US" sz="1500" dirty="0"/>
          </a:p>
        </p:txBody>
      </p:sp>
      <p:sp>
        <p:nvSpPr>
          <p:cNvPr id="9" name="Shape 6"/>
          <p:cNvSpPr/>
          <p:nvPr/>
        </p:nvSpPr>
        <p:spPr>
          <a:xfrm>
            <a:off x="5148072" y="2468880"/>
            <a:ext cx="214884" cy="0"/>
          </a:xfrm>
          <a:prstGeom prst="line">
            <a:avLst/>
          </a:prstGeom>
          <a:noFill/>
          <a:ln w="19050">
            <a:solidFill>
              <a:srgbClr val="555555"/>
            </a:solidFill>
            <a:prstDash val="solid"/>
            <a:tailEnd type="triangle"/>
          </a:ln>
        </p:spPr>
      </p:sp>
      <p:sp>
        <p:nvSpPr>
          <p:cNvPr id="10" name="Text 7"/>
          <p:cNvSpPr/>
          <p:nvPr/>
        </p:nvSpPr>
        <p:spPr>
          <a:xfrm>
            <a:off x="5362956" y="1783080"/>
            <a:ext cx="1463040" cy="1371600"/>
          </a:xfrm>
          <a:prstGeom prst="roundRect">
            <a:avLst>
              <a:gd name="adj" fmla="val 6667"/>
            </a:avLst>
          </a:prstGeom>
          <a:solidFill>
            <a:srgbClr val="0033CC"/>
          </a:solidFill>
          <a:ln w="12700">
            <a:solidFill>
              <a:srgbClr val="0033CC"/>
            </a:solidFill>
          </a:ln>
        </p:spPr>
        <p:txBody>
          <a:bodyPr wrap="square" lIns="50800" tIns="50800" rIns="50800" bIns="50800" rtlCol="0" anchor="ctr"/>
          <a:lstStyle/>
          <a:p>
            <a:pPr marL="0" indent="0" algn="ctr">
              <a:buNone/>
            </a:pPr>
            <a:r>
              <a:rPr lang="en-US" sz="1500" b="1" dirty="0">
                <a:solidFill>
                  <a:srgbClr val="FFFFFF"/>
                </a:solidFill>
                <a:latin typeface="Times New Roman" pitchFamily="34" charset="0"/>
                <a:ea typeface="Times New Roman" pitchFamily="34" charset="-122"/>
                <a:cs typeface="Times New Roman" pitchFamily="34" charset="-120"/>
              </a:rPr>
              <a:t>1. Detect</a:t>
            </a:r>
            <a:endParaRPr lang="en-US" sz="1500" dirty="0"/>
          </a:p>
          <a:p>
            <a:pPr marL="0" indent="0" algn="ctr">
              <a:buNone/>
            </a:pPr>
            <a:r>
              <a:rPr lang="en-US" sz="1200" dirty="0">
                <a:solidFill>
                  <a:srgbClr val="FFFFFF"/>
                </a:solidFill>
                <a:latin typeface="Times New Roman" pitchFamily="34" charset="0"/>
                <a:ea typeface="Times New Roman" pitchFamily="34" charset="-122"/>
                <a:cs typeface="Times New Roman" pitchFamily="34" charset="-120"/>
              </a:rPr>
              <a:t>Stability, faithfulness, robustness</a:t>
            </a:r>
            <a:endParaRPr lang="en-US" sz="1500" dirty="0"/>
          </a:p>
        </p:txBody>
      </p:sp>
      <p:sp>
        <p:nvSpPr>
          <p:cNvPr id="11" name="Shape 8"/>
          <p:cNvSpPr/>
          <p:nvPr/>
        </p:nvSpPr>
        <p:spPr>
          <a:xfrm>
            <a:off x="6825996" y="2468880"/>
            <a:ext cx="214884" cy="0"/>
          </a:xfrm>
          <a:prstGeom prst="line">
            <a:avLst/>
          </a:prstGeom>
          <a:noFill/>
          <a:ln w="19050">
            <a:solidFill>
              <a:srgbClr val="555555"/>
            </a:solidFill>
            <a:prstDash val="solid"/>
            <a:tailEnd type="triangle"/>
          </a:ln>
        </p:spPr>
      </p:sp>
      <p:sp>
        <p:nvSpPr>
          <p:cNvPr id="12" name="Text 9"/>
          <p:cNvSpPr/>
          <p:nvPr/>
        </p:nvSpPr>
        <p:spPr>
          <a:xfrm>
            <a:off x="7040880" y="1783080"/>
            <a:ext cx="1463040" cy="1371600"/>
          </a:xfrm>
          <a:prstGeom prst="roundRect">
            <a:avLst>
              <a:gd name="adj" fmla="val 6667"/>
            </a:avLst>
          </a:prstGeom>
          <a:solidFill>
            <a:srgbClr val="0033CC"/>
          </a:solidFill>
          <a:ln w="12700">
            <a:solidFill>
              <a:srgbClr val="0033CC"/>
            </a:solidFill>
          </a:ln>
        </p:spPr>
        <p:txBody>
          <a:bodyPr wrap="square" lIns="50800" tIns="50800" rIns="50800" bIns="50800" rtlCol="0" anchor="ctr"/>
          <a:lstStyle/>
          <a:p>
            <a:pPr marL="0" indent="0" algn="ctr">
              <a:buNone/>
            </a:pPr>
            <a:r>
              <a:rPr lang="en-US" sz="1500" b="1" dirty="0">
                <a:solidFill>
                  <a:srgbClr val="FFFFFF"/>
                </a:solidFill>
                <a:latin typeface="Times New Roman" pitchFamily="34" charset="0"/>
                <a:ea typeface="Times New Roman" pitchFamily="34" charset="-122"/>
                <a:cs typeface="Times New Roman" pitchFamily="34" charset="-120"/>
              </a:rPr>
              <a:t>2. Diagnose</a:t>
            </a:r>
            <a:endParaRPr lang="en-US" sz="1500" dirty="0"/>
          </a:p>
          <a:p>
            <a:pPr marL="0" indent="0" algn="ctr">
              <a:buNone/>
            </a:pPr>
            <a:r>
              <a:rPr lang="en-US" sz="1200" dirty="0">
                <a:solidFill>
                  <a:srgbClr val="FFFFFF"/>
                </a:solidFill>
                <a:latin typeface="Times New Roman" pitchFamily="34" charset="0"/>
                <a:ea typeface="Times New Roman" pitchFamily="34" charset="-122"/>
                <a:cs typeface="Times New Roman" pitchFamily="34" charset="-120"/>
              </a:rPr>
              <a:t>Find the failure mode</a:t>
            </a:r>
            <a:endParaRPr lang="en-US" sz="1500" dirty="0"/>
          </a:p>
        </p:txBody>
      </p:sp>
      <p:sp>
        <p:nvSpPr>
          <p:cNvPr id="13" name="Shape 10"/>
          <p:cNvSpPr/>
          <p:nvPr/>
        </p:nvSpPr>
        <p:spPr>
          <a:xfrm>
            <a:off x="8503920" y="2468880"/>
            <a:ext cx="214884" cy="0"/>
          </a:xfrm>
          <a:prstGeom prst="line">
            <a:avLst/>
          </a:prstGeom>
          <a:noFill/>
          <a:ln w="19050">
            <a:solidFill>
              <a:srgbClr val="555555"/>
            </a:solidFill>
            <a:prstDash val="solid"/>
            <a:tailEnd type="triangle"/>
          </a:ln>
        </p:spPr>
      </p:sp>
      <p:sp>
        <p:nvSpPr>
          <p:cNvPr id="14" name="Text 11"/>
          <p:cNvSpPr/>
          <p:nvPr/>
        </p:nvSpPr>
        <p:spPr>
          <a:xfrm>
            <a:off x="8718804" y="1783080"/>
            <a:ext cx="1463040" cy="1371600"/>
          </a:xfrm>
          <a:prstGeom prst="roundRect">
            <a:avLst>
              <a:gd name="adj" fmla="val 6667"/>
            </a:avLst>
          </a:prstGeom>
          <a:solidFill>
            <a:srgbClr val="0033CC"/>
          </a:solidFill>
          <a:ln w="12700">
            <a:solidFill>
              <a:srgbClr val="0033CC"/>
            </a:solidFill>
          </a:ln>
        </p:spPr>
        <p:txBody>
          <a:bodyPr wrap="square" lIns="50800" tIns="50800" rIns="50800" bIns="50800" rtlCol="0" anchor="ctr"/>
          <a:lstStyle/>
          <a:p>
            <a:pPr marL="0" indent="0" algn="ctr">
              <a:buNone/>
            </a:pPr>
            <a:r>
              <a:rPr lang="en-US" sz="1500" b="1" dirty="0">
                <a:solidFill>
                  <a:srgbClr val="FFFFFF"/>
                </a:solidFill>
                <a:latin typeface="Times New Roman" pitchFamily="34" charset="0"/>
                <a:ea typeface="Times New Roman" pitchFamily="34" charset="-122"/>
                <a:cs typeface="Times New Roman" pitchFamily="34" charset="-120"/>
              </a:rPr>
              <a:t>3. Mitigate</a:t>
            </a:r>
            <a:endParaRPr lang="en-US" sz="1500" dirty="0"/>
          </a:p>
          <a:p>
            <a:pPr marL="0" indent="0" algn="ctr">
              <a:buNone/>
            </a:pPr>
            <a:r>
              <a:rPr lang="en-US" sz="1200" dirty="0">
                <a:solidFill>
                  <a:srgbClr val="FFFFFF"/>
                </a:solidFill>
                <a:latin typeface="Times New Roman" pitchFamily="34" charset="0"/>
                <a:ea typeface="Times New Roman" pitchFamily="34" charset="-122"/>
                <a:cs typeface="Times New Roman" pitchFamily="34" charset="-120"/>
              </a:rPr>
              <a:t>Targeted fix per mode</a:t>
            </a:r>
            <a:endParaRPr lang="en-US" sz="1500" dirty="0"/>
          </a:p>
        </p:txBody>
      </p:sp>
      <p:sp>
        <p:nvSpPr>
          <p:cNvPr id="15" name="Shape 12"/>
          <p:cNvSpPr/>
          <p:nvPr/>
        </p:nvSpPr>
        <p:spPr>
          <a:xfrm>
            <a:off x="10181844" y="2468880"/>
            <a:ext cx="214884" cy="0"/>
          </a:xfrm>
          <a:prstGeom prst="line">
            <a:avLst/>
          </a:prstGeom>
          <a:noFill/>
          <a:ln w="19050">
            <a:solidFill>
              <a:srgbClr val="555555"/>
            </a:solidFill>
            <a:prstDash val="solid"/>
            <a:tailEnd type="triangle"/>
          </a:ln>
        </p:spPr>
      </p:sp>
      <p:sp>
        <p:nvSpPr>
          <p:cNvPr id="16" name="Text 13"/>
          <p:cNvSpPr/>
          <p:nvPr/>
        </p:nvSpPr>
        <p:spPr>
          <a:xfrm>
            <a:off x="10396728" y="1783080"/>
            <a:ext cx="1463040" cy="1371600"/>
          </a:xfrm>
          <a:prstGeom prst="roundRect">
            <a:avLst>
              <a:gd name="adj" fmla="val 6667"/>
            </a:avLst>
          </a:prstGeom>
          <a:solidFill>
            <a:srgbClr val="0033CC"/>
          </a:solidFill>
          <a:ln w="12700">
            <a:solidFill>
              <a:srgbClr val="0033CC"/>
            </a:solidFill>
          </a:ln>
        </p:spPr>
        <p:txBody>
          <a:bodyPr wrap="square" lIns="50800" tIns="50800" rIns="50800" bIns="50800" rtlCol="0" anchor="ctr"/>
          <a:lstStyle/>
          <a:p>
            <a:pPr marL="0" indent="0" algn="ctr">
              <a:buNone/>
            </a:pPr>
            <a:r>
              <a:rPr lang="en-US" sz="1500" b="1" dirty="0">
                <a:solidFill>
                  <a:srgbClr val="FFFFFF"/>
                </a:solidFill>
                <a:latin typeface="Times New Roman" pitchFamily="34" charset="0"/>
                <a:ea typeface="Times New Roman" pitchFamily="34" charset="-122"/>
                <a:cs typeface="Times New Roman" pitchFamily="34" charset="-120"/>
              </a:rPr>
              <a:t>4. Abstain</a:t>
            </a:r>
            <a:endParaRPr lang="en-US" sz="1500" dirty="0"/>
          </a:p>
          <a:p>
            <a:pPr marL="0" indent="0" algn="ctr">
              <a:buNone/>
            </a:pPr>
            <a:r>
              <a:rPr lang="en-US" sz="1200" dirty="0">
                <a:solidFill>
                  <a:srgbClr val="FFFFFF"/>
                </a:solidFill>
                <a:latin typeface="Times New Roman" pitchFamily="34" charset="0"/>
                <a:ea typeface="Times New Roman" pitchFamily="34" charset="-122"/>
                <a:cs typeface="Times New Roman" pitchFamily="34" charset="-120"/>
              </a:rPr>
              <a:t>Flag if R(x) &lt; 0.5</a:t>
            </a:r>
            <a:endParaRPr lang="en-US" sz="1500" dirty="0"/>
          </a:p>
        </p:txBody>
      </p:sp>
      <p:sp>
        <p:nvSpPr>
          <p:cNvPr id="17" name="Text 14"/>
          <p:cNvSpPr txBox="1"/>
          <p:nvPr/>
        </p:nvSpPr>
        <p:spPr>
          <a:xfrm>
            <a:off x="329184" y="3291840"/>
            <a:ext cx="11530584" cy="411480"/>
          </a:xfrm>
          <a:prstGeom prst="rect">
            <a:avLst/>
          </a:prstGeom>
          <a:noFill/>
          <a:ln/>
        </p:spPr>
        <p:txBody>
          <a:bodyPr wrap="square" lIns="63500" tIns="63500" rIns="63500" bIns="63500" rtlCol="0" anchor="t"/>
          <a:lstStyle/>
          <a:p>
            <a:pPr marL="0" indent="0">
              <a:buNone/>
            </a:pPr>
            <a:r>
              <a:rPr lang="en-US" sz="1500" i="1" dirty="0">
                <a:solidFill>
                  <a:srgbClr val="444444"/>
                </a:solidFill>
                <a:latin typeface="Times New Roman" pitchFamily="34" charset="0"/>
                <a:ea typeface="Times New Roman" pitchFamily="34" charset="-122"/>
                <a:cs typeface="Times New Roman" pitchFamily="34" charset="-120"/>
              </a:rPr>
              <a:t>Blue boxes = our contribution. Output: a reliable explanation, or an “Explanation unreliable” warning.</a:t>
            </a:r>
            <a:endParaRPr lang="en-US" sz="1500" dirty="0"/>
          </a:p>
        </p:txBody>
      </p:sp>
      <p:sp>
        <p:nvSpPr>
          <p:cNvPr id="18" name="Shape 15"/>
          <p:cNvSpPr/>
          <p:nvPr/>
        </p:nvSpPr>
        <p:spPr>
          <a:xfrm>
            <a:off x="329184" y="3840480"/>
            <a:ext cx="5577840" cy="1920240"/>
          </a:xfrm>
          <a:prstGeom prst="roundRect">
            <a:avLst>
              <a:gd name="adj" fmla="val 4762"/>
            </a:avLst>
          </a:prstGeom>
          <a:solidFill>
            <a:srgbClr val="EEF3FC"/>
          </a:solidFill>
          <a:ln w="15875">
            <a:solidFill>
              <a:srgbClr val="DCE4F5"/>
            </a:solidFill>
            <a:prstDash val="solid"/>
          </a:ln>
        </p:spPr>
      </p:sp>
      <p:sp>
        <p:nvSpPr>
          <p:cNvPr id="19" name="Text 16"/>
          <p:cNvSpPr txBox="1"/>
          <p:nvPr/>
        </p:nvSpPr>
        <p:spPr>
          <a:xfrm>
            <a:off x="457200" y="3904488"/>
            <a:ext cx="5349240" cy="1783080"/>
          </a:xfrm>
          <a:prstGeom prst="rect">
            <a:avLst/>
          </a:prstGeom>
          <a:noFill/>
          <a:ln/>
        </p:spPr>
        <p:txBody>
          <a:bodyPr wrap="square" lIns="63500" tIns="63500" rIns="63500" bIns="63500" rtlCol="0" anchor="t"/>
          <a:lstStyle/>
          <a:p>
            <a:pPr marL="0" indent="0">
              <a:buNone/>
            </a:pPr>
            <a:r>
              <a:rPr lang="en-US" sz="2000" b="1" dirty="0">
                <a:solidFill>
                  <a:srgbClr val="0033CC"/>
                </a:solidFill>
                <a:latin typeface="Times New Roman" pitchFamily="34" charset="0"/>
                <a:ea typeface="Times New Roman" pitchFamily="34" charset="-122"/>
                <a:cs typeface="Times New Roman" pitchFamily="34" charset="-120"/>
              </a:rPr>
              <a:t>Reliability score</a:t>
            </a:r>
            <a:endParaRPr lang="en-US" sz="1600" dirty="0"/>
          </a:p>
          <a:p>
            <a:pPr marL="0" indent="0">
              <a:buNone/>
            </a:pPr>
            <a:r>
              <a:rPr lang="en-US" sz="1900" dirty="0">
                <a:solidFill>
                  <a:srgbClr val="1A1A1A"/>
                </a:solidFill>
                <a:latin typeface="Times New Roman" pitchFamily="34" charset="0"/>
                <a:ea typeface="Times New Roman" pitchFamily="34" charset="-122"/>
                <a:cs typeface="Times New Roman" pitchFamily="34" charset="-120"/>
              </a:rPr>
              <a:t>R(x) = w_s · Stability(x) + w_f · Faithfulness(x)</a:t>
            </a:r>
            <a:endParaRPr lang="en-US" sz="1600" dirty="0"/>
          </a:p>
          <a:p>
            <a:pPr marL="0" indent="0">
              <a:buNone/>
            </a:pPr>
            <a:r>
              <a:rPr lang="en-US" sz="1900" dirty="0">
                <a:solidFill>
                  <a:srgbClr val="1A1A1A"/>
                </a:solidFill>
                <a:latin typeface="Times New Roman" pitchFamily="34" charset="0"/>
                <a:ea typeface="Times New Roman" pitchFamily="34" charset="-122"/>
                <a:cs typeface="Times New Roman" pitchFamily="34" charset="-120"/>
              </a:rPr>
              <a:t>          + w_r · Robustness(x)</a:t>
            </a:r>
            <a:endParaRPr lang="en-US" sz="1600" dirty="0"/>
          </a:p>
          <a:p>
            <a:pPr marL="0" indent="0">
              <a:buNone/>
            </a:pPr>
            <a:r>
              <a:rPr lang="en-US" sz="1500" dirty="0">
                <a:solidFill>
                  <a:srgbClr val="1A1A1A"/>
                </a:solidFill>
                <a:latin typeface="Times New Roman" pitchFamily="34" charset="0"/>
                <a:ea typeface="Times New Roman" pitchFamily="34" charset="-122"/>
                <a:cs typeface="Times New Roman" pitchFamily="34" charset="-120"/>
              </a:rPr>
              <a:t>Weights start at 1/3 each and are tuned on the validation set.</a:t>
            </a:r>
            <a:endParaRPr lang="en-US" sz="1600" dirty="0"/>
          </a:p>
        </p:txBody>
      </p:sp>
      <p:sp>
        <p:nvSpPr>
          <p:cNvPr id="20" name="Shape 17"/>
          <p:cNvSpPr/>
          <p:nvPr/>
        </p:nvSpPr>
        <p:spPr>
          <a:xfrm>
            <a:off x="6135624" y="3840480"/>
            <a:ext cx="5724144" cy="1920240"/>
          </a:xfrm>
          <a:prstGeom prst="roundRect">
            <a:avLst>
              <a:gd name="adj" fmla="val 4762"/>
            </a:avLst>
          </a:prstGeom>
          <a:solidFill>
            <a:srgbClr val="FFFFFF"/>
          </a:solidFill>
          <a:ln w="15875">
            <a:solidFill>
              <a:srgbClr val="D40000"/>
            </a:solidFill>
            <a:prstDash val="solid"/>
          </a:ln>
        </p:spPr>
      </p:sp>
      <p:sp>
        <p:nvSpPr>
          <p:cNvPr id="21" name="Text 18"/>
          <p:cNvSpPr txBox="1"/>
          <p:nvPr/>
        </p:nvSpPr>
        <p:spPr>
          <a:xfrm>
            <a:off x="6263640" y="3904488"/>
            <a:ext cx="5486400" cy="1783080"/>
          </a:xfrm>
          <a:prstGeom prst="rect">
            <a:avLst/>
          </a:prstGeom>
          <a:noFill/>
          <a:ln/>
        </p:spPr>
        <p:txBody>
          <a:bodyPr wrap="square" lIns="63500" tIns="63500" rIns="63500" bIns="63500" rtlCol="0" anchor="t"/>
          <a:lstStyle/>
          <a:p>
            <a:pPr marL="0" indent="0">
              <a:buNone/>
            </a:pPr>
            <a:r>
              <a:rPr lang="en-US" sz="2000" b="1" dirty="0">
                <a:solidFill>
                  <a:srgbClr val="D40000"/>
                </a:solidFill>
                <a:latin typeface="Times New Roman" pitchFamily="34" charset="0"/>
                <a:ea typeface="Times New Roman" pitchFamily="34" charset="-122"/>
                <a:cs typeface="Times New Roman" pitchFamily="34" charset="-120"/>
              </a:rPr>
              <a:t>Example output</a:t>
            </a:r>
            <a:endParaRPr lang="en-US" sz="1600" dirty="0"/>
          </a:p>
          <a:p>
            <a:pPr marL="0" indent="0">
              <a:buNone/>
            </a:pPr>
            <a:r>
              <a:rPr lang="en-US" sz="1700" i="1" dirty="0">
                <a:solidFill>
                  <a:srgbClr val="1A1A1A"/>
                </a:solidFill>
                <a:latin typeface="Times New Roman" pitchFamily="34" charset="0"/>
                <a:ea typeface="Times New Roman" pitchFamily="34" charset="-122"/>
                <a:cs typeface="Times New Roman" pitchFamily="34" charset="-120"/>
              </a:rPr>
              <a:t>“Prediction: 82% sepsis risk. Explanation reliability: LOW. Top feature ranking is unstable across model retraining. Use clinical judgment.”</a:t>
            </a:r>
            <a:endParaRPr lang="en-US" sz="1600" dirty="0"/>
          </a:p>
        </p:txBody>
      </p:sp>
      <p:sp>
        <p:nvSpPr>
          <p:cNvPr id="22" name="Text 19"/>
          <p:cNvSpPr txBox="1"/>
          <p:nvPr/>
        </p:nvSpPr>
        <p:spPr>
          <a:xfrm>
            <a:off x="329184" y="5943600"/>
            <a:ext cx="11530584" cy="365760"/>
          </a:xfrm>
          <a:prstGeom prst="rect">
            <a:avLst/>
          </a:prstGeom>
          <a:noFill/>
          <a:ln/>
        </p:spPr>
        <p:txBody>
          <a:bodyPr wrap="square" lIns="63500" tIns="63500" rIns="63500" bIns="63500" rtlCol="0" anchor="t"/>
          <a:lstStyle/>
          <a:p>
            <a:pPr marL="0" indent="0">
              <a:buNone/>
            </a:pPr>
            <a:r>
              <a:rPr lang="en-US" sz="1300" i="1" dirty="0">
                <a:solidFill>
                  <a:srgbClr val="555555"/>
                </a:solidFill>
                <a:latin typeface="Times New Roman" pitchFamily="34" charset="0"/>
                <a:ea typeface="Times New Roman" pitchFamily="34" charset="-122"/>
                <a:cs typeface="Times New Roman" pitchFamily="34" charset="-120"/>
              </a:rPr>
              <a:t>Stack: Python | XGBoost / scikit-learn | PyTorch | SHAP | Captum | SciPy | Pandas / NumPy | </a:t>
            </a:r>
            <a:r>
              <a:rPr lang="en-US" sz="1300" i="1" dirty="0" err="1">
                <a:solidFill>
                  <a:srgbClr val="555555"/>
                </a:solidFill>
                <a:latin typeface="Times New Roman" pitchFamily="34" charset="0"/>
                <a:ea typeface="Times New Roman" pitchFamily="34" charset="-122"/>
                <a:cs typeface="Times New Roman" pitchFamily="34" charset="-120"/>
              </a:rPr>
              <a:t>Streamlit</a:t>
            </a:r>
            <a:r>
              <a:rPr lang="en-US" sz="1300" i="1" dirty="0">
                <a:solidFill>
                  <a:srgbClr val="555555"/>
                </a:solidFill>
                <a:latin typeface="Times New Roman" pitchFamily="34" charset="0"/>
                <a:ea typeface="Times New Roman" pitchFamily="34" charset="-122"/>
                <a:cs typeface="Times New Roman" pitchFamily="34" charset="-120"/>
              </a:rPr>
              <a:t> </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3017520" y="1005840"/>
            <a:ext cx="7644384" cy="502920"/>
          </a:xfrm>
          <a:prstGeom prst="rect">
            <a:avLst/>
          </a:prstGeom>
          <a:noFill/>
          <a:ln/>
        </p:spPr>
        <p:txBody>
          <a:bodyPr wrap="square" lIns="0" tIns="0" rIns="0" bIns="0" rtlCol="0" anchor="b"/>
          <a:lstStyle/>
          <a:p>
            <a:pPr marL="0" indent="0" algn="r">
              <a:buNone/>
            </a:pPr>
            <a:r>
              <a:rPr lang="en-US" sz="2400" dirty="0">
                <a:solidFill>
                  <a:srgbClr val="D40000"/>
                </a:solidFill>
                <a:latin typeface="Times New Roman" pitchFamily="34" charset="0"/>
                <a:ea typeface="Times New Roman" pitchFamily="34" charset="-122"/>
                <a:cs typeface="Times New Roman" pitchFamily="34" charset="-120"/>
              </a:rPr>
              <a:t>Reliability Layer: Detect</a:t>
            </a:r>
            <a:endParaRPr lang="en-US" sz="2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329184" y="1783080"/>
          <a:ext cx="11521440" cy="3337560"/>
        </p:xfrm>
        <a:graphic>
          <a:graphicData uri="http://schemas.openxmlformats.org/drawingml/2006/table">
            <a:tbl>
              <a:tblPr/>
              <a:tblGrid>
                <a:gridCol w="2926080">
                  <a:extLst>
                    <a:ext uri="{9D8B030D-6E8A-4147-A177-3AD203B41FA5}">
                      <a16:colId xmlns:a16="http://schemas.microsoft.com/office/drawing/2014/main" val="20000"/>
                    </a:ext>
                  </a:extLst>
                </a:gridCol>
                <a:gridCol w="630936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tblGrid>
              <a:tr h="411480">
                <a:tc>
                  <a:txBody>
                    <a:bodyPr/>
                    <a:lstStyle/>
                    <a:p>
                      <a:pPr marL="0" indent="0">
                        <a:buNone/>
                      </a:pPr>
                      <a:r>
                        <a:rPr lang="en-US" sz="1500" b="1" dirty="0">
                          <a:solidFill>
                            <a:srgbClr val="FFFFFF"/>
                          </a:solidFill>
                          <a:latin typeface="Times New Roman" pitchFamily="34" charset="0"/>
                          <a:ea typeface="Times New Roman" pitchFamily="34" charset="-122"/>
                          <a:cs typeface="Times New Roman" pitchFamily="34" charset="-120"/>
                        </a:rPr>
                        <a:t>Metric</a:t>
                      </a:r>
                      <a:endParaRPr lang="en-US" sz="15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0033CC"/>
                    </a:solidFill>
                  </a:tcPr>
                </a:tc>
                <a:tc>
                  <a:txBody>
                    <a:bodyPr/>
                    <a:lstStyle/>
                    <a:p>
                      <a:pPr marL="0" indent="0">
                        <a:buNone/>
                      </a:pPr>
                      <a:r>
                        <a:rPr lang="en-US" sz="1500" b="1" dirty="0">
                          <a:solidFill>
                            <a:srgbClr val="FFFFFF"/>
                          </a:solidFill>
                          <a:latin typeface="Times New Roman" pitchFamily="34" charset="0"/>
                          <a:ea typeface="Times New Roman" pitchFamily="34" charset="-122"/>
                          <a:cs typeface="Times New Roman" pitchFamily="34" charset="-120"/>
                        </a:rPr>
                        <a:t>How it is computed</a:t>
                      </a:r>
                      <a:endParaRPr lang="en-US" sz="15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0033CC"/>
                    </a:solidFill>
                  </a:tcPr>
                </a:tc>
                <a:tc>
                  <a:txBody>
                    <a:bodyPr/>
                    <a:lstStyle/>
                    <a:p>
                      <a:pPr marL="0" indent="0">
                        <a:buNone/>
                      </a:pPr>
                      <a:r>
                        <a:rPr lang="en-US" sz="1500" b="1" dirty="0">
                          <a:solidFill>
                            <a:srgbClr val="FFFFFF"/>
                          </a:solidFill>
                          <a:latin typeface="Times New Roman" pitchFamily="34" charset="0"/>
                          <a:ea typeface="Times New Roman" pitchFamily="34" charset="-122"/>
                          <a:cs typeface="Times New Roman" pitchFamily="34" charset="-120"/>
                        </a:rPr>
                        <a:t>Flag when</a:t>
                      </a:r>
                      <a:endParaRPr lang="en-US" sz="15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0033CC"/>
                    </a:solidFill>
                  </a:tcPr>
                </a:tc>
                <a:extLst>
                  <a:ext uri="{0D108BD9-81ED-4DB2-BD59-A6C34878D82A}">
                    <a16:rowId xmlns:a16="http://schemas.microsoft.com/office/drawing/2014/main" val="10000"/>
                  </a:ext>
                </a:extLst>
              </a:tr>
              <a:tr h="822960">
                <a:tc>
                  <a:txBody>
                    <a:bodyPr/>
                    <a:lstStyle/>
                    <a:p>
                      <a:pPr marL="0" indent="0">
                        <a:buNone/>
                      </a:pPr>
                      <a:r>
                        <a:rPr lang="en-US" sz="1400" b="1" dirty="0">
                          <a:solidFill>
                            <a:srgbClr val="0033CC"/>
                          </a:solidFill>
                          <a:latin typeface="Times New Roman" pitchFamily="34" charset="0"/>
                          <a:ea typeface="Times New Roman" pitchFamily="34" charset="-122"/>
                          <a:cs typeface="Times New Roman" pitchFamily="34" charset="-120"/>
                        </a:rPr>
                        <a:t>A. Stability across retraining</a:t>
                      </a:r>
                      <a:endParaRPr lang="en-US" sz="14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tc>
                  <a:txBody>
                    <a:bodyPr/>
                    <a:lstStyle/>
                    <a:p>
                      <a:pPr marL="0" indent="0">
                        <a:buNone/>
                      </a:pPr>
                      <a:r>
                        <a:rPr lang="en-US" sz="1400" dirty="0">
                          <a:solidFill>
                            <a:srgbClr val="1A1A1A"/>
                          </a:solidFill>
                          <a:latin typeface="Times New Roman" pitchFamily="34" charset="0"/>
                          <a:ea typeface="Times New Roman" pitchFamily="34" charset="-122"/>
                          <a:cs typeface="Times New Roman" pitchFamily="34" charset="-120"/>
                        </a:rPr>
                        <a:t>Train the same model with 10 seeds; compare SHAP for the same patient using Spearman rank correlation and top-k Jaccard overlap</a:t>
                      </a:r>
                      <a:endParaRPr lang="en-US" sz="14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tc>
                  <a:txBody>
                    <a:bodyPr/>
                    <a:lstStyle/>
                    <a:p>
                      <a:pPr marL="0" indent="0">
                        <a:buNone/>
                      </a:pPr>
                      <a:r>
                        <a:rPr lang="en-US" sz="1400" dirty="0">
                          <a:solidFill>
                            <a:srgbClr val="1A1A1A"/>
                          </a:solidFill>
                          <a:latin typeface="Times New Roman" pitchFamily="34" charset="0"/>
                          <a:ea typeface="Times New Roman" pitchFamily="34" charset="-122"/>
                          <a:cs typeface="Times New Roman" pitchFamily="34" charset="-120"/>
                        </a:rPr>
                        <a:t>Jaccard &lt; 0.6</a:t>
                      </a:r>
                      <a:endParaRPr lang="en-US" sz="14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0080">
                <a:tc>
                  <a:txBody>
                    <a:bodyPr/>
                    <a:lstStyle/>
                    <a:p>
                      <a:pPr marL="0" indent="0">
                        <a:buNone/>
                      </a:pPr>
                      <a:r>
                        <a:rPr lang="en-US" sz="1400" b="1" dirty="0">
                          <a:solidFill>
                            <a:srgbClr val="0033CC"/>
                          </a:solidFill>
                          <a:latin typeface="Times New Roman" pitchFamily="34" charset="0"/>
                          <a:ea typeface="Times New Roman" pitchFamily="34" charset="-122"/>
                          <a:cs typeface="Times New Roman" pitchFamily="34" charset="-120"/>
                        </a:rPr>
                        <a:t>B. Faithfulness</a:t>
                      </a:r>
                      <a:endParaRPr lang="en-US" sz="14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EEF3FC"/>
                    </a:solidFill>
                  </a:tcPr>
                </a:tc>
                <a:tc>
                  <a:txBody>
                    <a:bodyPr/>
                    <a:lstStyle/>
                    <a:p>
                      <a:pPr marL="0" indent="0">
                        <a:buNone/>
                      </a:pPr>
                      <a:r>
                        <a:rPr lang="en-US" sz="1400" dirty="0">
                          <a:solidFill>
                            <a:srgbClr val="1A1A1A"/>
                          </a:solidFill>
                          <a:latin typeface="Times New Roman" pitchFamily="34" charset="0"/>
                          <a:ea typeface="Times New Roman" pitchFamily="34" charset="-122"/>
                          <a:cs typeface="Times New Roman" pitchFamily="34" charset="-120"/>
                        </a:rPr>
                        <a:t>Compare top-K overlap between SHAP and Integrated Gradients for the same patient</a:t>
                      </a:r>
                      <a:endParaRPr lang="en-US" sz="14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EEF3FC"/>
                    </a:solidFill>
                  </a:tcPr>
                </a:tc>
                <a:tc>
                  <a:txBody>
                    <a:bodyPr/>
                    <a:lstStyle/>
                    <a:p>
                      <a:pPr marL="0" indent="0">
                        <a:buNone/>
                      </a:pPr>
                      <a:r>
                        <a:rPr lang="en-US" sz="1400" dirty="0">
                          <a:solidFill>
                            <a:srgbClr val="1A1A1A"/>
                          </a:solidFill>
                          <a:latin typeface="Times New Roman" pitchFamily="34" charset="0"/>
                          <a:ea typeface="Times New Roman" pitchFamily="34" charset="-122"/>
                          <a:cs typeface="Times New Roman" pitchFamily="34" charset="-120"/>
                        </a:rPr>
                        <a:t>Strong disagreement</a:t>
                      </a:r>
                      <a:endParaRPr lang="en-US" sz="14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EEF3FC"/>
                    </a:solidFill>
                  </a:tcPr>
                </a:tc>
                <a:extLst>
                  <a:ext uri="{0D108BD9-81ED-4DB2-BD59-A6C34878D82A}">
                    <a16:rowId xmlns:a16="http://schemas.microsoft.com/office/drawing/2014/main" val="10002"/>
                  </a:ext>
                </a:extLst>
              </a:tr>
              <a:tr h="822960">
                <a:tc>
                  <a:txBody>
                    <a:bodyPr/>
                    <a:lstStyle/>
                    <a:p>
                      <a:pPr marL="0" indent="0">
                        <a:buNone/>
                      </a:pPr>
                      <a:r>
                        <a:rPr lang="en-US" sz="1400" b="1" dirty="0">
                          <a:solidFill>
                            <a:srgbClr val="0033CC"/>
                          </a:solidFill>
                          <a:latin typeface="Times New Roman" pitchFamily="34" charset="0"/>
                          <a:ea typeface="Times New Roman" pitchFamily="34" charset="-122"/>
                          <a:cs typeface="Times New Roman" pitchFamily="34" charset="-120"/>
                        </a:rPr>
                        <a:t>C. Robustness</a:t>
                      </a:r>
                      <a:endParaRPr lang="en-US" sz="14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tc>
                  <a:txBody>
                    <a:bodyPr/>
                    <a:lstStyle/>
                    <a:p>
                      <a:pPr marL="0" indent="0">
                        <a:buNone/>
                      </a:pPr>
                      <a:r>
                        <a:rPr lang="en-US" sz="1400" dirty="0">
                          <a:solidFill>
                            <a:srgbClr val="1A1A1A"/>
                          </a:solidFill>
                          <a:latin typeface="Times New Roman" pitchFamily="34" charset="0"/>
                          <a:ea typeface="Times New Roman" pitchFamily="34" charset="-122"/>
                          <a:cs typeface="Times New Roman" pitchFamily="34" charset="-120"/>
                        </a:rPr>
                        <a:t>Perturb one input within a plausible range (e.g. heart rate ±5 bpm); compare cosine similarity, Euclidean distance and change rate</a:t>
                      </a:r>
                      <a:endParaRPr lang="en-US" sz="14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tc>
                  <a:txBody>
                    <a:bodyPr/>
                    <a:lstStyle/>
                    <a:p>
                      <a:pPr marL="0" indent="0">
                        <a:buNone/>
                      </a:pPr>
                      <a:r>
                        <a:rPr lang="en-US" sz="1400" dirty="0">
                          <a:solidFill>
                            <a:srgbClr val="1A1A1A"/>
                          </a:solidFill>
                          <a:latin typeface="Times New Roman" pitchFamily="34" charset="0"/>
                          <a:ea typeface="Times New Roman" pitchFamily="34" charset="-122"/>
                          <a:cs typeface="Times New Roman" pitchFamily="34" charset="-120"/>
                        </a:rPr>
                        <a:t>Cosine &lt; 0.8</a:t>
                      </a:r>
                      <a:endParaRPr lang="en-US" sz="14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40080">
                <a:tc>
                  <a:txBody>
                    <a:bodyPr/>
                    <a:lstStyle/>
                    <a:p>
                      <a:pPr marL="0" indent="0">
                        <a:buNone/>
                      </a:pPr>
                      <a:r>
                        <a:rPr lang="en-US" sz="1400" b="1" dirty="0">
                          <a:solidFill>
                            <a:srgbClr val="0033CC"/>
                          </a:solidFill>
                          <a:latin typeface="Times New Roman" pitchFamily="34" charset="0"/>
                          <a:ea typeface="Times New Roman" pitchFamily="34" charset="-122"/>
                          <a:cs typeface="Times New Roman" pitchFamily="34" charset="-120"/>
                        </a:rPr>
                        <a:t>D. Temporal stability (LSTM)</a:t>
                      </a:r>
                      <a:endParaRPr lang="en-US" sz="14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EEF3FC"/>
                    </a:solidFill>
                  </a:tcPr>
                </a:tc>
                <a:tc>
                  <a:txBody>
                    <a:bodyPr/>
                    <a:lstStyle/>
                    <a:p>
                      <a:pPr marL="0" indent="0">
                        <a:buNone/>
                      </a:pPr>
                      <a:r>
                        <a:rPr lang="en-US" sz="1400" dirty="0">
                          <a:solidFill>
                            <a:srgbClr val="1A1A1A"/>
                          </a:solidFill>
                          <a:latin typeface="Times New Roman" pitchFamily="34" charset="0"/>
                          <a:ea typeface="Times New Roman" pitchFamily="34" charset="-122"/>
                          <a:cs typeface="Times New Roman" pitchFamily="34" charset="-120"/>
                        </a:rPr>
                        <a:t>Check that important time steps stay consistent at 6 h, 8 h and 10 h before onset</a:t>
                      </a:r>
                      <a:endParaRPr lang="en-US" sz="14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EEF3FC"/>
                    </a:solidFill>
                  </a:tcPr>
                </a:tc>
                <a:tc>
                  <a:txBody>
                    <a:bodyPr/>
                    <a:lstStyle/>
                    <a:p>
                      <a:pPr marL="0" indent="0">
                        <a:buNone/>
                      </a:pPr>
                      <a:r>
                        <a:rPr lang="en-US" sz="1400" dirty="0">
                          <a:solidFill>
                            <a:srgbClr val="1A1A1A"/>
                          </a:solidFill>
                          <a:latin typeface="Times New Roman" pitchFamily="34" charset="0"/>
                          <a:ea typeface="Times New Roman" pitchFamily="34" charset="-122"/>
                          <a:cs typeface="Times New Roman" pitchFamily="34" charset="-120"/>
                        </a:rPr>
                        <a:t>Window shifts</a:t>
                      </a:r>
                      <a:endParaRPr lang="en-US" sz="14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EEF3FC"/>
                    </a:solidFill>
                  </a:tcPr>
                </a:tc>
                <a:extLst>
                  <a:ext uri="{0D108BD9-81ED-4DB2-BD59-A6C34878D82A}">
                    <a16:rowId xmlns:a16="http://schemas.microsoft.com/office/drawing/2014/main" val="10004"/>
                  </a:ext>
                </a:extLst>
              </a:tr>
            </a:tbl>
          </a:graphicData>
        </a:graphic>
      </p:graphicFrame>
      <p:sp>
        <p:nvSpPr>
          <p:cNvPr id="5" name="Text 1"/>
          <p:cNvSpPr txBox="1"/>
          <p:nvPr/>
        </p:nvSpPr>
        <p:spPr>
          <a:xfrm>
            <a:off x="329184" y="5257800"/>
            <a:ext cx="11530584" cy="365760"/>
          </a:xfrm>
          <a:prstGeom prst="rect">
            <a:avLst/>
          </a:prstGeom>
          <a:noFill/>
          <a:ln/>
        </p:spPr>
        <p:txBody>
          <a:bodyPr wrap="square" lIns="63500" tIns="63500" rIns="63500" bIns="63500" rtlCol="0" anchor="t"/>
          <a:lstStyle/>
          <a:p>
            <a:pPr marL="0" indent="0">
              <a:buNone/>
            </a:pPr>
            <a:r>
              <a:rPr lang="en-US" sz="1700" b="1" dirty="0">
                <a:solidFill>
                  <a:srgbClr val="0033CC"/>
                </a:solidFill>
                <a:latin typeface="Times New Roman" pitchFamily="34" charset="0"/>
                <a:ea typeface="Times New Roman" pitchFamily="34" charset="-122"/>
                <a:cs typeface="Times New Roman" pitchFamily="34" charset="-120"/>
              </a:rPr>
              <a:t>Independent failure labels (defined before the detector is built)</a:t>
            </a:r>
            <a:endParaRPr lang="en-US" sz="1700" dirty="0"/>
          </a:p>
        </p:txBody>
      </p:sp>
      <p:sp>
        <p:nvSpPr>
          <p:cNvPr id="6" name="Text 2"/>
          <p:cNvSpPr/>
          <p:nvPr/>
        </p:nvSpPr>
        <p:spPr>
          <a:xfrm>
            <a:off x="329184" y="5715000"/>
            <a:ext cx="2743200" cy="548640"/>
          </a:xfrm>
          <a:prstGeom prst="roundRect">
            <a:avLst>
              <a:gd name="adj" fmla="val 16667"/>
            </a:avLst>
          </a:prstGeom>
          <a:solidFill>
            <a:srgbClr val="EEF3FC"/>
          </a:solidFill>
          <a:ln w="12700">
            <a:solidFill>
              <a:srgbClr val="B8C4E0"/>
            </a:solidFill>
          </a:ln>
        </p:spPr>
        <p:txBody>
          <a:bodyPr wrap="square" rtlCol="0" anchor="ctr"/>
          <a:lstStyle/>
          <a:p>
            <a:pPr marL="0" indent="0" algn="ctr">
              <a:buNone/>
            </a:pPr>
            <a:r>
              <a:rPr lang="en-US" sz="1500" b="1" dirty="0">
                <a:solidFill>
                  <a:srgbClr val="1A1A1A"/>
                </a:solidFill>
                <a:latin typeface="Times New Roman" pitchFamily="34" charset="0"/>
                <a:ea typeface="Times New Roman" pitchFamily="34" charset="-122"/>
                <a:cs typeface="Times New Roman" pitchFamily="34" charset="-120"/>
              </a:rPr>
              <a:t>Retraining instability</a:t>
            </a:r>
            <a:endParaRPr lang="en-US" sz="1500" dirty="0"/>
          </a:p>
        </p:txBody>
      </p:sp>
      <p:sp>
        <p:nvSpPr>
          <p:cNvPr id="7" name="Text 3"/>
          <p:cNvSpPr/>
          <p:nvPr/>
        </p:nvSpPr>
        <p:spPr>
          <a:xfrm>
            <a:off x="3255264" y="5715000"/>
            <a:ext cx="2743200" cy="548640"/>
          </a:xfrm>
          <a:prstGeom prst="roundRect">
            <a:avLst>
              <a:gd name="adj" fmla="val 16667"/>
            </a:avLst>
          </a:prstGeom>
          <a:solidFill>
            <a:srgbClr val="EEF3FC"/>
          </a:solidFill>
          <a:ln w="12700">
            <a:solidFill>
              <a:srgbClr val="B8C4E0"/>
            </a:solidFill>
          </a:ln>
        </p:spPr>
        <p:txBody>
          <a:bodyPr wrap="square" rtlCol="0" anchor="ctr"/>
          <a:lstStyle/>
          <a:p>
            <a:pPr marL="0" indent="0" algn="ctr">
              <a:buNone/>
            </a:pPr>
            <a:r>
              <a:rPr lang="en-US" sz="1500" b="1" dirty="0">
                <a:solidFill>
                  <a:srgbClr val="1A1A1A"/>
                </a:solidFill>
                <a:latin typeface="Times New Roman" pitchFamily="34" charset="0"/>
                <a:ea typeface="Times New Roman" pitchFamily="34" charset="-122"/>
                <a:cs typeface="Times New Roman" pitchFamily="34" charset="-120"/>
              </a:rPr>
              <a:t>Perturbation sensitivity</a:t>
            </a:r>
            <a:endParaRPr lang="en-US" sz="1500" dirty="0"/>
          </a:p>
        </p:txBody>
      </p:sp>
      <p:sp>
        <p:nvSpPr>
          <p:cNvPr id="8" name="Text 4"/>
          <p:cNvSpPr/>
          <p:nvPr/>
        </p:nvSpPr>
        <p:spPr>
          <a:xfrm>
            <a:off x="6181344" y="5715000"/>
            <a:ext cx="2743200" cy="548640"/>
          </a:xfrm>
          <a:prstGeom prst="roundRect">
            <a:avLst>
              <a:gd name="adj" fmla="val 16667"/>
            </a:avLst>
          </a:prstGeom>
          <a:solidFill>
            <a:srgbClr val="EEF3FC"/>
          </a:solidFill>
          <a:ln w="12700">
            <a:solidFill>
              <a:srgbClr val="B8C4E0"/>
            </a:solidFill>
          </a:ln>
        </p:spPr>
        <p:txBody>
          <a:bodyPr wrap="square" rtlCol="0" anchor="ctr"/>
          <a:lstStyle/>
          <a:p>
            <a:pPr marL="0" indent="0" algn="ctr">
              <a:buNone/>
            </a:pPr>
            <a:r>
              <a:rPr lang="en-US" sz="1500" b="1" dirty="0">
                <a:solidFill>
                  <a:srgbClr val="1A1A1A"/>
                </a:solidFill>
                <a:latin typeface="Times New Roman" pitchFamily="34" charset="0"/>
                <a:ea typeface="Times New Roman" pitchFamily="34" charset="-122"/>
                <a:cs typeface="Times New Roman" pitchFamily="34" charset="-120"/>
              </a:rPr>
              <a:t>Missingness sensitivity</a:t>
            </a:r>
            <a:endParaRPr lang="en-US" sz="1500" dirty="0"/>
          </a:p>
        </p:txBody>
      </p:sp>
      <p:sp>
        <p:nvSpPr>
          <p:cNvPr id="3" name="Text 5"/>
          <p:cNvSpPr/>
          <p:nvPr/>
        </p:nvSpPr>
        <p:spPr>
          <a:xfrm>
            <a:off x="9107424" y="5715000"/>
            <a:ext cx="2743200" cy="548640"/>
          </a:xfrm>
          <a:prstGeom prst="roundRect">
            <a:avLst>
              <a:gd name="adj" fmla="val 16667"/>
            </a:avLst>
          </a:prstGeom>
          <a:solidFill>
            <a:srgbClr val="EEF3FC"/>
          </a:solidFill>
          <a:ln w="12700">
            <a:solidFill>
              <a:srgbClr val="B8C4E0"/>
            </a:solidFill>
          </a:ln>
        </p:spPr>
        <p:txBody>
          <a:bodyPr wrap="square" rtlCol="0" anchor="ctr"/>
          <a:lstStyle/>
          <a:p>
            <a:pPr marL="0" indent="0" algn="ctr">
              <a:buNone/>
            </a:pPr>
            <a:r>
              <a:rPr lang="en-US" sz="1500" b="1" dirty="0">
                <a:solidFill>
                  <a:srgbClr val="1A1A1A"/>
                </a:solidFill>
                <a:latin typeface="Times New Roman" pitchFamily="34" charset="0"/>
                <a:ea typeface="Times New Roman" pitchFamily="34" charset="-122"/>
                <a:cs typeface="Times New Roman" pitchFamily="34" charset="-120"/>
              </a:rPr>
              <a:t>Explainer disagreement</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3017520" y="1005840"/>
            <a:ext cx="7644384" cy="502920"/>
          </a:xfrm>
          <a:prstGeom prst="rect">
            <a:avLst/>
          </a:prstGeom>
          <a:noFill/>
          <a:ln/>
        </p:spPr>
        <p:txBody>
          <a:bodyPr wrap="square" lIns="0" tIns="0" rIns="0" bIns="0" rtlCol="0" anchor="b"/>
          <a:lstStyle/>
          <a:p>
            <a:pPr marL="0" indent="0" algn="r">
              <a:buNone/>
            </a:pPr>
            <a:r>
              <a:rPr lang="en-US" sz="2400" dirty="0">
                <a:solidFill>
                  <a:srgbClr val="D40000"/>
                </a:solidFill>
                <a:latin typeface="Times New Roman" pitchFamily="34" charset="0"/>
                <a:ea typeface="Times New Roman" pitchFamily="34" charset="-122"/>
                <a:cs typeface="Times New Roman" pitchFamily="34" charset="-120"/>
              </a:rPr>
              <a:t>Diagnose, Mitigate and Abstain</a:t>
            </a:r>
            <a:endParaRPr lang="en-US" sz="2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329184" y="1783080"/>
          <a:ext cx="11521440" cy="2926080"/>
        </p:xfrm>
        <a:graphic>
          <a:graphicData uri="http://schemas.openxmlformats.org/drawingml/2006/table">
            <a:tbl>
              <a:tblPr/>
              <a:tblGrid>
                <a:gridCol w="292608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4480560">
                  <a:extLst>
                    <a:ext uri="{9D8B030D-6E8A-4147-A177-3AD203B41FA5}">
                      <a16:colId xmlns:a16="http://schemas.microsoft.com/office/drawing/2014/main" val="20002"/>
                    </a:ext>
                  </a:extLst>
                </a:gridCol>
              </a:tblGrid>
              <a:tr h="411480">
                <a:tc>
                  <a:txBody>
                    <a:bodyPr/>
                    <a:lstStyle/>
                    <a:p>
                      <a:pPr marL="0" indent="0">
                        <a:buNone/>
                      </a:pPr>
                      <a:r>
                        <a:rPr lang="en-US" sz="1500" b="1" dirty="0">
                          <a:solidFill>
                            <a:srgbClr val="FFFFFF"/>
                          </a:solidFill>
                          <a:latin typeface="Times New Roman" pitchFamily="34" charset="0"/>
                          <a:ea typeface="Times New Roman" pitchFamily="34" charset="-122"/>
                          <a:cs typeface="Times New Roman" pitchFamily="34" charset="-120"/>
                        </a:rPr>
                        <a:t>Failure mode</a:t>
                      </a:r>
                      <a:endParaRPr lang="en-US" sz="15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0033CC"/>
                    </a:solidFill>
                  </a:tcPr>
                </a:tc>
                <a:tc>
                  <a:txBody>
                    <a:bodyPr/>
                    <a:lstStyle/>
                    <a:p>
                      <a:pPr marL="0" indent="0">
                        <a:buNone/>
                      </a:pPr>
                      <a:r>
                        <a:rPr lang="en-US" sz="1500" b="1" dirty="0">
                          <a:solidFill>
                            <a:srgbClr val="FFFFFF"/>
                          </a:solidFill>
                          <a:latin typeface="Times New Roman" pitchFamily="34" charset="0"/>
                          <a:ea typeface="Times New Roman" pitchFamily="34" charset="-122"/>
                          <a:cs typeface="Times New Roman" pitchFamily="34" charset="-120"/>
                        </a:rPr>
                        <a:t>Diagnosis</a:t>
                      </a:r>
                      <a:endParaRPr lang="en-US" sz="15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0033CC"/>
                    </a:solidFill>
                  </a:tcPr>
                </a:tc>
                <a:tc>
                  <a:txBody>
                    <a:bodyPr/>
                    <a:lstStyle/>
                    <a:p>
                      <a:pPr marL="0" indent="0">
                        <a:buNone/>
                      </a:pPr>
                      <a:r>
                        <a:rPr lang="en-US" sz="1500" b="1" dirty="0">
                          <a:solidFill>
                            <a:srgbClr val="FFFFFF"/>
                          </a:solidFill>
                          <a:latin typeface="Times New Roman" pitchFamily="34" charset="0"/>
                          <a:ea typeface="Times New Roman" pitchFamily="34" charset="-122"/>
                          <a:cs typeface="Times New Roman" pitchFamily="34" charset="-120"/>
                        </a:rPr>
                        <a:t>Mitigation</a:t>
                      </a:r>
                      <a:endParaRPr lang="en-US" sz="15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0033CC"/>
                    </a:solidFill>
                  </a:tcPr>
                </a:tc>
                <a:extLst>
                  <a:ext uri="{0D108BD9-81ED-4DB2-BD59-A6C34878D82A}">
                    <a16:rowId xmlns:a16="http://schemas.microsoft.com/office/drawing/2014/main" val="10000"/>
                  </a:ext>
                </a:extLst>
              </a:tr>
              <a:tr h="502920">
                <a:tc>
                  <a:txBody>
                    <a:bodyPr/>
                    <a:lstStyle/>
                    <a:p>
                      <a:pPr marL="0" indent="0">
                        <a:buNone/>
                      </a:pPr>
                      <a:r>
                        <a:rPr lang="en-US" sz="1400" b="1" dirty="0">
                          <a:solidFill>
                            <a:srgbClr val="0033CC"/>
                          </a:solidFill>
                          <a:latin typeface="Times New Roman" pitchFamily="34" charset="0"/>
                          <a:ea typeface="Times New Roman" pitchFamily="34" charset="-122"/>
                          <a:cs typeface="Times New Roman" pitchFamily="34" charset="-120"/>
                        </a:rPr>
                        <a:t>Feature correlation</a:t>
                      </a:r>
                      <a:endParaRPr lang="en-US" sz="14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tc>
                  <a:txBody>
                    <a:bodyPr/>
                    <a:lstStyle/>
                    <a:p>
                      <a:pPr marL="0" indent="0">
                        <a:buNone/>
                      </a:pPr>
                      <a:r>
                        <a:rPr lang="en-US" sz="1400" dirty="0">
                          <a:solidFill>
                            <a:srgbClr val="1A1A1A"/>
                          </a:solidFill>
                          <a:latin typeface="Times New Roman" pitchFamily="34" charset="0"/>
                          <a:ea typeface="Times New Roman" pitchFamily="34" charset="-122"/>
                          <a:cs typeface="Times New Roman" pitchFamily="34" charset="-120"/>
                        </a:rPr>
                        <a:t>Pairwise correlation among top-K features</a:t>
                      </a:r>
                      <a:endParaRPr lang="en-US" sz="14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tc>
                  <a:txBody>
                    <a:bodyPr/>
                    <a:lstStyle/>
                    <a:p>
                      <a:pPr marL="0" indent="0">
                        <a:buNone/>
                      </a:pPr>
                      <a:r>
                        <a:rPr lang="en-US" sz="1400" dirty="0">
                          <a:solidFill>
                            <a:srgbClr val="1A1A1A"/>
                          </a:solidFill>
                          <a:latin typeface="Times New Roman" pitchFamily="34" charset="0"/>
                          <a:ea typeface="Times New Roman" pitchFamily="34" charset="-122"/>
                          <a:cs typeface="Times New Roman" pitchFamily="34" charset="-120"/>
                        </a:rPr>
                        <a:t>Dependence-aware attribution (Latent SHAP)</a:t>
                      </a:r>
                      <a:endParaRPr lang="en-US" sz="14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buNone/>
                      </a:pPr>
                      <a:r>
                        <a:rPr lang="en-US" sz="1400" b="1" dirty="0">
                          <a:solidFill>
                            <a:srgbClr val="0033CC"/>
                          </a:solidFill>
                          <a:latin typeface="Times New Roman" pitchFamily="34" charset="0"/>
                          <a:ea typeface="Times New Roman" pitchFamily="34" charset="-122"/>
                          <a:cs typeface="Times New Roman" pitchFamily="34" charset="-120"/>
                        </a:rPr>
                        <a:t>Missingness sensitivity</a:t>
                      </a:r>
                      <a:endParaRPr lang="en-US" sz="14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EEF3FC"/>
                    </a:solidFill>
                  </a:tcPr>
                </a:tc>
                <a:tc>
                  <a:txBody>
                    <a:bodyPr/>
                    <a:lstStyle/>
                    <a:p>
                      <a:pPr marL="0" indent="0">
                        <a:buNone/>
                      </a:pPr>
                      <a:r>
                        <a:rPr lang="en-US" sz="1400" dirty="0">
                          <a:solidFill>
                            <a:srgbClr val="1A1A1A"/>
                          </a:solidFill>
                          <a:latin typeface="Times New Roman" pitchFamily="34" charset="0"/>
                          <a:ea typeface="Times New Roman" pitchFamily="34" charset="-122"/>
                          <a:cs typeface="Times New Roman" pitchFamily="34" charset="-120"/>
                        </a:rPr>
                        <a:t>Compare imputed vs dropped explanations</a:t>
                      </a:r>
                      <a:endParaRPr lang="en-US" sz="14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EEF3FC"/>
                    </a:solidFill>
                  </a:tcPr>
                </a:tc>
                <a:tc>
                  <a:txBody>
                    <a:bodyPr/>
                    <a:lstStyle/>
                    <a:p>
                      <a:pPr marL="0" indent="0">
                        <a:buNone/>
                      </a:pPr>
                      <a:r>
                        <a:rPr lang="en-US" sz="1400" dirty="0">
                          <a:solidFill>
                            <a:srgbClr val="1A1A1A"/>
                          </a:solidFill>
                          <a:latin typeface="Times New Roman" pitchFamily="34" charset="0"/>
                          <a:ea typeface="Times New Roman" pitchFamily="34" charset="-122"/>
                          <a:cs typeface="Times New Roman" pitchFamily="34" charset="-120"/>
                        </a:rPr>
                        <a:t>Informative missingness modelling</a:t>
                      </a:r>
                      <a:endParaRPr lang="en-US" sz="14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EEF3FC"/>
                    </a:solidFill>
                  </a:tcPr>
                </a:tc>
                <a:extLst>
                  <a:ext uri="{0D108BD9-81ED-4DB2-BD59-A6C34878D82A}">
                    <a16:rowId xmlns:a16="http://schemas.microsoft.com/office/drawing/2014/main" val="10002"/>
                  </a:ext>
                </a:extLst>
              </a:tr>
              <a:tr h="502920">
                <a:tc>
                  <a:txBody>
                    <a:bodyPr/>
                    <a:lstStyle/>
                    <a:p>
                      <a:pPr marL="0" indent="0">
                        <a:buNone/>
                      </a:pPr>
                      <a:r>
                        <a:rPr lang="en-US" sz="1400" b="1" dirty="0">
                          <a:solidFill>
                            <a:srgbClr val="0033CC"/>
                          </a:solidFill>
                          <a:latin typeface="Times New Roman" pitchFamily="34" charset="0"/>
                          <a:ea typeface="Times New Roman" pitchFamily="34" charset="-122"/>
                          <a:cs typeface="Times New Roman" pitchFamily="34" charset="-120"/>
                        </a:rPr>
                        <a:t>Model instability</a:t>
                      </a:r>
                      <a:endParaRPr lang="en-US" sz="14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tc>
                  <a:txBody>
                    <a:bodyPr/>
                    <a:lstStyle/>
                    <a:p>
                      <a:pPr marL="0" indent="0">
                        <a:buNone/>
                      </a:pPr>
                      <a:r>
                        <a:rPr lang="en-US" sz="1400" dirty="0">
                          <a:solidFill>
                            <a:srgbClr val="1A1A1A"/>
                          </a:solidFill>
                          <a:latin typeface="Times New Roman" pitchFamily="34" charset="0"/>
                          <a:ea typeface="Times New Roman" pitchFamily="34" charset="-122"/>
                          <a:cs typeface="Times New Roman" pitchFamily="34" charset="-120"/>
                        </a:rPr>
                        <a:t>Retraining variance</a:t>
                      </a:r>
                      <a:endParaRPr lang="en-US" sz="14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tc>
                  <a:txBody>
                    <a:bodyPr/>
                    <a:lstStyle/>
                    <a:p>
                      <a:pPr marL="0" indent="0">
                        <a:buNone/>
                      </a:pPr>
                      <a:r>
                        <a:rPr lang="en-US" sz="1400" dirty="0">
                          <a:solidFill>
                            <a:srgbClr val="1A1A1A"/>
                          </a:solidFill>
                          <a:latin typeface="Times New Roman" pitchFamily="34" charset="0"/>
                          <a:ea typeface="Times New Roman" pitchFamily="34" charset="-122"/>
                          <a:cs typeface="Times New Roman" pitchFamily="34" charset="-120"/>
                        </a:rPr>
                        <a:t>Ensemble attribution across models</a:t>
                      </a:r>
                      <a:endParaRPr lang="en-US" sz="14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buNone/>
                      </a:pPr>
                      <a:r>
                        <a:rPr lang="en-US" sz="1400" b="1" dirty="0">
                          <a:solidFill>
                            <a:srgbClr val="0033CC"/>
                          </a:solidFill>
                          <a:latin typeface="Times New Roman" pitchFamily="34" charset="0"/>
                          <a:ea typeface="Times New Roman" pitchFamily="34" charset="-122"/>
                          <a:cs typeface="Times New Roman" pitchFamily="34" charset="-120"/>
                        </a:rPr>
                        <a:t>Perturbation sensitivity</a:t>
                      </a:r>
                      <a:endParaRPr lang="en-US" sz="14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EEF3FC"/>
                    </a:solidFill>
                  </a:tcPr>
                </a:tc>
                <a:tc>
                  <a:txBody>
                    <a:bodyPr/>
                    <a:lstStyle/>
                    <a:p>
                      <a:pPr marL="0" indent="0">
                        <a:buNone/>
                      </a:pPr>
                      <a:r>
                        <a:rPr lang="en-US" sz="1400" dirty="0">
                          <a:solidFill>
                            <a:srgbClr val="1A1A1A"/>
                          </a:solidFill>
                          <a:latin typeface="Times New Roman" pitchFamily="34" charset="0"/>
                          <a:ea typeface="Times New Roman" pitchFamily="34" charset="-122"/>
                          <a:cs typeface="Times New Roman" pitchFamily="34" charset="-120"/>
                        </a:rPr>
                        <a:t>Explanation change under small input changes</a:t>
                      </a:r>
                      <a:endParaRPr lang="en-US" sz="14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EEF3FC"/>
                    </a:solidFill>
                  </a:tcPr>
                </a:tc>
                <a:tc>
                  <a:txBody>
                    <a:bodyPr/>
                    <a:lstStyle/>
                    <a:p>
                      <a:pPr marL="0" indent="0">
                        <a:buNone/>
                      </a:pPr>
                      <a:r>
                        <a:rPr lang="en-US" sz="1400" dirty="0">
                          <a:solidFill>
                            <a:srgbClr val="1A1A1A"/>
                          </a:solidFill>
                          <a:latin typeface="Times New Roman" pitchFamily="34" charset="0"/>
                          <a:ea typeface="Times New Roman" pitchFamily="34" charset="-122"/>
                          <a:cs typeface="Times New Roman" pitchFamily="34" charset="-120"/>
                        </a:rPr>
                        <a:t>ReCalX-style calibration</a:t>
                      </a:r>
                      <a:endParaRPr lang="en-US" sz="14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EEF3FC"/>
                    </a:solidFill>
                  </a:tcPr>
                </a:tc>
                <a:extLst>
                  <a:ext uri="{0D108BD9-81ED-4DB2-BD59-A6C34878D82A}">
                    <a16:rowId xmlns:a16="http://schemas.microsoft.com/office/drawing/2014/main" val="10004"/>
                  </a:ext>
                </a:extLst>
              </a:tr>
              <a:tr h="502920">
                <a:tc>
                  <a:txBody>
                    <a:bodyPr/>
                    <a:lstStyle/>
                    <a:p>
                      <a:pPr marL="0" indent="0">
                        <a:buNone/>
                      </a:pPr>
                      <a:r>
                        <a:rPr lang="en-US" sz="1400" b="1" dirty="0">
                          <a:solidFill>
                            <a:srgbClr val="0033CC"/>
                          </a:solidFill>
                          <a:latin typeface="Times New Roman" pitchFamily="34" charset="0"/>
                          <a:ea typeface="Times New Roman" pitchFamily="34" charset="-122"/>
                          <a:cs typeface="Times New Roman" pitchFamily="34" charset="-120"/>
                        </a:rPr>
                        <a:t>Temporal instability</a:t>
                      </a:r>
                      <a:endParaRPr lang="en-US" sz="14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tc>
                  <a:txBody>
                    <a:bodyPr/>
                    <a:lstStyle/>
                    <a:p>
                      <a:pPr marL="0" indent="0">
                        <a:buNone/>
                      </a:pPr>
                      <a:r>
                        <a:rPr lang="en-US" sz="1400" dirty="0">
                          <a:solidFill>
                            <a:srgbClr val="1A1A1A"/>
                          </a:solidFill>
                          <a:latin typeface="Times New Roman" pitchFamily="34" charset="0"/>
                          <a:ea typeface="Times New Roman" pitchFamily="34" charset="-122"/>
                          <a:cs typeface="Times New Roman" pitchFamily="34" charset="-120"/>
                        </a:rPr>
                        <a:t>Important time window shifts</a:t>
                      </a:r>
                      <a:endParaRPr lang="en-US" sz="14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tc>
                  <a:txBody>
                    <a:bodyPr/>
                    <a:lstStyle/>
                    <a:p>
                      <a:pPr marL="0" indent="0">
                        <a:buNone/>
                      </a:pPr>
                      <a:r>
                        <a:rPr lang="en-US" sz="1400" dirty="0">
                          <a:solidFill>
                            <a:srgbClr val="1A1A1A"/>
                          </a:solidFill>
                          <a:latin typeface="Times New Roman" pitchFamily="34" charset="0"/>
                          <a:ea typeface="Times New Roman" pitchFamily="34" charset="-122"/>
                          <a:cs typeface="Times New Roman" pitchFamily="34" charset="-120"/>
                        </a:rPr>
                        <a:t>DeltaSHAP (explains changes between time steps)</a:t>
                      </a:r>
                      <a:endParaRPr lang="en-US" sz="14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Shape 1"/>
          <p:cNvSpPr/>
          <p:nvPr/>
        </p:nvSpPr>
        <p:spPr>
          <a:xfrm>
            <a:off x="329184" y="4983480"/>
            <a:ext cx="11530584" cy="1417320"/>
          </a:xfrm>
          <a:prstGeom prst="roundRect">
            <a:avLst>
              <a:gd name="adj" fmla="val 6452"/>
            </a:avLst>
          </a:prstGeom>
          <a:solidFill>
            <a:srgbClr val="FFF3F3"/>
          </a:solidFill>
          <a:ln w="15875">
            <a:solidFill>
              <a:srgbClr val="D40000"/>
            </a:solidFill>
            <a:prstDash val="solid"/>
          </a:ln>
        </p:spPr>
      </p:sp>
      <p:sp>
        <p:nvSpPr>
          <p:cNvPr id="6" name="Text 2"/>
          <p:cNvSpPr txBox="1"/>
          <p:nvPr/>
        </p:nvSpPr>
        <p:spPr>
          <a:xfrm>
            <a:off x="502920" y="5029200"/>
            <a:ext cx="11155680" cy="1325880"/>
          </a:xfrm>
          <a:prstGeom prst="rect">
            <a:avLst/>
          </a:prstGeom>
          <a:noFill/>
          <a:ln/>
        </p:spPr>
        <p:txBody>
          <a:bodyPr wrap="square" lIns="63500" tIns="63500" rIns="63500" bIns="63500" rtlCol="0" anchor="ctr"/>
          <a:lstStyle/>
          <a:p>
            <a:pPr marL="0" indent="0">
              <a:buNone/>
            </a:pPr>
            <a:r>
              <a:rPr lang="en-US" sz="2000" b="1" dirty="0">
                <a:solidFill>
                  <a:srgbClr val="D40000"/>
                </a:solidFill>
                <a:latin typeface="Times New Roman" pitchFamily="34" charset="0"/>
                <a:ea typeface="Times New Roman" pitchFamily="34" charset="-122"/>
                <a:cs typeface="Times New Roman" pitchFamily="34" charset="-120"/>
              </a:rPr>
              <a:t>Stage 4 – Abstain</a:t>
            </a:r>
            <a:endParaRPr lang="en-US" sz="1600" dirty="0"/>
          </a:p>
          <a:p>
            <a:pPr marL="0" indent="0">
              <a:buNone/>
            </a:pPr>
            <a:r>
              <a:rPr lang="en-US" sz="1700" dirty="0">
                <a:solidFill>
                  <a:srgbClr val="1A1A1A"/>
                </a:solidFill>
                <a:latin typeface="Times New Roman" pitchFamily="34" charset="0"/>
                <a:ea typeface="Times New Roman" pitchFamily="34" charset="-122"/>
                <a:cs typeface="Times New Roman" pitchFamily="34" charset="-120"/>
              </a:rPr>
              <a:t>If R(x) &lt; 0.5, show the risk score with a LOW-reliability warning instead of a feature ranking: “Top feature ranking is unstable across model retraining. Use clinical judgment.”</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3017520" y="1005840"/>
            <a:ext cx="7644384" cy="502920"/>
          </a:xfrm>
          <a:prstGeom prst="rect">
            <a:avLst/>
          </a:prstGeom>
          <a:noFill/>
          <a:ln/>
        </p:spPr>
        <p:txBody>
          <a:bodyPr wrap="square" lIns="0" tIns="0" rIns="0" bIns="0" rtlCol="0" anchor="b"/>
          <a:lstStyle/>
          <a:p>
            <a:pPr marL="0" indent="0" algn="r">
              <a:buNone/>
            </a:pPr>
            <a:r>
              <a:rPr lang="en-US" sz="2400" dirty="0">
                <a:solidFill>
                  <a:srgbClr val="D40000"/>
                </a:solidFill>
                <a:latin typeface="Times New Roman" pitchFamily="34" charset="0"/>
                <a:ea typeface="Times New Roman" pitchFamily="34" charset="-122"/>
                <a:cs typeface="Times New Roman" pitchFamily="34" charset="-120"/>
              </a:rPr>
              <a:t>Applications / Use Cases</a:t>
            </a:r>
            <a:endParaRPr lang="en-US" sz="2400" dirty="0"/>
          </a:p>
        </p:txBody>
      </p:sp>
      <p:sp>
        <p:nvSpPr>
          <p:cNvPr id="4" name="Shape 1"/>
          <p:cNvSpPr/>
          <p:nvPr/>
        </p:nvSpPr>
        <p:spPr>
          <a:xfrm>
            <a:off x="329184" y="1783080"/>
            <a:ext cx="3721608" cy="2103120"/>
          </a:xfrm>
          <a:prstGeom prst="roundRect">
            <a:avLst>
              <a:gd name="adj" fmla="val 4348"/>
            </a:avLst>
          </a:prstGeom>
          <a:solidFill>
            <a:srgbClr val="FFFFFF"/>
          </a:solidFill>
          <a:ln w="15875">
            <a:solidFill>
              <a:srgbClr val="D40000"/>
            </a:solidFill>
            <a:prstDash val="solid"/>
          </a:ln>
        </p:spPr>
      </p:sp>
      <p:sp>
        <p:nvSpPr>
          <p:cNvPr id="5" name="Text 2"/>
          <p:cNvSpPr txBox="1"/>
          <p:nvPr/>
        </p:nvSpPr>
        <p:spPr>
          <a:xfrm>
            <a:off x="466344" y="1874520"/>
            <a:ext cx="3447288" cy="1920240"/>
          </a:xfrm>
          <a:prstGeom prst="rect">
            <a:avLst/>
          </a:prstGeom>
          <a:noFill/>
          <a:ln/>
        </p:spPr>
        <p:txBody>
          <a:bodyPr wrap="square" lIns="63500" tIns="63500" rIns="63500" bIns="63500" rtlCol="0" anchor="t"/>
          <a:lstStyle/>
          <a:p>
            <a:pPr marL="0" indent="0">
              <a:buNone/>
            </a:pPr>
            <a:r>
              <a:rPr lang="en-US" sz="1900" b="1" dirty="0">
                <a:solidFill>
                  <a:srgbClr val="D40000"/>
                </a:solidFill>
                <a:latin typeface="Times New Roman" pitchFamily="34" charset="0"/>
                <a:ea typeface="Times New Roman" pitchFamily="34" charset="-122"/>
                <a:cs typeface="Times New Roman" pitchFamily="34" charset="-120"/>
              </a:rPr>
              <a:t>1. ICU decision support</a:t>
            </a:r>
            <a:endParaRPr lang="en-US" sz="1600" dirty="0"/>
          </a:p>
          <a:p>
            <a:pPr marL="0" indent="0">
              <a:buNone/>
            </a:pPr>
            <a:r>
              <a:rPr lang="en-US" sz="1600" dirty="0">
                <a:solidFill>
                  <a:srgbClr val="1A1A1A"/>
                </a:solidFill>
                <a:latin typeface="Times New Roman" pitchFamily="34" charset="0"/>
                <a:ea typeface="Times New Roman" pitchFamily="34" charset="-122"/>
                <a:cs typeface="Times New Roman" pitchFamily="34" charset="-120"/>
              </a:rPr>
              <a:t>A reliability label sits beside every sepsis risk score, so doctors know when not to over-rely on feature attributions.</a:t>
            </a:r>
            <a:endParaRPr lang="en-US" sz="1600" dirty="0"/>
          </a:p>
        </p:txBody>
      </p:sp>
      <p:sp>
        <p:nvSpPr>
          <p:cNvPr id="6" name="Shape 3"/>
          <p:cNvSpPr/>
          <p:nvPr/>
        </p:nvSpPr>
        <p:spPr>
          <a:xfrm>
            <a:off x="4242816" y="1783080"/>
            <a:ext cx="3721608" cy="2103120"/>
          </a:xfrm>
          <a:prstGeom prst="roundRect">
            <a:avLst>
              <a:gd name="adj" fmla="val 4348"/>
            </a:avLst>
          </a:prstGeom>
          <a:solidFill>
            <a:srgbClr val="FFFFFF"/>
          </a:solidFill>
          <a:ln w="15875">
            <a:solidFill>
              <a:srgbClr val="E08A00"/>
            </a:solidFill>
            <a:prstDash val="solid"/>
          </a:ln>
        </p:spPr>
      </p:sp>
      <p:sp>
        <p:nvSpPr>
          <p:cNvPr id="7" name="Text 4"/>
          <p:cNvSpPr txBox="1"/>
          <p:nvPr/>
        </p:nvSpPr>
        <p:spPr>
          <a:xfrm>
            <a:off x="4379976" y="1874520"/>
            <a:ext cx="3447288" cy="1920240"/>
          </a:xfrm>
          <a:prstGeom prst="rect">
            <a:avLst/>
          </a:prstGeom>
          <a:noFill/>
          <a:ln/>
        </p:spPr>
        <p:txBody>
          <a:bodyPr wrap="square" lIns="63500" tIns="63500" rIns="63500" bIns="63500" rtlCol="0" anchor="t"/>
          <a:lstStyle/>
          <a:p>
            <a:pPr marL="0" indent="0">
              <a:buNone/>
            </a:pPr>
            <a:r>
              <a:rPr lang="en-US" sz="1900" b="1" dirty="0">
                <a:solidFill>
                  <a:srgbClr val="E08A00"/>
                </a:solidFill>
                <a:latin typeface="Times New Roman" pitchFamily="34" charset="0"/>
                <a:ea typeface="Times New Roman" pitchFamily="34" charset="-122"/>
                <a:cs typeface="Times New Roman" pitchFamily="34" charset="-120"/>
              </a:rPr>
              <a:t>2. Model auditing</a:t>
            </a:r>
            <a:endParaRPr lang="en-US" sz="1600" dirty="0"/>
          </a:p>
          <a:p>
            <a:pPr marL="0" indent="0">
              <a:buNone/>
            </a:pPr>
            <a:r>
              <a:rPr lang="en-US" sz="1600" dirty="0">
                <a:solidFill>
                  <a:srgbClr val="1A1A1A"/>
                </a:solidFill>
                <a:latin typeface="Times New Roman" pitchFamily="34" charset="0"/>
                <a:ea typeface="Times New Roman" pitchFamily="34" charset="-122"/>
                <a:cs typeface="Times New Roman" pitchFamily="34" charset="-120"/>
              </a:rPr>
              <a:t>AI governance teams audit deployed sepsis models regularly and catch explanation drift over time.</a:t>
            </a:r>
            <a:endParaRPr lang="en-US" sz="1600" dirty="0"/>
          </a:p>
        </p:txBody>
      </p:sp>
      <p:sp>
        <p:nvSpPr>
          <p:cNvPr id="8" name="Shape 5"/>
          <p:cNvSpPr/>
          <p:nvPr/>
        </p:nvSpPr>
        <p:spPr>
          <a:xfrm>
            <a:off x="8147304" y="1783080"/>
            <a:ext cx="3721608" cy="2103120"/>
          </a:xfrm>
          <a:prstGeom prst="roundRect">
            <a:avLst>
              <a:gd name="adj" fmla="val 4348"/>
            </a:avLst>
          </a:prstGeom>
          <a:solidFill>
            <a:srgbClr val="FFFFFF"/>
          </a:solidFill>
          <a:ln w="15875">
            <a:solidFill>
              <a:srgbClr val="0033CC"/>
            </a:solidFill>
            <a:prstDash val="solid"/>
          </a:ln>
        </p:spPr>
      </p:sp>
      <p:sp>
        <p:nvSpPr>
          <p:cNvPr id="9" name="Text 6"/>
          <p:cNvSpPr txBox="1"/>
          <p:nvPr/>
        </p:nvSpPr>
        <p:spPr>
          <a:xfrm>
            <a:off x="8284464" y="1874520"/>
            <a:ext cx="3447288" cy="1920240"/>
          </a:xfrm>
          <a:prstGeom prst="rect">
            <a:avLst/>
          </a:prstGeom>
          <a:noFill/>
          <a:ln/>
        </p:spPr>
        <p:txBody>
          <a:bodyPr wrap="square" lIns="63500" tIns="63500" rIns="63500" bIns="63500" rtlCol="0" anchor="t"/>
          <a:lstStyle/>
          <a:p>
            <a:pPr marL="0" indent="0">
              <a:buNone/>
            </a:pPr>
            <a:r>
              <a:rPr lang="en-US" sz="1900" b="1" dirty="0">
                <a:solidFill>
                  <a:srgbClr val="0033CC"/>
                </a:solidFill>
                <a:latin typeface="Times New Roman" pitchFamily="34" charset="0"/>
                <a:ea typeface="Times New Roman" pitchFamily="34" charset="-122"/>
                <a:cs typeface="Times New Roman" pitchFamily="34" charset="-120"/>
              </a:rPr>
              <a:t>3. XAI method comparison</a:t>
            </a:r>
            <a:endParaRPr lang="en-US" sz="1600" dirty="0"/>
          </a:p>
          <a:p>
            <a:pPr marL="0" indent="0">
              <a:buNone/>
            </a:pPr>
            <a:r>
              <a:rPr lang="en-US" sz="1600" dirty="0">
                <a:solidFill>
                  <a:srgbClr val="1A1A1A"/>
                </a:solidFill>
                <a:latin typeface="Times New Roman" pitchFamily="34" charset="0"/>
                <a:ea typeface="Times New Roman" pitchFamily="34" charset="-122"/>
                <a:cs typeface="Times New Roman" pitchFamily="34" charset="-120"/>
              </a:rPr>
              <a:t>Researchers evaluate how reliable different explanation methods are on clinical time-series data.</a:t>
            </a:r>
            <a:endParaRPr lang="en-US" sz="1600" dirty="0"/>
          </a:p>
        </p:txBody>
      </p:sp>
      <p:sp>
        <p:nvSpPr>
          <p:cNvPr id="10" name="Shape 7"/>
          <p:cNvSpPr/>
          <p:nvPr/>
        </p:nvSpPr>
        <p:spPr>
          <a:xfrm>
            <a:off x="329184" y="4114800"/>
            <a:ext cx="5715000" cy="2103120"/>
          </a:xfrm>
          <a:prstGeom prst="roundRect">
            <a:avLst>
              <a:gd name="adj" fmla="val 4348"/>
            </a:avLst>
          </a:prstGeom>
          <a:solidFill>
            <a:srgbClr val="FFFFFF"/>
          </a:solidFill>
          <a:ln w="15875">
            <a:solidFill>
              <a:srgbClr val="128C8C"/>
            </a:solidFill>
            <a:prstDash val="solid"/>
          </a:ln>
        </p:spPr>
      </p:sp>
      <p:sp>
        <p:nvSpPr>
          <p:cNvPr id="11" name="Text 8"/>
          <p:cNvSpPr txBox="1"/>
          <p:nvPr/>
        </p:nvSpPr>
        <p:spPr>
          <a:xfrm>
            <a:off x="466344" y="4206240"/>
            <a:ext cx="5440680" cy="1920240"/>
          </a:xfrm>
          <a:prstGeom prst="rect">
            <a:avLst/>
          </a:prstGeom>
          <a:noFill/>
          <a:ln/>
        </p:spPr>
        <p:txBody>
          <a:bodyPr wrap="square" lIns="63500" tIns="63500" rIns="63500" bIns="63500" rtlCol="0" anchor="t"/>
          <a:lstStyle/>
          <a:p>
            <a:pPr marL="0" indent="0">
              <a:buNone/>
            </a:pPr>
            <a:r>
              <a:rPr lang="en-US" sz="1900" b="1" dirty="0">
                <a:solidFill>
                  <a:srgbClr val="128C8C"/>
                </a:solidFill>
                <a:latin typeface="Times New Roman" pitchFamily="34" charset="0"/>
                <a:ea typeface="Times New Roman" pitchFamily="34" charset="-122"/>
                <a:cs typeface="Times New Roman" pitchFamily="34" charset="-120"/>
              </a:rPr>
              <a:t>4. Regulatory support</a:t>
            </a:r>
            <a:endParaRPr lang="en-US" sz="1600" dirty="0"/>
          </a:p>
          <a:p>
            <a:pPr marL="0" indent="0">
              <a:buNone/>
            </a:pPr>
            <a:r>
              <a:rPr lang="en-US" sz="1600" dirty="0">
                <a:solidFill>
                  <a:srgbClr val="1A1A1A"/>
                </a:solidFill>
                <a:latin typeface="Times New Roman" pitchFamily="34" charset="0"/>
                <a:ea typeface="Times New Roman" pitchFamily="34" charset="-122"/>
                <a:cs typeface="Times New Roman" pitchFamily="34" charset="-120"/>
              </a:rPr>
              <a:t>Quantitative reliability evidence for explainability requirements in AI medical-device submissions.</a:t>
            </a:r>
            <a:endParaRPr lang="en-US" sz="1600" dirty="0"/>
          </a:p>
        </p:txBody>
      </p:sp>
      <p:sp>
        <p:nvSpPr>
          <p:cNvPr id="12" name="Shape 9"/>
          <p:cNvSpPr/>
          <p:nvPr/>
        </p:nvSpPr>
        <p:spPr>
          <a:xfrm>
            <a:off x="6144768" y="4114800"/>
            <a:ext cx="5715000" cy="2103120"/>
          </a:xfrm>
          <a:prstGeom prst="roundRect">
            <a:avLst>
              <a:gd name="adj" fmla="val 4348"/>
            </a:avLst>
          </a:prstGeom>
          <a:solidFill>
            <a:srgbClr val="FFFFFF"/>
          </a:solidFill>
          <a:ln w="15875">
            <a:solidFill>
              <a:srgbClr val="2E8B57"/>
            </a:solidFill>
            <a:prstDash val="solid"/>
          </a:ln>
        </p:spPr>
      </p:sp>
      <p:sp>
        <p:nvSpPr>
          <p:cNvPr id="13" name="Text 10"/>
          <p:cNvSpPr txBox="1"/>
          <p:nvPr/>
        </p:nvSpPr>
        <p:spPr>
          <a:xfrm>
            <a:off x="6281928" y="4206240"/>
            <a:ext cx="5440680" cy="1920240"/>
          </a:xfrm>
          <a:prstGeom prst="rect">
            <a:avLst/>
          </a:prstGeom>
          <a:noFill/>
          <a:ln/>
        </p:spPr>
        <p:txBody>
          <a:bodyPr wrap="square" lIns="63500" tIns="63500" rIns="63500" bIns="63500" rtlCol="0" anchor="t"/>
          <a:lstStyle/>
          <a:p>
            <a:pPr marL="0" indent="0">
              <a:buNone/>
            </a:pPr>
            <a:r>
              <a:rPr lang="en-US" sz="1900" b="1" dirty="0">
                <a:solidFill>
                  <a:srgbClr val="2E8B57"/>
                </a:solidFill>
                <a:latin typeface="Times New Roman" pitchFamily="34" charset="0"/>
                <a:ea typeface="Times New Roman" pitchFamily="34" charset="-122"/>
                <a:cs typeface="Times New Roman" pitchFamily="34" charset="-120"/>
              </a:rPr>
              <a:t>5. Reusable pattern</a:t>
            </a:r>
            <a:endParaRPr lang="en-US" sz="1600" dirty="0"/>
          </a:p>
          <a:p>
            <a:pPr marL="0" indent="0">
              <a:buNone/>
            </a:pPr>
            <a:r>
              <a:rPr lang="en-US" sz="1600" dirty="0">
                <a:solidFill>
                  <a:srgbClr val="1A1A1A"/>
                </a:solidFill>
                <a:latin typeface="Times New Roman" pitchFamily="34" charset="0"/>
                <a:ea typeface="Times New Roman" pitchFamily="34" charset="-122"/>
                <a:cs typeface="Times New Roman" pitchFamily="34" charset="-120"/>
              </a:rPr>
              <a:t>Detect, diagnose, mitigate, abstain applies to any clinical prediction task with correlated features and missing data.</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3017520" y="1005840"/>
            <a:ext cx="7644384" cy="502920"/>
          </a:xfrm>
          <a:prstGeom prst="rect">
            <a:avLst/>
          </a:prstGeom>
          <a:noFill/>
          <a:ln/>
        </p:spPr>
        <p:txBody>
          <a:bodyPr wrap="square" lIns="0" tIns="0" rIns="0" bIns="0" rtlCol="0" anchor="b"/>
          <a:lstStyle/>
          <a:p>
            <a:pPr marL="0" indent="0" algn="r">
              <a:buNone/>
            </a:pPr>
            <a:r>
              <a:rPr lang="en-US" sz="2400" dirty="0">
                <a:solidFill>
                  <a:srgbClr val="D40000"/>
                </a:solidFill>
                <a:latin typeface="Times New Roman" pitchFamily="34" charset="0"/>
                <a:ea typeface="Times New Roman" pitchFamily="34" charset="-122"/>
                <a:cs typeface="Times New Roman" pitchFamily="34" charset="-120"/>
              </a:rPr>
              <a:t>Expected Deliverables</a:t>
            </a:r>
            <a:endParaRPr lang="en-US" sz="2400" dirty="0"/>
          </a:p>
        </p:txBody>
      </p:sp>
      <p:sp>
        <p:nvSpPr>
          <p:cNvPr id="4" name="Text 1"/>
          <p:cNvSpPr/>
          <p:nvPr/>
        </p:nvSpPr>
        <p:spPr>
          <a:xfrm>
            <a:off x="329184" y="1783080"/>
            <a:ext cx="3666744" cy="420624"/>
          </a:xfrm>
          <a:prstGeom prst="roundRect">
            <a:avLst>
              <a:gd name="adj" fmla="val 21739"/>
            </a:avLst>
          </a:prstGeom>
          <a:solidFill>
            <a:srgbClr val="0033CC"/>
          </a:solidFill>
          <a:ln/>
        </p:spPr>
        <p:txBody>
          <a:bodyPr wrap="square" rtlCol="0" anchor="ctr"/>
          <a:lstStyle/>
          <a:p>
            <a:pPr marL="0" indent="0" algn="ctr">
              <a:buNone/>
            </a:pPr>
            <a:r>
              <a:rPr lang="en-US" sz="1700" b="1" dirty="0">
                <a:solidFill>
                  <a:srgbClr val="FFFFFF"/>
                </a:solidFill>
                <a:latin typeface="Times New Roman" pitchFamily="34" charset="0"/>
                <a:ea typeface="Times New Roman" pitchFamily="34" charset="-122"/>
                <a:cs typeface="Times New Roman" pitchFamily="34" charset="-120"/>
              </a:rPr>
              <a:t>Capstone-I – Foundation</a:t>
            </a:r>
            <a:endParaRPr lang="en-US" sz="1700" dirty="0"/>
          </a:p>
        </p:txBody>
      </p:sp>
      <p:sp>
        <p:nvSpPr>
          <p:cNvPr id="5" name="Shape 2"/>
          <p:cNvSpPr/>
          <p:nvPr/>
        </p:nvSpPr>
        <p:spPr>
          <a:xfrm>
            <a:off x="329184" y="2286000"/>
            <a:ext cx="3666744" cy="3154680"/>
          </a:xfrm>
          <a:prstGeom prst="roundRect">
            <a:avLst>
              <a:gd name="adj" fmla="val 2899"/>
            </a:avLst>
          </a:prstGeom>
          <a:solidFill>
            <a:srgbClr val="FFFFFF"/>
          </a:solidFill>
          <a:ln w="15875">
            <a:solidFill>
              <a:srgbClr val="0033CC"/>
            </a:solidFill>
            <a:prstDash val="solid"/>
          </a:ln>
        </p:spPr>
      </p:sp>
      <p:sp>
        <p:nvSpPr>
          <p:cNvPr id="6" name="Text 3"/>
          <p:cNvSpPr txBox="1"/>
          <p:nvPr/>
        </p:nvSpPr>
        <p:spPr>
          <a:xfrm>
            <a:off x="420624" y="2359152"/>
            <a:ext cx="3483864" cy="3017520"/>
          </a:xfrm>
          <a:prstGeom prst="rect">
            <a:avLst/>
          </a:prstGeom>
          <a:noFill/>
          <a:ln/>
        </p:spPr>
        <p:txBody>
          <a:bodyPr wrap="square" lIns="63500" tIns="63500" rIns="63500" bIns="63500" rtlCol="0" anchor="t"/>
          <a:lstStyle/>
          <a:p>
            <a:pPr marL="342900" indent="-342900">
              <a:spcAft>
                <a:spcPts val="500"/>
              </a:spcAft>
              <a:buSzPct val="100000"/>
              <a:buChar char="•"/>
            </a:pPr>
            <a:r>
              <a:rPr lang="en-US" sz="1500" dirty="0">
                <a:solidFill>
                  <a:srgbClr val="1A1A1A"/>
                </a:solidFill>
                <a:latin typeface="Times New Roman" pitchFamily="34" charset="0"/>
                <a:ea typeface="Times New Roman" pitchFamily="34" charset="-122"/>
                <a:cs typeface="Times New Roman" pitchFamily="34" charset="-120"/>
              </a:rPr>
              <a:t>Literature review and novelty matrix</a:t>
            </a:r>
            <a:endParaRPr lang="en-US" sz="1500" dirty="0"/>
          </a:p>
          <a:p>
            <a:pPr marL="342900" indent="-342900">
              <a:spcAft>
                <a:spcPts val="500"/>
              </a:spcAft>
              <a:buSzPct val="100000"/>
              <a:buChar char="•"/>
            </a:pPr>
            <a:r>
              <a:rPr lang="en-US" sz="1500" dirty="0">
                <a:solidFill>
                  <a:srgbClr val="1A1A1A"/>
                </a:solidFill>
                <a:latin typeface="Times New Roman" pitchFamily="34" charset="0"/>
                <a:ea typeface="Times New Roman" pitchFamily="34" charset="-122"/>
                <a:cs typeface="Times New Roman" pitchFamily="34" charset="-120"/>
              </a:rPr>
              <a:t>Dataset preparation and exploratory analysis</a:t>
            </a:r>
            <a:endParaRPr lang="en-US" sz="1500" dirty="0"/>
          </a:p>
          <a:p>
            <a:pPr marL="342900" indent="-342900">
              <a:spcAft>
                <a:spcPts val="500"/>
              </a:spcAft>
              <a:buSzPct val="100000"/>
              <a:buChar char="•"/>
            </a:pPr>
            <a:r>
              <a:rPr lang="en-US" sz="1500" dirty="0">
                <a:solidFill>
                  <a:srgbClr val="1A1A1A"/>
                </a:solidFill>
                <a:latin typeface="Times New Roman" pitchFamily="34" charset="0"/>
                <a:ea typeface="Times New Roman" pitchFamily="34" charset="-122"/>
                <a:cs typeface="Times New Roman" pitchFamily="34" charset="-120"/>
              </a:rPr>
              <a:t>Baselines: XGBoost, RF, LSTM</a:t>
            </a:r>
            <a:endParaRPr lang="en-US" sz="1500" dirty="0"/>
          </a:p>
          <a:p>
            <a:pPr marL="342900" indent="-342900">
              <a:spcAft>
                <a:spcPts val="500"/>
              </a:spcAft>
              <a:buSzPct val="100000"/>
              <a:buChar char="•"/>
            </a:pPr>
            <a:r>
              <a:rPr lang="en-US" sz="1500" dirty="0">
                <a:solidFill>
                  <a:srgbClr val="1A1A1A"/>
                </a:solidFill>
                <a:latin typeface="Times New Roman" pitchFamily="34" charset="0"/>
                <a:ea typeface="Times New Roman" pitchFamily="34" charset="-122"/>
                <a:cs typeface="Times New Roman" pitchFamily="34" charset="-120"/>
              </a:rPr>
              <a:t>Explanation pipeline: SHAP, Integrated Gradients</a:t>
            </a:r>
            <a:endParaRPr lang="en-US" sz="1500" dirty="0"/>
          </a:p>
          <a:p>
            <a:pPr marL="342900" indent="-342900">
              <a:spcAft>
                <a:spcPts val="500"/>
              </a:spcAft>
              <a:buSzPct val="100000"/>
              <a:buChar char="•"/>
            </a:pPr>
            <a:r>
              <a:rPr lang="en-US" sz="1500" dirty="0">
                <a:solidFill>
                  <a:srgbClr val="1A1A1A"/>
                </a:solidFill>
                <a:latin typeface="Times New Roman" pitchFamily="34" charset="0"/>
                <a:ea typeface="Times New Roman" pitchFamily="34" charset="-122"/>
                <a:cs typeface="Times New Roman" pitchFamily="34" charset="-120"/>
              </a:rPr>
              <a:t>Feasibility study and evaluation plan</a:t>
            </a:r>
            <a:endParaRPr lang="en-US" sz="1500" dirty="0"/>
          </a:p>
        </p:txBody>
      </p:sp>
      <p:sp>
        <p:nvSpPr>
          <p:cNvPr id="7" name="Shape 4"/>
          <p:cNvSpPr/>
          <p:nvPr/>
        </p:nvSpPr>
        <p:spPr>
          <a:xfrm>
            <a:off x="329184" y="5577840"/>
            <a:ext cx="3666744" cy="777240"/>
          </a:xfrm>
          <a:prstGeom prst="roundRect">
            <a:avLst>
              <a:gd name="adj" fmla="val 11765"/>
            </a:avLst>
          </a:prstGeom>
          <a:solidFill>
            <a:srgbClr val="EEF3FC"/>
          </a:solidFill>
          <a:ln w="15875">
            <a:solidFill>
              <a:srgbClr val="0033CC"/>
            </a:solidFill>
            <a:prstDash val="solid"/>
          </a:ln>
        </p:spPr>
      </p:sp>
      <p:sp>
        <p:nvSpPr>
          <p:cNvPr id="8" name="Text 5"/>
          <p:cNvSpPr txBox="1"/>
          <p:nvPr/>
        </p:nvSpPr>
        <p:spPr>
          <a:xfrm>
            <a:off x="420624" y="5577840"/>
            <a:ext cx="3483864" cy="777240"/>
          </a:xfrm>
          <a:prstGeom prst="rect">
            <a:avLst/>
          </a:prstGeom>
          <a:noFill/>
          <a:ln/>
        </p:spPr>
        <p:txBody>
          <a:bodyPr wrap="square" lIns="63500" tIns="63500" rIns="63500" bIns="63500" rtlCol="0" anchor="ctr"/>
          <a:lstStyle/>
          <a:p>
            <a:pPr marL="0" indent="0">
              <a:buNone/>
            </a:pPr>
            <a:r>
              <a:rPr lang="en-US" sz="1500" b="1" dirty="0">
                <a:solidFill>
                  <a:srgbClr val="0033CC"/>
                </a:solidFill>
                <a:latin typeface="Times New Roman" pitchFamily="34" charset="0"/>
                <a:ea typeface="Times New Roman" pitchFamily="34" charset="-122"/>
                <a:cs typeface="Times New Roman" pitchFamily="34" charset="-120"/>
              </a:rPr>
              <a:t>Milestone: Baselines and explanations running</a:t>
            </a:r>
            <a:endParaRPr lang="en-US" sz="1500" dirty="0"/>
          </a:p>
        </p:txBody>
      </p:sp>
      <p:sp>
        <p:nvSpPr>
          <p:cNvPr id="9" name="Text 6"/>
          <p:cNvSpPr/>
          <p:nvPr/>
        </p:nvSpPr>
        <p:spPr>
          <a:xfrm>
            <a:off x="4242816" y="1783080"/>
            <a:ext cx="3666744" cy="420624"/>
          </a:xfrm>
          <a:prstGeom prst="roundRect">
            <a:avLst>
              <a:gd name="adj" fmla="val 21739"/>
            </a:avLst>
          </a:prstGeom>
          <a:solidFill>
            <a:srgbClr val="128C8C"/>
          </a:solidFill>
          <a:ln/>
        </p:spPr>
        <p:txBody>
          <a:bodyPr wrap="square" rtlCol="0" anchor="ctr"/>
          <a:lstStyle/>
          <a:p>
            <a:pPr marL="0" indent="0" algn="ctr">
              <a:buNone/>
            </a:pPr>
            <a:r>
              <a:rPr lang="en-US" sz="1700" b="1" dirty="0">
                <a:solidFill>
                  <a:srgbClr val="FFFFFF"/>
                </a:solidFill>
                <a:latin typeface="Times New Roman" pitchFamily="34" charset="0"/>
                <a:ea typeface="Times New Roman" pitchFamily="34" charset="-122"/>
                <a:cs typeface="Times New Roman" pitchFamily="34" charset="-120"/>
              </a:rPr>
              <a:t>Capstone-II – Core novelty</a:t>
            </a:r>
            <a:endParaRPr lang="en-US" sz="1700" dirty="0"/>
          </a:p>
        </p:txBody>
      </p:sp>
      <p:sp>
        <p:nvSpPr>
          <p:cNvPr id="10" name="Shape 7"/>
          <p:cNvSpPr/>
          <p:nvPr/>
        </p:nvSpPr>
        <p:spPr>
          <a:xfrm>
            <a:off x="4242816" y="2286000"/>
            <a:ext cx="3666744" cy="3154680"/>
          </a:xfrm>
          <a:prstGeom prst="roundRect">
            <a:avLst>
              <a:gd name="adj" fmla="val 2899"/>
            </a:avLst>
          </a:prstGeom>
          <a:solidFill>
            <a:srgbClr val="FFFFFF"/>
          </a:solidFill>
          <a:ln w="15875">
            <a:solidFill>
              <a:srgbClr val="128C8C"/>
            </a:solidFill>
            <a:prstDash val="solid"/>
          </a:ln>
        </p:spPr>
      </p:sp>
      <p:sp>
        <p:nvSpPr>
          <p:cNvPr id="11" name="Text 8"/>
          <p:cNvSpPr txBox="1"/>
          <p:nvPr/>
        </p:nvSpPr>
        <p:spPr>
          <a:xfrm>
            <a:off x="4334256" y="2359152"/>
            <a:ext cx="3483864" cy="3017520"/>
          </a:xfrm>
          <a:prstGeom prst="rect">
            <a:avLst/>
          </a:prstGeom>
          <a:noFill/>
          <a:ln/>
        </p:spPr>
        <p:txBody>
          <a:bodyPr wrap="square" lIns="63500" tIns="63500" rIns="63500" bIns="63500" rtlCol="0" anchor="t"/>
          <a:lstStyle/>
          <a:p>
            <a:pPr marL="342900" indent="-342900">
              <a:spcAft>
                <a:spcPts val="500"/>
              </a:spcAft>
              <a:buSzPct val="100000"/>
              <a:buChar char="•"/>
            </a:pPr>
            <a:r>
              <a:rPr lang="en-US" sz="1500" dirty="0">
                <a:solidFill>
                  <a:srgbClr val="1A1A1A"/>
                </a:solidFill>
                <a:latin typeface="Times New Roman" pitchFamily="34" charset="0"/>
                <a:ea typeface="Times New Roman" pitchFamily="34" charset="-122"/>
                <a:cs typeface="Times New Roman" pitchFamily="34" charset="-120"/>
              </a:rPr>
              <a:t>Reliability metrics: stability, faithfulness, robustness</a:t>
            </a:r>
            <a:endParaRPr lang="en-US" sz="1500" dirty="0"/>
          </a:p>
          <a:p>
            <a:pPr marL="342900" indent="-342900">
              <a:spcAft>
                <a:spcPts val="500"/>
              </a:spcAft>
              <a:buSzPct val="100000"/>
              <a:buChar char="•"/>
            </a:pPr>
            <a:r>
              <a:rPr lang="en-US" sz="1500" dirty="0">
                <a:solidFill>
                  <a:srgbClr val="1A1A1A"/>
                </a:solidFill>
                <a:latin typeface="Times New Roman" pitchFamily="34" charset="0"/>
                <a:ea typeface="Times New Roman" pitchFamily="34" charset="-122"/>
                <a:cs typeface="Times New Roman" pitchFamily="34" charset="-120"/>
              </a:rPr>
              <a:t>Independent failure labels defined and generated</a:t>
            </a:r>
            <a:endParaRPr lang="en-US" sz="1500" dirty="0"/>
          </a:p>
          <a:p>
            <a:pPr marL="342900" indent="-342900">
              <a:spcAft>
                <a:spcPts val="500"/>
              </a:spcAft>
              <a:buSzPct val="100000"/>
              <a:buChar char="•"/>
            </a:pPr>
            <a:r>
              <a:rPr lang="en-US" sz="1500" dirty="0">
                <a:solidFill>
                  <a:srgbClr val="1A1A1A"/>
                </a:solidFill>
                <a:latin typeface="Times New Roman" pitchFamily="34" charset="0"/>
                <a:ea typeface="Times New Roman" pitchFamily="34" charset="-122"/>
                <a:cs typeface="Times New Roman" pitchFamily="34" charset="-120"/>
              </a:rPr>
              <a:t>Detector built and evaluated</a:t>
            </a:r>
            <a:endParaRPr lang="en-US" sz="1500" dirty="0"/>
          </a:p>
          <a:p>
            <a:pPr marL="342900" indent="-342900">
              <a:spcAft>
                <a:spcPts val="500"/>
              </a:spcAft>
              <a:buSzPct val="100000"/>
              <a:buChar char="•"/>
            </a:pPr>
            <a:r>
              <a:rPr lang="en-US" sz="1500" dirty="0">
                <a:solidFill>
                  <a:srgbClr val="1A1A1A"/>
                </a:solidFill>
                <a:latin typeface="Times New Roman" pitchFamily="34" charset="0"/>
                <a:ea typeface="Times New Roman" pitchFamily="34" charset="-122"/>
                <a:cs typeface="Times New Roman" pitchFamily="34" charset="-120"/>
              </a:rPr>
              <a:t>Diagnosis and mitigation strategies</a:t>
            </a:r>
            <a:endParaRPr lang="en-US" sz="1500" dirty="0"/>
          </a:p>
          <a:p>
            <a:pPr marL="342900" indent="-342900">
              <a:spcAft>
                <a:spcPts val="500"/>
              </a:spcAft>
              <a:buSzPct val="100000"/>
              <a:buChar char="•"/>
            </a:pPr>
            <a:r>
              <a:rPr lang="en-US" sz="1500" dirty="0">
                <a:solidFill>
                  <a:srgbClr val="1A1A1A"/>
                </a:solidFill>
                <a:latin typeface="Times New Roman" pitchFamily="34" charset="0"/>
                <a:ea typeface="Times New Roman" pitchFamily="34" charset="-122"/>
                <a:cs typeface="Times New Roman" pitchFamily="34" charset="-120"/>
              </a:rPr>
              <a:t>Low-Level Design (LLD)</a:t>
            </a:r>
            <a:endParaRPr lang="en-US" sz="1500" dirty="0"/>
          </a:p>
        </p:txBody>
      </p:sp>
      <p:sp>
        <p:nvSpPr>
          <p:cNvPr id="12" name="Shape 9"/>
          <p:cNvSpPr/>
          <p:nvPr/>
        </p:nvSpPr>
        <p:spPr>
          <a:xfrm>
            <a:off x="4242816" y="5577840"/>
            <a:ext cx="3666744" cy="777240"/>
          </a:xfrm>
          <a:prstGeom prst="roundRect">
            <a:avLst>
              <a:gd name="adj" fmla="val 11765"/>
            </a:avLst>
          </a:prstGeom>
          <a:solidFill>
            <a:srgbClr val="EEF3FC"/>
          </a:solidFill>
          <a:ln w="15875">
            <a:solidFill>
              <a:srgbClr val="128C8C"/>
            </a:solidFill>
            <a:prstDash val="solid"/>
          </a:ln>
        </p:spPr>
      </p:sp>
      <p:sp>
        <p:nvSpPr>
          <p:cNvPr id="13" name="Text 10"/>
          <p:cNvSpPr txBox="1"/>
          <p:nvPr/>
        </p:nvSpPr>
        <p:spPr>
          <a:xfrm>
            <a:off x="4334256" y="5577840"/>
            <a:ext cx="3483864" cy="777240"/>
          </a:xfrm>
          <a:prstGeom prst="rect">
            <a:avLst/>
          </a:prstGeom>
          <a:noFill/>
          <a:ln/>
        </p:spPr>
        <p:txBody>
          <a:bodyPr wrap="square" lIns="63500" tIns="63500" rIns="63500" bIns="63500" rtlCol="0" anchor="ctr"/>
          <a:lstStyle/>
          <a:p>
            <a:pPr marL="0" indent="0">
              <a:buNone/>
            </a:pPr>
            <a:r>
              <a:rPr lang="en-US" sz="1500" b="1" dirty="0">
                <a:solidFill>
                  <a:srgbClr val="128C8C"/>
                </a:solidFill>
                <a:latin typeface="Times New Roman" pitchFamily="34" charset="0"/>
                <a:ea typeface="Times New Roman" pitchFamily="34" charset="-122"/>
                <a:cs typeface="Times New Roman" pitchFamily="34" charset="-120"/>
              </a:rPr>
              <a:t>Milestone: Working reliability detector</a:t>
            </a:r>
            <a:endParaRPr lang="en-US" sz="1500" dirty="0"/>
          </a:p>
        </p:txBody>
      </p:sp>
      <p:sp>
        <p:nvSpPr>
          <p:cNvPr id="14" name="Text 11"/>
          <p:cNvSpPr/>
          <p:nvPr/>
        </p:nvSpPr>
        <p:spPr>
          <a:xfrm>
            <a:off x="8147304" y="1783080"/>
            <a:ext cx="3721608" cy="420624"/>
          </a:xfrm>
          <a:prstGeom prst="roundRect">
            <a:avLst>
              <a:gd name="adj" fmla="val 21739"/>
            </a:avLst>
          </a:prstGeom>
          <a:solidFill>
            <a:srgbClr val="E08A00"/>
          </a:solidFill>
          <a:ln/>
        </p:spPr>
        <p:txBody>
          <a:bodyPr wrap="square" rtlCol="0" anchor="ctr"/>
          <a:lstStyle/>
          <a:p>
            <a:pPr marL="0" indent="0" algn="ctr">
              <a:buNone/>
            </a:pPr>
            <a:r>
              <a:rPr lang="en-US" sz="1700" b="1" dirty="0">
                <a:solidFill>
                  <a:srgbClr val="FFFFFF"/>
                </a:solidFill>
                <a:latin typeface="Times New Roman" pitchFamily="34" charset="0"/>
                <a:ea typeface="Times New Roman" pitchFamily="34" charset="-122"/>
                <a:cs typeface="Times New Roman" pitchFamily="34" charset="-120"/>
              </a:rPr>
              <a:t>Capstone-III – Evaluation and paper</a:t>
            </a:r>
            <a:endParaRPr lang="en-US" sz="1700" dirty="0"/>
          </a:p>
        </p:txBody>
      </p:sp>
      <p:sp>
        <p:nvSpPr>
          <p:cNvPr id="15" name="Shape 12"/>
          <p:cNvSpPr/>
          <p:nvPr/>
        </p:nvSpPr>
        <p:spPr>
          <a:xfrm>
            <a:off x="8147304" y="2286000"/>
            <a:ext cx="3721608" cy="3154680"/>
          </a:xfrm>
          <a:prstGeom prst="roundRect">
            <a:avLst>
              <a:gd name="adj" fmla="val 2899"/>
            </a:avLst>
          </a:prstGeom>
          <a:solidFill>
            <a:srgbClr val="FFFFFF"/>
          </a:solidFill>
          <a:ln w="15875">
            <a:solidFill>
              <a:srgbClr val="E08A00"/>
            </a:solidFill>
            <a:prstDash val="solid"/>
          </a:ln>
        </p:spPr>
      </p:sp>
      <p:sp>
        <p:nvSpPr>
          <p:cNvPr id="16" name="Text 13"/>
          <p:cNvSpPr txBox="1"/>
          <p:nvPr/>
        </p:nvSpPr>
        <p:spPr>
          <a:xfrm>
            <a:off x="8238744" y="2359152"/>
            <a:ext cx="3538728" cy="3017520"/>
          </a:xfrm>
          <a:prstGeom prst="rect">
            <a:avLst/>
          </a:prstGeom>
          <a:noFill/>
          <a:ln/>
        </p:spPr>
        <p:txBody>
          <a:bodyPr wrap="square" lIns="63500" tIns="63500" rIns="63500" bIns="63500" rtlCol="0" anchor="t"/>
          <a:lstStyle/>
          <a:p>
            <a:pPr marL="342900" indent="-342900">
              <a:spcAft>
                <a:spcPts val="500"/>
              </a:spcAft>
              <a:buSzPct val="100000"/>
              <a:buChar char="•"/>
            </a:pPr>
            <a:r>
              <a:rPr lang="en-US" sz="1500" dirty="0">
                <a:solidFill>
                  <a:srgbClr val="1A1A1A"/>
                </a:solidFill>
                <a:latin typeface="Times New Roman" pitchFamily="34" charset="0"/>
                <a:ea typeface="Times New Roman" pitchFamily="34" charset="-122"/>
                <a:cs typeface="Times New Roman" pitchFamily="34" charset="-120"/>
              </a:rPr>
              <a:t>Complete implementation and experiments</a:t>
            </a:r>
            <a:endParaRPr lang="en-US" sz="1500" dirty="0"/>
          </a:p>
          <a:p>
            <a:pPr marL="342900" indent="-342900">
              <a:spcAft>
                <a:spcPts val="500"/>
              </a:spcAft>
              <a:buSzPct val="100000"/>
              <a:buChar char="•"/>
            </a:pPr>
            <a:r>
              <a:rPr lang="en-US" sz="1500" dirty="0">
                <a:solidFill>
                  <a:srgbClr val="1A1A1A"/>
                </a:solidFill>
                <a:latin typeface="Times New Roman" pitchFamily="34" charset="0"/>
                <a:ea typeface="Times New Roman" pitchFamily="34" charset="-122"/>
                <a:cs typeface="Times New Roman" pitchFamily="34" charset="-120"/>
              </a:rPr>
              <a:t>Full evaluation and ablations</a:t>
            </a:r>
            <a:endParaRPr lang="en-US" sz="1500" dirty="0"/>
          </a:p>
          <a:p>
            <a:pPr marL="342900" indent="-342900">
              <a:spcAft>
                <a:spcPts val="500"/>
              </a:spcAft>
              <a:buSzPct val="100000"/>
              <a:buChar char="•"/>
            </a:pPr>
            <a:r>
              <a:rPr lang="en-US" sz="1500" dirty="0">
                <a:solidFill>
                  <a:srgbClr val="1A1A1A"/>
                </a:solidFill>
                <a:latin typeface="Times New Roman" pitchFamily="34" charset="0"/>
                <a:ea typeface="Times New Roman" pitchFamily="34" charset="-122"/>
                <a:cs typeface="Times New Roman" pitchFamily="34" charset="-120"/>
              </a:rPr>
              <a:t>Statistical analysis and visualisation</a:t>
            </a:r>
            <a:endParaRPr lang="en-US" sz="1500" dirty="0"/>
          </a:p>
          <a:p>
            <a:pPr marL="342900" indent="-342900">
              <a:spcAft>
                <a:spcPts val="500"/>
              </a:spcAft>
              <a:buSzPct val="100000"/>
              <a:buChar char="•"/>
            </a:pPr>
            <a:r>
              <a:rPr lang="en-US" sz="1500" dirty="0">
                <a:solidFill>
                  <a:srgbClr val="1A1A1A"/>
                </a:solidFill>
                <a:latin typeface="Times New Roman" pitchFamily="34" charset="0"/>
                <a:ea typeface="Times New Roman" pitchFamily="34" charset="-122"/>
                <a:cs typeface="Times New Roman" pitchFamily="34" charset="-120"/>
              </a:rPr>
              <a:t>Research paper and final documentation</a:t>
            </a:r>
            <a:endParaRPr lang="en-US" sz="1500" dirty="0"/>
          </a:p>
          <a:p>
            <a:pPr marL="342900" indent="-342900">
              <a:spcAft>
                <a:spcPts val="500"/>
              </a:spcAft>
              <a:buSzPct val="100000"/>
              <a:buChar char="•"/>
            </a:pPr>
            <a:r>
              <a:rPr lang="en-US" sz="1500" dirty="0">
                <a:solidFill>
                  <a:srgbClr val="1A1A1A"/>
                </a:solidFill>
                <a:latin typeface="Times New Roman" pitchFamily="34" charset="0"/>
                <a:ea typeface="Times New Roman" pitchFamily="34" charset="-122"/>
                <a:cs typeface="Times New Roman" pitchFamily="34" charset="-120"/>
              </a:rPr>
              <a:t>Reproducibility materials</a:t>
            </a:r>
            <a:endParaRPr lang="en-US" sz="1500" dirty="0"/>
          </a:p>
        </p:txBody>
      </p:sp>
      <p:sp>
        <p:nvSpPr>
          <p:cNvPr id="17" name="Shape 14"/>
          <p:cNvSpPr/>
          <p:nvPr/>
        </p:nvSpPr>
        <p:spPr>
          <a:xfrm>
            <a:off x="8147304" y="5577840"/>
            <a:ext cx="3721608" cy="777240"/>
          </a:xfrm>
          <a:prstGeom prst="roundRect">
            <a:avLst>
              <a:gd name="adj" fmla="val 11765"/>
            </a:avLst>
          </a:prstGeom>
          <a:solidFill>
            <a:srgbClr val="EEF3FC"/>
          </a:solidFill>
          <a:ln w="15875">
            <a:solidFill>
              <a:srgbClr val="E08A00"/>
            </a:solidFill>
            <a:prstDash val="solid"/>
          </a:ln>
        </p:spPr>
      </p:sp>
      <p:sp>
        <p:nvSpPr>
          <p:cNvPr id="18" name="Text 15"/>
          <p:cNvSpPr txBox="1"/>
          <p:nvPr/>
        </p:nvSpPr>
        <p:spPr>
          <a:xfrm>
            <a:off x="8238744" y="5577840"/>
            <a:ext cx="3538728" cy="777240"/>
          </a:xfrm>
          <a:prstGeom prst="rect">
            <a:avLst/>
          </a:prstGeom>
          <a:noFill/>
          <a:ln/>
        </p:spPr>
        <p:txBody>
          <a:bodyPr wrap="square" lIns="63500" tIns="63500" rIns="63500" bIns="63500" rtlCol="0" anchor="ctr"/>
          <a:lstStyle/>
          <a:p>
            <a:pPr marL="0" indent="0">
              <a:buNone/>
            </a:pPr>
            <a:r>
              <a:rPr lang="en-US" sz="1500" b="1" dirty="0">
                <a:solidFill>
                  <a:srgbClr val="E08A00"/>
                </a:solidFill>
                <a:latin typeface="Times New Roman" pitchFamily="34" charset="0"/>
                <a:ea typeface="Times New Roman" pitchFamily="34" charset="-122"/>
                <a:cs typeface="Times New Roman" pitchFamily="34" charset="-120"/>
              </a:rPr>
              <a:t>Milestone: End-to-end framework and paper</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3017520" y="1005840"/>
            <a:ext cx="7644384" cy="502920"/>
          </a:xfrm>
          <a:prstGeom prst="rect">
            <a:avLst/>
          </a:prstGeom>
          <a:noFill/>
          <a:ln/>
        </p:spPr>
        <p:txBody>
          <a:bodyPr wrap="square" lIns="0" tIns="0" rIns="0" bIns="0" rtlCol="0" anchor="b"/>
          <a:lstStyle/>
          <a:p>
            <a:pPr marL="0" indent="0" algn="r">
              <a:buNone/>
            </a:pPr>
            <a:r>
              <a:rPr lang="en-US" sz="2400" dirty="0">
                <a:solidFill>
                  <a:srgbClr val="D40000"/>
                </a:solidFill>
                <a:latin typeface="Times New Roman" pitchFamily="34" charset="0"/>
                <a:ea typeface="Times New Roman" pitchFamily="34" charset="-122"/>
                <a:cs typeface="Times New Roman" pitchFamily="34" charset="-120"/>
              </a:rPr>
              <a:t>Capstone Project Timeline</a:t>
            </a:r>
            <a:endParaRPr lang="en-US" sz="2400" dirty="0"/>
          </a:p>
        </p:txBody>
      </p:sp>
      <p:sp>
        <p:nvSpPr>
          <p:cNvPr id="4" name="Shape 1"/>
          <p:cNvSpPr/>
          <p:nvPr/>
        </p:nvSpPr>
        <p:spPr>
          <a:xfrm>
            <a:off x="329184" y="1783080"/>
            <a:ext cx="11247120" cy="365760"/>
          </a:xfrm>
          <a:prstGeom prst="rect">
            <a:avLst/>
          </a:prstGeom>
          <a:solidFill>
            <a:srgbClr val="0033CC"/>
          </a:solidFill>
          <a:ln w="12700">
            <a:solidFill>
              <a:srgbClr val="0033CC"/>
            </a:solidFill>
            <a:prstDash val="solid"/>
          </a:ln>
        </p:spPr>
      </p:sp>
      <p:sp>
        <p:nvSpPr>
          <p:cNvPr id="5" name="Text 2"/>
          <p:cNvSpPr txBox="1"/>
          <p:nvPr/>
        </p:nvSpPr>
        <p:spPr>
          <a:xfrm>
            <a:off x="365760" y="1783080"/>
            <a:ext cx="3474720" cy="365760"/>
          </a:xfrm>
          <a:prstGeom prst="rect">
            <a:avLst/>
          </a:prstGeom>
          <a:noFill/>
          <a:ln/>
        </p:spPr>
        <p:txBody>
          <a:bodyPr wrap="square" lIns="63500" tIns="63500" rIns="63500" bIns="63500" rtlCol="0" anchor="ctr"/>
          <a:lstStyle/>
          <a:p>
            <a:pPr marL="0" indent="0">
              <a:buNone/>
            </a:pPr>
            <a:r>
              <a:rPr lang="en-US" sz="1500" b="1" dirty="0">
                <a:solidFill>
                  <a:srgbClr val="FFFFFF"/>
                </a:solidFill>
                <a:latin typeface="Times New Roman" pitchFamily="34" charset="0"/>
                <a:ea typeface="Times New Roman" pitchFamily="34" charset="-122"/>
                <a:cs typeface="Times New Roman" pitchFamily="34" charset="-120"/>
              </a:rPr>
              <a:t>Task</a:t>
            </a:r>
            <a:endParaRPr lang="en-US" sz="1500" dirty="0"/>
          </a:p>
        </p:txBody>
      </p:sp>
      <p:sp>
        <p:nvSpPr>
          <p:cNvPr id="6" name="Text 3"/>
          <p:cNvSpPr txBox="1"/>
          <p:nvPr/>
        </p:nvSpPr>
        <p:spPr>
          <a:xfrm>
            <a:off x="3895344" y="1783080"/>
            <a:ext cx="10972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Sep–Oct '26</a:t>
            </a:r>
            <a:endParaRPr lang="en-US" sz="1200" dirty="0"/>
          </a:p>
        </p:txBody>
      </p:sp>
      <p:sp>
        <p:nvSpPr>
          <p:cNvPr id="7" name="Text 4"/>
          <p:cNvSpPr txBox="1"/>
          <p:nvPr/>
        </p:nvSpPr>
        <p:spPr>
          <a:xfrm>
            <a:off x="4992624" y="1783080"/>
            <a:ext cx="10972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Nov '26</a:t>
            </a:r>
            <a:endParaRPr lang="en-US" sz="1200" dirty="0"/>
          </a:p>
        </p:txBody>
      </p:sp>
      <p:sp>
        <p:nvSpPr>
          <p:cNvPr id="8" name="Text 5"/>
          <p:cNvSpPr txBox="1"/>
          <p:nvPr/>
        </p:nvSpPr>
        <p:spPr>
          <a:xfrm>
            <a:off x="6089904" y="1783080"/>
            <a:ext cx="10972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Dec '26</a:t>
            </a:r>
            <a:endParaRPr lang="en-US" sz="1200" dirty="0"/>
          </a:p>
        </p:txBody>
      </p:sp>
      <p:sp>
        <p:nvSpPr>
          <p:cNvPr id="9" name="Text 6"/>
          <p:cNvSpPr txBox="1"/>
          <p:nvPr/>
        </p:nvSpPr>
        <p:spPr>
          <a:xfrm>
            <a:off x="7187184" y="1783080"/>
            <a:ext cx="10972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Jan '27</a:t>
            </a:r>
            <a:endParaRPr lang="en-US" sz="1200" dirty="0"/>
          </a:p>
        </p:txBody>
      </p:sp>
      <p:sp>
        <p:nvSpPr>
          <p:cNvPr id="10" name="Text 7"/>
          <p:cNvSpPr txBox="1"/>
          <p:nvPr/>
        </p:nvSpPr>
        <p:spPr>
          <a:xfrm>
            <a:off x="8284464" y="1783080"/>
            <a:ext cx="10972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Feb '27</a:t>
            </a:r>
            <a:endParaRPr lang="en-US" sz="1200" dirty="0"/>
          </a:p>
        </p:txBody>
      </p:sp>
      <p:sp>
        <p:nvSpPr>
          <p:cNvPr id="11" name="Text 8"/>
          <p:cNvSpPr txBox="1"/>
          <p:nvPr/>
        </p:nvSpPr>
        <p:spPr>
          <a:xfrm>
            <a:off x="9381744" y="1783080"/>
            <a:ext cx="10972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Mar '27</a:t>
            </a:r>
            <a:endParaRPr lang="en-US" sz="1200" dirty="0"/>
          </a:p>
        </p:txBody>
      </p:sp>
      <p:sp>
        <p:nvSpPr>
          <p:cNvPr id="12" name="Text 9"/>
          <p:cNvSpPr txBox="1"/>
          <p:nvPr/>
        </p:nvSpPr>
        <p:spPr>
          <a:xfrm>
            <a:off x="10479024" y="1783080"/>
            <a:ext cx="10972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Apr–Jun '27</a:t>
            </a:r>
            <a:endParaRPr lang="en-US" sz="1200" dirty="0"/>
          </a:p>
        </p:txBody>
      </p:sp>
      <p:sp>
        <p:nvSpPr>
          <p:cNvPr id="13" name="Shape 10"/>
          <p:cNvSpPr/>
          <p:nvPr/>
        </p:nvSpPr>
        <p:spPr>
          <a:xfrm>
            <a:off x="329184" y="2148840"/>
            <a:ext cx="11247120" cy="365760"/>
          </a:xfrm>
          <a:prstGeom prst="rect">
            <a:avLst/>
          </a:prstGeom>
          <a:solidFill>
            <a:srgbClr val="EEF3FC"/>
          </a:solidFill>
          <a:ln w="6350">
            <a:solidFill>
              <a:srgbClr val="DCE4F5"/>
            </a:solidFill>
            <a:prstDash val="solid"/>
          </a:ln>
        </p:spPr>
      </p:sp>
      <p:sp>
        <p:nvSpPr>
          <p:cNvPr id="14" name="Text 11"/>
          <p:cNvSpPr txBox="1"/>
          <p:nvPr/>
        </p:nvSpPr>
        <p:spPr>
          <a:xfrm>
            <a:off x="365760" y="2148840"/>
            <a:ext cx="3474720" cy="365760"/>
          </a:xfrm>
          <a:prstGeom prst="rect">
            <a:avLst/>
          </a:prstGeom>
          <a:noFill/>
          <a:ln/>
        </p:spPr>
        <p:txBody>
          <a:bodyPr wrap="square" lIns="63500" tIns="63500" rIns="63500" bIns="63500" rtlCol="0" anchor="ctr"/>
          <a:lstStyle/>
          <a:p>
            <a:pPr marL="0" indent="0">
              <a:buNone/>
            </a:pPr>
            <a:r>
              <a:rPr lang="en-US" sz="1400" dirty="0">
                <a:solidFill>
                  <a:srgbClr val="1A1A1A"/>
                </a:solidFill>
                <a:latin typeface="Times New Roman" pitchFamily="34" charset="0"/>
                <a:ea typeface="Times New Roman" pitchFamily="34" charset="-122"/>
                <a:cs typeface="Times New Roman" pitchFamily="34" charset="-120"/>
              </a:rPr>
              <a:t>Problem statement</a:t>
            </a:r>
            <a:endParaRPr lang="en-US" sz="1400" dirty="0"/>
          </a:p>
        </p:txBody>
      </p:sp>
      <p:sp>
        <p:nvSpPr>
          <p:cNvPr id="15" name="Shape 12"/>
          <p:cNvSpPr/>
          <p:nvPr/>
        </p:nvSpPr>
        <p:spPr>
          <a:xfrm>
            <a:off x="3931920" y="2221992"/>
            <a:ext cx="1024128" cy="219456"/>
          </a:xfrm>
          <a:prstGeom prst="rect">
            <a:avLst/>
          </a:prstGeom>
          <a:solidFill>
            <a:srgbClr val="0033CC"/>
          </a:solidFill>
          <a:ln w="12700">
            <a:solidFill>
              <a:srgbClr val="0033CC"/>
            </a:solidFill>
            <a:prstDash val="solid"/>
          </a:ln>
        </p:spPr>
      </p:sp>
      <p:sp>
        <p:nvSpPr>
          <p:cNvPr id="16" name="Shape 13"/>
          <p:cNvSpPr/>
          <p:nvPr/>
        </p:nvSpPr>
        <p:spPr>
          <a:xfrm>
            <a:off x="329184" y="2514600"/>
            <a:ext cx="11247120" cy="365760"/>
          </a:xfrm>
          <a:prstGeom prst="rect">
            <a:avLst/>
          </a:prstGeom>
          <a:solidFill>
            <a:srgbClr val="FFFFFF"/>
          </a:solidFill>
          <a:ln w="6350">
            <a:solidFill>
              <a:srgbClr val="DCE4F5"/>
            </a:solidFill>
            <a:prstDash val="solid"/>
          </a:ln>
        </p:spPr>
      </p:sp>
      <p:sp>
        <p:nvSpPr>
          <p:cNvPr id="17" name="Text 14"/>
          <p:cNvSpPr txBox="1"/>
          <p:nvPr/>
        </p:nvSpPr>
        <p:spPr>
          <a:xfrm>
            <a:off x="365760" y="2514600"/>
            <a:ext cx="3474720" cy="365760"/>
          </a:xfrm>
          <a:prstGeom prst="rect">
            <a:avLst/>
          </a:prstGeom>
          <a:noFill/>
          <a:ln/>
        </p:spPr>
        <p:txBody>
          <a:bodyPr wrap="square" lIns="63500" tIns="63500" rIns="63500" bIns="63500" rtlCol="0" anchor="ctr"/>
          <a:lstStyle/>
          <a:p>
            <a:pPr marL="0" indent="0">
              <a:buNone/>
            </a:pPr>
            <a:r>
              <a:rPr lang="en-US" sz="1400" dirty="0">
                <a:solidFill>
                  <a:srgbClr val="1A1A1A"/>
                </a:solidFill>
                <a:latin typeface="Times New Roman" pitchFamily="34" charset="0"/>
                <a:ea typeface="Times New Roman" pitchFamily="34" charset="-122"/>
                <a:cs typeface="Times New Roman" pitchFamily="34" charset="-120"/>
              </a:rPr>
              <a:t>Literature review</a:t>
            </a:r>
            <a:endParaRPr lang="en-US" sz="1400" dirty="0"/>
          </a:p>
        </p:txBody>
      </p:sp>
      <p:sp>
        <p:nvSpPr>
          <p:cNvPr id="18" name="Shape 15"/>
          <p:cNvSpPr/>
          <p:nvPr/>
        </p:nvSpPr>
        <p:spPr>
          <a:xfrm>
            <a:off x="3931920" y="2587752"/>
            <a:ext cx="2121408" cy="219456"/>
          </a:xfrm>
          <a:prstGeom prst="rect">
            <a:avLst/>
          </a:prstGeom>
          <a:solidFill>
            <a:srgbClr val="0033CC"/>
          </a:solidFill>
          <a:ln w="12700">
            <a:solidFill>
              <a:srgbClr val="0033CC"/>
            </a:solidFill>
            <a:prstDash val="solid"/>
          </a:ln>
        </p:spPr>
      </p:sp>
      <p:sp>
        <p:nvSpPr>
          <p:cNvPr id="19" name="Shape 16"/>
          <p:cNvSpPr/>
          <p:nvPr/>
        </p:nvSpPr>
        <p:spPr>
          <a:xfrm>
            <a:off x="329184" y="2880360"/>
            <a:ext cx="11247120" cy="365760"/>
          </a:xfrm>
          <a:prstGeom prst="rect">
            <a:avLst/>
          </a:prstGeom>
          <a:solidFill>
            <a:srgbClr val="EEF3FC"/>
          </a:solidFill>
          <a:ln w="6350">
            <a:solidFill>
              <a:srgbClr val="DCE4F5"/>
            </a:solidFill>
            <a:prstDash val="solid"/>
          </a:ln>
        </p:spPr>
      </p:sp>
      <p:sp>
        <p:nvSpPr>
          <p:cNvPr id="20" name="Text 17"/>
          <p:cNvSpPr txBox="1"/>
          <p:nvPr/>
        </p:nvSpPr>
        <p:spPr>
          <a:xfrm>
            <a:off x="365760" y="2880360"/>
            <a:ext cx="3474720" cy="365760"/>
          </a:xfrm>
          <a:prstGeom prst="rect">
            <a:avLst/>
          </a:prstGeom>
          <a:noFill/>
          <a:ln/>
        </p:spPr>
        <p:txBody>
          <a:bodyPr wrap="square" lIns="63500" tIns="63500" rIns="63500" bIns="63500" rtlCol="0" anchor="ctr"/>
          <a:lstStyle/>
          <a:p>
            <a:pPr marL="0" indent="0">
              <a:buNone/>
            </a:pPr>
            <a:r>
              <a:rPr lang="en-US" sz="1400" dirty="0">
                <a:solidFill>
                  <a:srgbClr val="1A1A1A"/>
                </a:solidFill>
                <a:latin typeface="Times New Roman" pitchFamily="34" charset="0"/>
                <a:ea typeface="Times New Roman" pitchFamily="34" charset="-122"/>
                <a:cs typeface="Times New Roman" pitchFamily="34" charset="-120"/>
              </a:rPr>
              <a:t>Dataset preparation</a:t>
            </a:r>
            <a:endParaRPr lang="en-US" sz="1400" dirty="0"/>
          </a:p>
        </p:txBody>
      </p:sp>
      <p:sp>
        <p:nvSpPr>
          <p:cNvPr id="21" name="Shape 18"/>
          <p:cNvSpPr/>
          <p:nvPr/>
        </p:nvSpPr>
        <p:spPr>
          <a:xfrm>
            <a:off x="5029200" y="2953512"/>
            <a:ext cx="2121408" cy="219456"/>
          </a:xfrm>
          <a:prstGeom prst="rect">
            <a:avLst/>
          </a:prstGeom>
          <a:solidFill>
            <a:srgbClr val="0033CC"/>
          </a:solidFill>
          <a:ln w="12700">
            <a:solidFill>
              <a:srgbClr val="0033CC"/>
            </a:solidFill>
            <a:prstDash val="solid"/>
          </a:ln>
        </p:spPr>
      </p:sp>
      <p:sp>
        <p:nvSpPr>
          <p:cNvPr id="22" name="Shape 19"/>
          <p:cNvSpPr/>
          <p:nvPr/>
        </p:nvSpPr>
        <p:spPr>
          <a:xfrm>
            <a:off x="329184" y="3246120"/>
            <a:ext cx="11247120" cy="365760"/>
          </a:xfrm>
          <a:prstGeom prst="rect">
            <a:avLst/>
          </a:prstGeom>
          <a:solidFill>
            <a:srgbClr val="FFFFFF"/>
          </a:solidFill>
          <a:ln w="6350">
            <a:solidFill>
              <a:srgbClr val="DCE4F5"/>
            </a:solidFill>
            <a:prstDash val="solid"/>
          </a:ln>
        </p:spPr>
      </p:sp>
      <p:sp>
        <p:nvSpPr>
          <p:cNvPr id="23" name="Text 20"/>
          <p:cNvSpPr txBox="1"/>
          <p:nvPr/>
        </p:nvSpPr>
        <p:spPr>
          <a:xfrm>
            <a:off x="365760" y="3246120"/>
            <a:ext cx="3474720" cy="365760"/>
          </a:xfrm>
          <a:prstGeom prst="rect">
            <a:avLst/>
          </a:prstGeom>
          <a:noFill/>
          <a:ln/>
        </p:spPr>
        <p:txBody>
          <a:bodyPr wrap="square" lIns="63500" tIns="63500" rIns="63500" bIns="63500" rtlCol="0" anchor="ctr"/>
          <a:lstStyle/>
          <a:p>
            <a:pPr marL="0" indent="0">
              <a:buNone/>
            </a:pPr>
            <a:r>
              <a:rPr lang="en-US" sz="1400" dirty="0">
                <a:solidFill>
                  <a:srgbClr val="1A1A1A"/>
                </a:solidFill>
                <a:latin typeface="Times New Roman" pitchFamily="34" charset="0"/>
                <a:ea typeface="Times New Roman" pitchFamily="34" charset="-122"/>
                <a:cs typeface="Times New Roman" pitchFamily="34" charset="-120"/>
              </a:rPr>
              <a:t>Prediction baselines</a:t>
            </a:r>
            <a:endParaRPr lang="en-US" sz="1400" dirty="0"/>
          </a:p>
        </p:txBody>
      </p:sp>
      <p:sp>
        <p:nvSpPr>
          <p:cNvPr id="24" name="Shape 21"/>
          <p:cNvSpPr/>
          <p:nvPr/>
        </p:nvSpPr>
        <p:spPr>
          <a:xfrm>
            <a:off x="6126480" y="3319272"/>
            <a:ext cx="2121408" cy="219456"/>
          </a:xfrm>
          <a:prstGeom prst="rect">
            <a:avLst/>
          </a:prstGeom>
          <a:solidFill>
            <a:srgbClr val="0033CC"/>
          </a:solidFill>
          <a:ln w="12700">
            <a:solidFill>
              <a:srgbClr val="0033CC"/>
            </a:solidFill>
            <a:prstDash val="solid"/>
          </a:ln>
        </p:spPr>
      </p:sp>
      <p:sp>
        <p:nvSpPr>
          <p:cNvPr id="25" name="Shape 22"/>
          <p:cNvSpPr/>
          <p:nvPr/>
        </p:nvSpPr>
        <p:spPr>
          <a:xfrm>
            <a:off x="329184" y="3611880"/>
            <a:ext cx="11247120" cy="365760"/>
          </a:xfrm>
          <a:prstGeom prst="rect">
            <a:avLst/>
          </a:prstGeom>
          <a:solidFill>
            <a:srgbClr val="EEF3FC"/>
          </a:solidFill>
          <a:ln w="6350">
            <a:solidFill>
              <a:srgbClr val="DCE4F5"/>
            </a:solidFill>
            <a:prstDash val="solid"/>
          </a:ln>
        </p:spPr>
      </p:sp>
      <p:sp>
        <p:nvSpPr>
          <p:cNvPr id="26" name="Text 23"/>
          <p:cNvSpPr txBox="1"/>
          <p:nvPr/>
        </p:nvSpPr>
        <p:spPr>
          <a:xfrm>
            <a:off x="365760" y="3611880"/>
            <a:ext cx="3474720" cy="365760"/>
          </a:xfrm>
          <a:prstGeom prst="rect">
            <a:avLst/>
          </a:prstGeom>
          <a:noFill/>
          <a:ln/>
        </p:spPr>
        <p:txBody>
          <a:bodyPr wrap="square" lIns="63500" tIns="63500" rIns="63500" bIns="63500" rtlCol="0" anchor="ctr"/>
          <a:lstStyle/>
          <a:p>
            <a:pPr marL="0" indent="0">
              <a:buNone/>
            </a:pPr>
            <a:r>
              <a:rPr lang="en-US" sz="1400" dirty="0">
                <a:solidFill>
                  <a:srgbClr val="1A1A1A"/>
                </a:solidFill>
                <a:latin typeface="Times New Roman" pitchFamily="34" charset="0"/>
                <a:ea typeface="Times New Roman" pitchFamily="34" charset="-122"/>
                <a:cs typeface="Times New Roman" pitchFamily="34" charset="-120"/>
              </a:rPr>
              <a:t>Explanation pipeline</a:t>
            </a:r>
            <a:endParaRPr lang="en-US" sz="1400" dirty="0"/>
          </a:p>
        </p:txBody>
      </p:sp>
      <p:sp>
        <p:nvSpPr>
          <p:cNvPr id="27" name="Shape 24"/>
          <p:cNvSpPr/>
          <p:nvPr/>
        </p:nvSpPr>
        <p:spPr>
          <a:xfrm>
            <a:off x="7223760" y="3685032"/>
            <a:ext cx="2121408" cy="219456"/>
          </a:xfrm>
          <a:prstGeom prst="rect">
            <a:avLst/>
          </a:prstGeom>
          <a:solidFill>
            <a:srgbClr val="0033CC"/>
          </a:solidFill>
          <a:ln w="12700">
            <a:solidFill>
              <a:srgbClr val="0033CC"/>
            </a:solidFill>
            <a:prstDash val="solid"/>
          </a:ln>
        </p:spPr>
      </p:sp>
      <p:sp>
        <p:nvSpPr>
          <p:cNvPr id="28" name="Shape 25"/>
          <p:cNvSpPr/>
          <p:nvPr/>
        </p:nvSpPr>
        <p:spPr>
          <a:xfrm>
            <a:off x="329184" y="3977640"/>
            <a:ext cx="11247120" cy="365760"/>
          </a:xfrm>
          <a:prstGeom prst="rect">
            <a:avLst/>
          </a:prstGeom>
          <a:solidFill>
            <a:srgbClr val="FFFFFF"/>
          </a:solidFill>
          <a:ln w="6350">
            <a:solidFill>
              <a:srgbClr val="DCE4F5"/>
            </a:solidFill>
            <a:prstDash val="solid"/>
          </a:ln>
        </p:spPr>
      </p:sp>
      <p:sp>
        <p:nvSpPr>
          <p:cNvPr id="29" name="Text 26"/>
          <p:cNvSpPr txBox="1"/>
          <p:nvPr/>
        </p:nvSpPr>
        <p:spPr>
          <a:xfrm>
            <a:off x="365760" y="3977640"/>
            <a:ext cx="3474720" cy="365760"/>
          </a:xfrm>
          <a:prstGeom prst="rect">
            <a:avLst/>
          </a:prstGeom>
          <a:noFill/>
          <a:ln/>
        </p:spPr>
        <p:txBody>
          <a:bodyPr wrap="square" lIns="63500" tIns="63500" rIns="63500" bIns="63500" rtlCol="0" anchor="ctr"/>
          <a:lstStyle/>
          <a:p>
            <a:pPr marL="0" indent="0">
              <a:buNone/>
            </a:pPr>
            <a:r>
              <a:rPr lang="en-US" sz="1400" dirty="0">
                <a:solidFill>
                  <a:srgbClr val="1A1A1A"/>
                </a:solidFill>
                <a:latin typeface="Times New Roman" pitchFamily="34" charset="0"/>
                <a:ea typeface="Times New Roman" pitchFamily="34" charset="-122"/>
                <a:cs typeface="Times New Roman" pitchFamily="34" charset="-120"/>
              </a:rPr>
              <a:t>Reliability metrics</a:t>
            </a:r>
            <a:endParaRPr lang="en-US" sz="1400" dirty="0"/>
          </a:p>
        </p:txBody>
      </p:sp>
      <p:sp>
        <p:nvSpPr>
          <p:cNvPr id="30" name="Shape 27"/>
          <p:cNvSpPr/>
          <p:nvPr/>
        </p:nvSpPr>
        <p:spPr>
          <a:xfrm>
            <a:off x="8321040" y="4050792"/>
            <a:ext cx="2121408" cy="219456"/>
          </a:xfrm>
          <a:prstGeom prst="rect">
            <a:avLst/>
          </a:prstGeom>
          <a:solidFill>
            <a:srgbClr val="128C8C"/>
          </a:solidFill>
          <a:ln w="12700">
            <a:solidFill>
              <a:srgbClr val="128C8C"/>
            </a:solidFill>
            <a:prstDash val="solid"/>
          </a:ln>
        </p:spPr>
      </p:sp>
      <p:sp>
        <p:nvSpPr>
          <p:cNvPr id="31" name="Shape 28"/>
          <p:cNvSpPr/>
          <p:nvPr/>
        </p:nvSpPr>
        <p:spPr>
          <a:xfrm>
            <a:off x="329184" y="4343400"/>
            <a:ext cx="11247120" cy="365760"/>
          </a:xfrm>
          <a:prstGeom prst="rect">
            <a:avLst/>
          </a:prstGeom>
          <a:solidFill>
            <a:srgbClr val="EEF3FC"/>
          </a:solidFill>
          <a:ln w="6350">
            <a:solidFill>
              <a:srgbClr val="DCE4F5"/>
            </a:solidFill>
            <a:prstDash val="solid"/>
          </a:ln>
        </p:spPr>
      </p:sp>
      <p:sp>
        <p:nvSpPr>
          <p:cNvPr id="32" name="Text 29"/>
          <p:cNvSpPr txBox="1"/>
          <p:nvPr/>
        </p:nvSpPr>
        <p:spPr>
          <a:xfrm>
            <a:off x="365760" y="4343400"/>
            <a:ext cx="3474720" cy="365760"/>
          </a:xfrm>
          <a:prstGeom prst="rect">
            <a:avLst/>
          </a:prstGeom>
          <a:noFill/>
          <a:ln/>
        </p:spPr>
        <p:txBody>
          <a:bodyPr wrap="square" lIns="63500" tIns="63500" rIns="63500" bIns="63500" rtlCol="0" anchor="ctr"/>
          <a:lstStyle/>
          <a:p>
            <a:pPr marL="0" indent="0">
              <a:buNone/>
            </a:pPr>
            <a:r>
              <a:rPr lang="en-US" sz="1400" dirty="0">
                <a:solidFill>
                  <a:srgbClr val="1A1A1A"/>
                </a:solidFill>
                <a:latin typeface="Times New Roman" pitchFamily="34" charset="0"/>
                <a:ea typeface="Times New Roman" pitchFamily="34" charset="-122"/>
                <a:cs typeface="Times New Roman" pitchFamily="34" charset="-120"/>
              </a:rPr>
              <a:t>Failure labels</a:t>
            </a:r>
            <a:endParaRPr lang="en-US" sz="1400" dirty="0"/>
          </a:p>
        </p:txBody>
      </p:sp>
      <p:sp>
        <p:nvSpPr>
          <p:cNvPr id="33" name="Shape 30"/>
          <p:cNvSpPr/>
          <p:nvPr/>
        </p:nvSpPr>
        <p:spPr>
          <a:xfrm>
            <a:off x="8321040" y="4416552"/>
            <a:ext cx="2121408" cy="219456"/>
          </a:xfrm>
          <a:prstGeom prst="rect">
            <a:avLst/>
          </a:prstGeom>
          <a:solidFill>
            <a:srgbClr val="128C8C"/>
          </a:solidFill>
          <a:ln w="12700">
            <a:solidFill>
              <a:srgbClr val="128C8C"/>
            </a:solidFill>
            <a:prstDash val="solid"/>
          </a:ln>
        </p:spPr>
      </p:sp>
      <p:sp>
        <p:nvSpPr>
          <p:cNvPr id="34" name="Shape 31"/>
          <p:cNvSpPr/>
          <p:nvPr/>
        </p:nvSpPr>
        <p:spPr>
          <a:xfrm>
            <a:off x="329184" y="4709160"/>
            <a:ext cx="11247120" cy="365760"/>
          </a:xfrm>
          <a:prstGeom prst="rect">
            <a:avLst/>
          </a:prstGeom>
          <a:solidFill>
            <a:srgbClr val="FFFFFF"/>
          </a:solidFill>
          <a:ln w="6350">
            <a:solidFill>
              <a:srgbClr val="DCE4F5"/>
            </a:solidFill>
            <a:prstDash val="solid"/>
          </a:ln>
        </p:spPr>
      </p:sp>
      <p:sp>
        <p:nvSpPr>
          <p:cNvPr id="35" name="Text 32"/>
          <p:cNvSpPr txBox="1"/>
          <p:nvPr/>
        </p:nvSpPr>
        <p:spPr>
          <a:xfrm>
            <a:off x="365760" y="4709160"/>
            <a:ext cx="3474720" cy="365760"/>
          </a:xfrm>
          <a:prstGeom prst="rect">
            <a:avLst/>
          </a:prstGeom>
          <a:noFill/>
          <a:ln/>
        </p:spPr>
        <p:txBody>
          <a:bodyPr wrap="square" lIns="63500" tIns="63500" rIns="63500" bIns="63500" rtlCol="0" anchor="ctr"/>
          <a:lstStyle/>
          <a:p>
            <a:pPr marL="0" indent="0">
              <a:buNone/>
            </a:pPr>
            <a:r>
              <a:rPr lang="en-US" sz="1400" dirty="0">
                <a:solidFill>
                  <a:srgbClr val="1A1A1A"/>
                </a:solidFill>
                <a:latin typeface="Times New Roman" pitchFamily="34" charset="0"/>
                <a:ea typeface="Times New Roman" pitchFamily="34" charset="-122"/>
                <a:cs typeface="Times New Roman" pitchFamily="34" charset="-120"/>
              </a:rPr>
              <a:t>Detector construction</a:t>
            </a:r>
            <a:endParaRPr lang="en-US" sz="1400" dirty="0"/>
          </a:p>
        </p:txBody>
      </p:sp>
      <p:sp>
        <p:nvSpPr>
          <p:cNvPr id="36" name="Shape 33"/>
          <p:cNvSpPr/>
          <p:nvPr/>
        </p:nvSpPr>
        <p:spPr>
          <a:xfrm>
            <a:off x="9418320" y="4782312"/>
            <a:ext cx="2121408" cy="219456"/>
          </a:xfrm>
          <a:prstGeom prst="rect">
            <a:avLst/>
          </a:prstGeom>
          <a:solidFill>
            <a:srgbClr val="128C8C"/>
          </a:solidFill>
          <a:ln w="12700">
            <a:solidFill>
              <a:srgbClr val="128C8C"/>
            </a:solidFill>
            <a:prstDash val="solid"/>
          </a:ln>
        </p:spPr>
      </p:sp>
      <p:sp>
        <p:nvSpPr>
          <p:cNvPr id="37" name="Shape 34"/>
          <p:cNvSpPr/>
          <p:nvPr/>
        </p:nvSpPr>
        <p:spPr>
          <a:xfrm>
            <a:off x="329184" y="5074920"/>
            <a:ext cx="11247120" cy="365760"/>
          </a:xfrm>
          <a:prstGeom prst="rect">
            <a:avLst/>
          </a:prstGeom>
          <a:solidFill>
            <a:srgbClr val="EEF3FC"/>
          </a:solidFill>
          <a:ln w="6350">
            <a:solidFill>
              <a:srgbClr val="DCE4F5"/>
            </a:solidFill>
            <a:prstDash val="solid"/>
          </a:ln>
        </p:spPr>
      </p:sp>
      <p:sp>
        <p:nvSpPr>
          <p:cNvPr id="38" name="Text 35"/>
          <p:cNvSpPr txBox="1"/>
          <p:nvPr/>
        </p:nvSpPr>
        <p:spPr>
          <a:xfrm>
            <a:off x="365760" y="5074920"/>
            <a:ext cx="3474720" cy="365760"/>
          </a:xfrm>
          <a:prstGeom prst="rect">
            <a:avLst/>
          </a:prstGeom>
          <a:noFill/>
          <a:ln/>
        </p:spPr>
        <p:txBody>
          <a:bodyPr wrap="square" lIns="63500" tIns="63500" rIns="63500" bIns="63500" rtlCol="0" anchor="ctr"/>
          <a:lstStyle/>
          <a:p>
            <a:pPr marL="0" indent="0">
              <a:buNone/>
            </a:pPr>
            <a:r>
              <a:rPr lang="en-US" sz="1400" dirty="0">
                <a:solidFill>
                  <a:srgbClr val="1A1A1A"/>
                </a:solidFill>
                <a:latin typeface="Times New Roman" pitchFamily="34" charset="0"/>
                <a:ea typeface="Times New Roman" pitchFamily="34" charset="-122"/>
                <a:cs typeface="Times New Roman" pitchFamily="34" charset="-120"/>
              </a:rPr>
              <a:t>Mitigation strategies</a:t>
            </a:r>
            <a:endParaRPr lang="en-US" sz="1400" dirty="0"/>
          </a:p>
        </p:txBody>
      </p:sp>
      <p:sp>
        <p:nvSpPr>
          <p:cNvPr id="39" name="Shape 36"/>
          <p:cNvSpPr/>
          <p:nvPr/>
        </p:nvSpPr>
        <p:spPr>
          <a:xfrm>
            <a:off x="9418320" y="5148072"/>
            <a:ext cx="2121408" cy="219456"/>
          </a:xfrm>
          <a:prstGeom prst="rect">
            <a:avLst/>
          </a:prstGeom>
          <a:solidFill>
            <a:srgbClr val="128C8C"/>
          </a:solidFill>
          <a:ln w="12700">
            <a:solidFill>
              <a:srgbClr val="128C8C"/>
            </a:solidFill>
            <a:prstDash val="solid"/>
          </a:ln>
        </p:spPr>
      </p:sp>
      <p:sp>
        <p:nvSpPr>
          <p:cNvPr id="40" name="Shape 37"/>
          <p:cNvSpPr/>
          <p:nvPr/>
        </p:nvSpPr>
        <p:spPr>
          <a:xfrm>
            <a:off x="329184" y="5440680"/>
            <a:ext cx="11247120" cy="365760"/>
          </a:xfrm>
          <a:prstGeom prst="rect">
            <a:avLst/>
          </a:prstGeom>
          <a:solidFill>
            <a:srgbClr val="FFFFFF"/>
          </a:solidFill>
          <a:ln w="6350">
            <a:solidFill>
              <a:srgbClr val="DCE4F5"/>
            </a:solidFill>
            <a:prstDash val="solid"/>
          </a:ln>
        </p:spPr>
      </p:sp>
      <p:sp>
        <p:nvSpPr>
          <p:cNvPr id="41" name="Text 38"/>
          <p:cNvSpPr txBox="1"/>
          <p:nvPr/>
        </p:nvSpPr>
        <p:spPr>
          <a:xfrm>
            <a:off x="365760" y="5440680"/>
            <a:ext cx="3474720" cy="365760"/>
          </a:xfrm>
          <a:prstGeom prst="rect">
            <a:avLst/>
          </a:prstGeom>
          <a:noFill/>
          <a:ln/>
        </p:spPr>
        <p:txBody>
          <a:bodyPr wrap="square" lIns="63500" tIns="63500" rIns="63500" bIns="63500" rtlCol="0" anchor="ctr"/>
          <a:lstStyle/>
          <a:p>
            <a:pPr marL="0" indent="0">
              <a:buNone/>
            </a:pPr>
            <a:r>
              <a:rPr lang="en-US" sz="1400" dirty="0">
                <a:solidFill>
                  <a:srgbClr val="1A1A1A"/>
                </a:solidFill>
                <a:latin typeface="Times New Roman" pitchFamily="34" charset="0"/>
                <a:ea typeface="Times New Roman" pitchFamily="34" charset="-122"/>
                <a:cs typeface="Times New Roman" pitchFamily="34" charset="-120"/>
              </a:rPr>
              <a:t>Full experiments</a:t>
            </a:r>
            <a:endParaRPr lang="en-US" sz="1400" dirty="0"/>
          </a:p>
        </p:txBody>
      </p:sp>
      <p:sp>
        <p:nvSpPr>
          <p:cNvPr id="42" name="Shape 39"/>
          <p:cNvSpPr/>
          <p:nvPr/>
        </p:nvSpPr>
        <p:spPr>
          <a:xfrm>
            <a:off x="10515600" y="5513832"/>
            <a:ext cx="1024128" cy="219456"/>
          </a:xfrm>
          <a:prstGeom prst="rect">
            <a:avLst/>
          </a:prstGeom>
          <a:solidFill>
            <a:srgbClr val="E08A00"/>
          </a:solidFill>
          <a:ln w="12700">
            <a:solidFill>
              <a:srgbClr val="E08A00"/>
            </a:solidFill>
            <a:prstDash val="solid"/>
          </a:ln>
        </p:spPr>
      </p:sp>
      <p:sp>
        <p:nvSpPr>
          <p:cNvPr id="43" name="Shape 40"/>
          <p:cNvSpPr/>
          <p:nvPr/>
        </p:nvSpPr>
        <p:spPr>
          <a:xfrm>
            <a:off x="329184" y="5806440"/>
            <a:ext cx="11247120" cy="365760"/>
          </a:xfrm>
          <a:prstGeom prst="rect">
            <a:avLst/>
          </a:prstGeom>
          <a:solidFill>
            <a:srgbClr val="EEF3FC"/>
          </a:solidFill>
          <a:ln w="6350">
            <a:solidFill>
              <a:srgbClr val="DCE4F5"/>
            </a:solidFill>
            <a:prstDash val="solid"/>
          </a:ln>
        </p:spPr>
      </p:sp>
      <p:sp>
        <p:nvSpPr>
          <p:cNvPr id="44" name="Text 41"/>
          <p:cNvSpPr txBox="1"/>
          <p:nvPr/>
        </p:nvSpPr>
        <p:spPr>
          <a:xfrm>
            <a:off x="365760" y="5806440"/>
            <a:ext cx="3474720" cy="365760"/>
          </a:xfrm>
          <a:prstGeom prst="rect">
            <a:avLst/>
          </a:prstGeom>
          <a:noFill/>
          <a:ln/>
        </p:spPr>
        <p:txBody>
          <a:bodyPr wrap="square" lIns="63500" tIns="63500" rIns="63500" bIns="63500" rtlCol="0" anchor="ctr"/>
          <a:lstStyle/>
          <a:p>
            <a:pPr marL="0" indent="0">
              <a:buNone/>
            </a:pPr>
            <a:r>
              <a:rPr lang="en-US" sz="1400" dirty="0">
                <a:solidFill>
                  <a:srgbClr val="1A1A1A"/>
                </a:solidFill>
                <a:latin typeface="Times New Roman" pitchFamily="34" charset="0"/>
                <a:ea typeface="Times New Roman" pitchFamily="34" charset="-122"/>
                <a:cs typeface="Times New Roman" pitchFamily="34" charset="-120"/>
              </a:rPr>
              <a:t>Report / publication</a:t>
            </a:r>
            <a:endParaRPr lang="en-US" sz="1400" dirty="0"/>
          </a:p>
        </p:txBody>
      </p:sp>
      <p:sp>
        <p:nvSpPr>
          <p:cNvPr id="45" name="Shape 42"/>
          <p:cNvSpPr/>
          <p:nvPr/>
        </p:nvSpPr>
        <p:spPr>
          <a:xfrm>
            <a:off x="10515600" y="5879592"/>
            <a:ext cx="1024128" cy="219456"/>
          </a:xfrm>
          <a:prstGeom prst="rect">
            <a:avLst/>
          </a:prstGeom>
          <a:solidFill>
            <a:srgbClr val="E08A00"/>
          </a:solidFill>
          <a:ln w="12700">
            <a:solidFill>
              <a:srgbClr val="E08A00"/>
            </a:solidFill>
            <a:prstDash val="solid"/>
          </a:ln>
        </p:spPr>
      </p:sp>
      <p:sp>
        <p:nvSpPr>
          <p:cNvPr id="46" name="Text 43"/>
          <p:cNvSpPr txBox="1"/>
          <p:nvPr/>
        </p:nvSpPr>
        <p:spPr>
          <a:xfrm>
            <a:off x="329184" y="6263640"/>
            <a:ext cx="11530584" cy="320040"/>
          </a:xfrm>
          <a:prstGeom prst="rect">
            <a:avLst/>
          </a:prstGeom>
          <a:noFill/>
          <a:ln/>
        </p:spPr>
        <p:txBody>
          <a:bodyPr wrap="square" lIns="63500" tIns="63500" rIns="63500" bIns="63500" rtlCol="0" anchor="t"/>
          <a:lstStyle/>
          <a:p>
            <a:pPr marL="0" indent="0">
              <a:buNone/>
            </a:pPr>
            <a:r>
              <a:rPr lang="en-US" sz="1200" i="1" dirty="0">
                <a:solidFill>
                  <a:srgbClr val="555555"/>
                </a:solidFill>
                <a:latin typeface="Times New Roman" pitchFamily="34" charset="0"/>
                <a:ea typeface="Times New Roman" pitchFamily="34" charset="-122"/>
                <a:cs typeface="Times New Roman" pitchFamily="34" charset="-120"/>
              </a:rPr>
              <a:t>Blue = Capstone-I (foundation)   |   Teal = Capstone-II (core novelty)   |   Orange = Capstone-III (evaluation and paper)</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3017520" y="1005840"/>
            <a:ext cx="7644384" cy="502920"/>
          </a:xfrm>
          <a:prstGeom prst="rect">
            <a:avLst/>
          </a:prstGeom>
          <a:noFill/>
          <a:ln/>
        </p:spPr>
        <p:txBody>
          <a:bodyPr wrap="square" lIns="0" tIns="0" rIns="0" bIns="0" rtlCol="0" anchor="b"/>
          <a:lstStyle/>
          <a:p>
            <a:pPr marL="0" indent="0" algn="r">
              <a:buNone/>
            </a:pPr>
            <a:r>
              <a:rPr lang="en-US" sz="2400" dirty="0">
                <a:solidFill>
                  <a:srgbClr val="D40000"/>
                </a:solidFill>
                <a:latin typeface="Times New Roman" pitchFamily="34" charset="0"/>
                <a:ea typeface="Times New Roman" pitchFamily="34" charset="-122"/>
                <a:cs typeface="Times New Roman" pitchFamily="34" charset="-120"/>
              </a:rPr>
              <a:t>Any Other Information: Data and Evaluation</a:t>
            </a:r>
            <a:endParaRPr lang="en-US" sz="24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329184" y="1783080"/>
          <a:ext cx="11521440" cy="2468880"/>
        </p:xfrm>
        <a:graphic>
          <a:graphicData uri="http://schemas.openxmlformats.org/drawingml/2006/table">
            <a:tbl>
              <a:tblPr/>
              <a:tblGrid>
                <a:gridCol w="310896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tblGrid>
              <a:tr h="411480">
                <a:tc>
                  <a:txBody>
                    <a:bodyPr/>
                    <a:lstStyle/>
                    <a:p>
                      <a:pPr marL="0" indent="0">
                        <a:buNone/>
                      </a:pPr>
                      <a:r>
                        <a:rPr lang="en-US" sz="1500" b="1" dirty="0">
                          <a:solidFill>
                            <a:srgbClr val="FFFFFF"/>
                          </a:solidFill>
                          <a:latin typeface="Times New Roman" pitchFamily="34" charset="0"/>
                          <a:ea typeface="Times New Roman" pitchFamily="34" charset="-122"/>
                          <a:cs typeface="Times New Roman" pitchFamily="34" charset="-120"/>
                        </a:rPr>
                        <a:t>Dataset</a:t>
                      </a:r>
                      <a:endParaRPr lang="en-US" sz="15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0033CC"/>
                    </a:solidFill>
                  </a:tcPr>
                </a:tc>
                <a:tc>
                  <a:txBody>
                    <a:bodyPr/>
                    <a:lstStyle/>
                    <a:p>
                      <a:pPr marL="0" indent="0">
                        <a:buNone/>
                      </a:pPr>
                      <a:r>
                        <a:rPr lang="en-US" sz="1500" b="1" dirty="0">
                          <a:solidFill>
                            <a:srgbClr val="FFFFFF"/>
                          </a:solidFill>
                          <a:latin typeface="Times New Roman" pitchFamily="34" charset="0"/>
                          <a:ea typeface="Times New Roman" pitchFamily="34" charset="-122"/>
                          <a:cs typeface="Times New Roman" pitchFamily="34" charset="-120"/>
                        </a:rPr>
                        <a:t>What it provides</a:t>
                      </a:r>
                      <a:endParaRPr lang="en-US" sz="15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0033CC"/>
                    </a:solidFill>
                  </a:tcPr>
                </a:tc>
                <a:tc>
                  <a:txBody>
                    <a:bodyPr/>
                    <a:lstStyle/>
                    <a:p>
                      <a:pPr marL="0" indent="0">
                        <a:buNone/>
                      </a:pPr>
                      <a:r>
                        <a:rPr lang="en-US" sz="1500" b="1" dirty="0">
                          <a:solidFill>
                            <a:srgbClr val="FFFFFF"/>
                          </a:solidFill>
                          <a:latin typeface="Times New Roman" pitchFamily="34" charset="0"/>
                          <a:ea typeface="Times New Roman" pitchFamily="34" charset="-122"/>
                          <a:cs typeface="Times New Roman" pitchFamily="34" charset="-120"/>
                        </a:rPr>
                        <a:t>Used for</a:t>
                      </a:r>
                      <a:endParaRPr lang="en-US" sz="15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0033CC"/>
                    </a:solidFill>
                  </a:tcPr>
                </a:tc>
                <a:extLst>
                  <a:ext uri="{0D108BD9-81ED-4DB2-BD59-A6C34878D82A}">
                    <a16:rowId xmlns:a16="http://schemas.microsoft.com/office/drawing/2014/main" val="10000"/>
                  </a:ext>
                </a:extLst>
              </a:tr>
              <a:tr h="868680">
                <a:tc>
                  <a:txBody>
                    <a:bodyPr/>
                    <a:lstStyle/>
                    <a:p>
                      <a:pPr marL="0" indent="0">
                        <a:buNone/>
                      </a:pPr>
                      <a:r>
                        <a:rPr lang="en-US" sz="1400" b="1" dirty="0">
                          <a:solidFill>
                            <a:srgbClr val="0033CC"/>
                          </a:solidFill>
                          <a:latin typeface="Times New Roman" pitchFamily="34" charset="0"/>
                          <a:ea typeface="Times New Roman" pitchFamily="34" charset="-122"/>
                          <a:cs typeface="Times New Roman" pitchFamily="34" charset="-120"/>
                        </a:rPr>
                        <a:t>PhysioNet/CinC 2019 (primary)</a:t>
                      </a:r>
                      <a:endParaRPr lang="en-US" sz="14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tc>
                  <a:txBody>
                    <a:bodyPr/>
                    <a:lstStyle/>
                    <a:p>
                      <a:pPr marL="0" indent="0">
                        <a:buNone/>
                      </a:pPr>
                      <a:r>
                        <a:rPr lang="en-US" sz="1400" dirty="0">
                          <a:solidFill>
                            <a:srgbClr val="1A1A1A"/>
                          </a:solidFill>
                          <a:latin typeface="Times New Roman" pitchFamily="34" charset="0"/>
                          <a:ea typeface="Times New Roman" pitchFamily="34" charset="-122"/>
                          <a:cs typeface="Times New Roman" pitchFamily="34" charset="-120"/>
                        </a:rPr>
                        <a:t>40,336 adult ICU patients, 2 US hospitals; 40 variables, hourly, Sepsis-3 labels; labs 85–95% missing</a:t>
                      </a:r>
                      <a:endParaRPr lang="en-US" sz="14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tc>
                  <a:txBody>
                    <a:bodyPr/>
                    <a:lstStyle/>
                    <a:p>
                      <a:pPr marL="0" indent="0">
                        <a:buNone/>
                      </a:pPr>
                      <a:r>
                        <a:rPr lang="en-US" sz="1400" dirty="0">
                          <a:solidFill>
                            <a:srgbClr val="1A1A1A"/>
                          </a:solidFill>
                          <a:latin typeface="Times New Roman" pitchFamily="34" charset="0"/>
                          <a:ea typeface="Times New Roman" pitchFamily="34" charset="-122"/>
                          <a:cs typeface="Times New Roman" pitchFamily="34" charset="-120"/>
                        </a:rPr>
                        <a:t>Training, model comparison, reliability analysis</a:t>
                      </a:r>
                      <a:endParaRPr lang="en-US" sz="14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400" b="1" dirty="0">
                          <a:solidFill>
                            <a:srgbClr val="0033CC"/>
                          </a:solidFill>
                          <a:latin typeface="Times New Roman" pitchFamily="34" charset="0"/>
                          <a:ea typeface="Times New Roman" pitchFamily="34" charset="-122"/>
                          <a:cs typeface="Times New Roman" pitchFamily="34" charset="-120"/>
                        </a:rPr>
                        <a:t>MIMIC-IV (if feasible)</a:t>
                      </a:r>
                      <a:endParaRPr lang="en-US" sz="14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EEF3FC"/>
                    </a:solidFill>
                  </a:tcPr>
                </a:tc>
                <a:tc>
                  <a:txBody>
                    <a:bodyPr/>
                    <a:lstStyle/>
                    <a:p>
                      <a:pPr marL="0" indent="0">
                        <a:buNone/>
                      </a:pPr>
                      <a:r>
                        <a:rPr lang="en-US" sz="1400" dirty="0">
                          <a:solidFill>
                            <a:srgbClr val="1A1A1A"/>
                          </a:solidFill>
                          <a:latin typeface="Times New Roman" pitchFamily="34" charset="0"/>
                          <a:ea typeface="Times New Roman" pitchFamily="34" charset="-122"/>
                          <a:cs typeface="Times New Roman" pitchFamily="34" charset="-120"/>
                        </a:rPr>
                        <a:t>76,307 ICU patients</a:t>
                      </a:r>
                      <a:endParaRPr lang="en-US" sz="14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EEF3FC"/>
                    </a:solidFill>
                  </a:tcPr>
                </a:tc>
                <a:tc>
                  <a:txBody>
                    <a:bodyPr/>
                    <a:lstStyle/>
                    <a:p>
                      <a:pPr marL="0" indent="0">
                        <a:buNone/>
                      </a:pPr>
                      <a:r>
                        <a:rPr lang="en-US" sz="1400" dirty="0">
                          <a:solidFill>
                            <a:srgbClr val="1A1A1A"/>
                          </a:solidFill>
                          <a:latin typeface="Times New Roman" pitchFamily="34" charset="0"/>
                          <a:ea typeface="Times New Roman" pitchFamily="34" charset="-122"/>
                          <a:cs typeface="Times New Roman" pitchFamily="34" charset="-120"/>
                        </a:rPr>
                        <a:t>External validation</a:t>
                      </a:r>
                      <a:endParaRPr lang="en-US" sz="14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EEF3FC"/>
                    </a:solidFill>
                  </a:tcPr>
                </a:tc>
                <a:extLst>
                  <a:ext uri="{0D108BD9-81ED-4DB2-BD59-A6C34878D82A}">
                    <a16:rowId xmlns:a16="http://schemas.microsoft.com/office/drawing/2014/main" val="10002"/>
                  </a:ext>
                </a:extLst>
              </a:tr>
              <a:tr h="731520">
                <a:tc>
                  <a:txBody>
                    <a:bodyPr/>
                    <a:lstStyle/>
                    <a:p>
                      <a:pPr marL="0" indent="0">
                        <a:buNone/>
                      </a:pPr>
                      <a:r>
                        <a:rPr lang="en-US" sz="1400" b="1" dirty="0">
                          <a:solidFill>
                            <a:srgbClr val="0033CC"/>
                          </a:solidFill>
                          <a:latin typeface="Times New Roman" pitchFamily="34" charset="0"/>
                          <a:ea typeface="Times New Roman" pitchFamily="34" charset="-122"/>
                          <a:cs typeface="Times New Roman" pitchFamily="34" charset="-120"/>
                        </a:rPr>
                        <a:t>Reliability annotations (ours)</a:t>
                      </a:r>
                      <a:endParaRPr lang="en-US" sz="14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tc>
                  <a:txBody>
                    <a:bodyPr/>
                    <a:lstStyle/>
                    <a:p>
                      <a:pPr marL="0" indent="0">
                        <a:buNone/>
                      </a:pPr>
                      <a:r>
                        <a:rPr lang="en-US" sz="1400" dirty="0">
                          <a:solidFill>
                            <a:srgbClr val="1A1A1A"/>
                          </a:solidFill>
                          <a:latin typeface="Times New Roman" pitchFamily="34" charset="0"/>
                          <a:ea typeface="Times New Roman" pitchFamily="34" charset="-122"/>
                          <a:cs typeface="Times New Roman" pitchFamily="34" charset="-120"/>
                        </a:rPr>
                        <a:t>Stability, faithfulness, robustness scores and failure labels per model-explainer pair</a:t>
                      </a:r>
                      <a:endParaRPr lang="en-US" sz="14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tc>
                  <a:txBody>
                    <a:bodyPr/>
                    <a:lstStyle/>
                    <a:p>
                      <a:pPr marL="0" indent="0">
                        <a:buNone/>
                      </a:pPr>
                      <a:r>
                        <a:rPr lang="en-US" sz="1400" dirty="0">
                          <a:solidFill>
                            <a:srgbClr val="1A1A1A"/>
                          </a:solidFill>
                          <a:latin typeface="Times New Roman" pitchFamily="34" charset="0"/>
                          <a:ea typeface="Times New Roman" pitchFamily="34" charset="-122"/>
                          <a:cs typeface="Times New Roman" pitchFamily="34" charset="-120"/>
                        </a:rPr>
                        <a:t>Studying SHAP failures; training the detector</a:t>
                      </a:r>
                      <a:endParaRPr lang="en-US" sz="14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5" name="Shape 1"/>
          <p:cNvSpPr/>
          <p:nvPr/>
        </p:nvSpPr>
        <p:spPr>
          <a:xfrm>
            <a:off x="329184" y="4480560"/>
            <a:ext cx="3721608" cy="1965960"/>
          </a:xfrm>
          <a:prstGeom prst="roundRect">
            <a:avLst>
              <a:gd name="adj" fmla="val 4651"/>
            </a:avLst>
          </a:prstGeom>
          <a:solidFill>
            <a:srgbClr val="FFFFFF"/>
          </a:solidFill>
          <a:ln w="15875">
            <a:solidFill>
              <a:srgbClr val="0033CC"/>
            </a:solidFill>
            <a:prstDash val="solid"/>
          </a:ln>
        </p:spPr>
      </p:sp>
      <p:sp>
        <p:nvSpPr>
          <p:cNvPr id="6" name="Text 2"/>
          <p:cNvSpPr txBox="1"/>
          <p:nvPr/>
        </p:nvSpPr>
        <p:spPr>
          <a:xfrm>
            <a:off x="466344" y="4553712"/>
            <a:ext cx="3447288" cy="1828800"/>
          </a:xfrm>
          <a:prstGeom prst="rect">
            <a:avLst/>
          </a:prstGeom>
          <a:noFill/>
          <a:ln/>
        </p:spPr>
        <p:txBody>
          <a:bodyPr wrap="square" lIns="63500" tIns="63500" rIns="63500" bIns="63500" rtlCol="0" anchor="t"/>
          <a:lstStyle/>
          <a:p>
            <a:pPr marL="0" indent="0">
              <a:buNone/>
            </a:pPr>
            <a:r>
              <a:rPr lang="en-US" sz="1900" b="1" dirty="0">
                <a:solidFill>
                  <a:srgbClr val="0033CC"/>
                </a:solidFill>
                <a:latin typeface="Times New Roman" pitchFamily="34" charset="0"/>
                <a:ea typeface="Times New Roman" pitchFamily="34" charset="-122"/>
                <a:cs typeface="Times New Roman" pitchFamily="34" charset="-120"/>
              </a:rPr>
              <a:t>Prediction</a:t>
            </a:r>
            <a:endParaRPr lang="en-US" sz="1600" dirty="0"/>
          </a:p>
          <a:p>
            <a:pPr marL="0" indent="0">
              <a:buNone/>
            </a:pPr>
            <a:r>
              <a:rPr lang="en-US" sz="1600" dirty="0">
                <a:solidFill>
                  <a:srgbClr val="1A1A1A"/>
                </a:solidFill>
                <a:latin typeface="Times New Roman" pitchFamily="34" charset="0"/>
                <a:ea typeface="Times New Roman" pitchFamily="34" charset="-122"/>
                <a:cs typeface="Times New Roman" pitchFamily="34" charset="-120"/>
              </a:rPr>
              <a:t>AUROC, AUPRC, sensitivity, specificity, calibration</a:t>
            </a:r>
            <a:endParaRPr lang="en-US" sz="1600" dirty="0"/>
          </a:p>
        </p:txBody>
      </p:sp>
      <p:sp>
        <p:nvSpPr>
          <p:cNvPr id="7" name="Shape 3"/>
          <p:cNvSpPr/>
          <p:nvPr/>
        </p:nvSpPr>
        <p:spPr>
          <a:xfrm>
            <a:off x="4242816" y="4480560"/>
            <a:ext cx="3721608" cy="1965960"/>
          </a:xfrm>
          <a:prstGeom prst="roundRect">
            <a:avLst>
              <a:gd name="adj" fmla="val 4651"/>
            </a:avLst>
          </a:prstGeom>
          <a:solidFill>
            <a:srgbClr val="FFFFFF"/>
          </a:solidFill>
          <a:ln w="15875">
            <a:solidFill>
              <a:srgbClr val="128C8C"/>
            </a:solidFill>
            <a:prstDash val="solid"/>
          </a:ln>
        </p:spPr>
      </p:sp>
      <p:sp>
        <p:nvSpPr>
          <p:cNvPr id="8" name="Text 4"/>
          <p:cNvSpPr txBox="1"/>
          <p:nvPr/>
        </p:nvSpPr>
        <p:spPr>
          <a:xfrm>
            <a:off x="4379976" y="4553712"/>
            <a:ext cx="3447288" cy="1828800"/>
          </a:xfrm>
          <a:prstGeom prst="rect">
            <a:avLst/>
          </a:prstGeom>
          <a:noFill/>
          <a:ln/>
        </p:spPr>
        <p:txBody>
          <a:bodyPr wrap="square" lIns="63500" tIns="63500" rIns="63500" bIns="63500" rtlCol="0" anchor="t"/>
          <a:lstStyle/>
          <a:p>
            <a:pPr marL="0" indent="0">
              <a:buNone/>
            </a:pPr>
            <a:r>
              <a:rPr lang="en-US" sz="1900" b="1" dirty="0">
                <a:solidFill>
                  <a:srgbClr val="128C8C"/>
                </a:solidFill>
                <a:latin typeface="Times New Roman" pitchFamily="34" charset="0"/>
                <a:ea typeface="Times New Roman" pitchFamily="34" charset="-122"/>
                <a:cs typeface="Times New Roman" pitchFamily="34" charset="-120"/>
              </a:rPr>
              <a:t>Reliability detection</a:t>
            </a:r>
            <a:endParaRPr lang="en-US" sz="1600" dirty="0"/>
          </a:p>
          <a:p>
            <a:pPr marL="0" indent="0">
              <a:buNone/>
            </a:pPr>
            <a:r>
              <a:rPr lang="en-US" sz="1600" dirty="0">
                <a:solidFill>
                  <a:srgbClr val="1A1A1A"/>
                </a:solidFill>
                <a:latin typeface="Times New Roman" pitchFamily="34" charset="0"/>
                <a:ea typeface="Times New Roman" pitchFamily="34" charset="-122"/>
                <a:cs typeface="Times New Roman" pitchFamily="34" charset="-120"/>
              </a:rPr>
              <a:t>Precision, recall, F1, AUROC for failure detection</a:t>
            </a:r>
            <a:endParaRPr lang="en-US" sz="1600" dirty="0"/>
          </a:p>
        </p:txBody>
      </p:sp>
      <p:sp>
        <p:nvSpPr>
          <p:cNvPr id="9" name="Shape 5"/>
          <p:cNvSpPr/>
          <p:nvPr/>
        </p:nvSpPr>
        <p:spPr>
          <a:xfrm>
            <a:off x="8147304" y="4480560"/>
            <a:ext cx="3721608" cy="1965960"/>
          </a:xfrm>
          <a:prstGeom prst="roundRect">
            <a:avLst>
              <a:gd name="adj" fmla="val 4651"/>
            </a:avLst>
          </a:prstGeom>
          <a:solidFill>
            <a:srgbClr val="FFFFFF"/>
          </a:solidFill>
          <a:ln w="15875">
            <a:solidFill>
              <a:srgbClr val="E08A00"/>
            </a:solidFill>
            <a:prstDash val="solid"/>
          </a:ln>
        </p:spPr>
      </p:sp>
      <p:sp>
        <p:nvSpPr>
          <p:cNvPr id="10" name="Text 6"/>
          <p:cNvSpPr txBox="1"/>
          <p:nvPr/>
        </p:nvSpPr>
        <p:spPr>
          <a:xfrm>
            <a:off x="8284464" y="4553712"/>
            <a:ext cx="3447288" cy="1828800"/>
          </a:xfrm>
          <a:prstGeom prst="rect">
            <a:avLst/>
          </a:prstGeom>
          <a:noFill/>
          <a:ln/>
        </p:spPr>
        <p:txBody>
          <a:bodyPr wrap="square" lIns="63500" tIns="63500" rIns="63500" bIns="63500" rtlCol="0" anchor="t"/>
          <a:lstStyle/>
          <a:p>
            <a:pPr marL="0" indent="0">
              <a:buNone/>
            </a:pPr>
            <a:r>
              <a:rPr lang="en-US" sz="1900" b="1" dirty="0">
                <a:solidFill>
                  <a:srgbClr val="E08A00"/>
                </a:solidFill>
                <a:latin typeface="Times New Roman" pitchFamily="34" charset="0"/>
                <a:ea typeface="Times New Roman" pitchFamily="34" charset="-122"/>
                <a:cs typeface="Times New Roman" pitchFamily="34" charset="-120"/>
              </a:rPr>
              <a:t>Protocol</a:t>
            </a:r>
            <a:endParaRPr lang="en-US" sz="1600" dirty="0"/>
          </a:p>
          <a:p>
            <a:pPr marL="0" indent="0">
              <a:buNone/>
            </a:pPr>
            <a:r>
              <a:rPr lang="en-US" sz="1600" dirty="0">
                <a:solidFill>
                  <a:srgbClr val="1A1A1A"/>
                </a:solidFill>
                <a:latin typeface="Times New Roman" pitchFamily="34" charset="0"/>
                <a:ea typeface="Times New Roman" pitchFamily="34" charset="-122"/>
                <a:cs typeface="Times New Roman" pitchFamily="34" charset="-120"/>
              </a:rPr>
              <a:t>Patient-level splits, training-only preprocessing, no future-data leakage</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Shape 0"/>
          <p:cNvSpPr/>
          <p:nvPr/>
        </p:nvSpPr>
        <p:spPr>
          <a:xfrm>
            <a:off x="5167884" y="1005840"/>
            <a:ext cx="1856232" cy="960120"/>
          </a:xfrm>
          <a:prstGeom prst="roundRect">
            <a:avLst>
              <a:gd name="adj" fmla="val 9524"/>
            </a:avLst>
          </a:prstGeom>
          <a:solidFill>
            <a:srgbClr val="FFFFFF"/>
          </a:solidFill>
          <a:ln w="12700">
            <a:solidFill>
              <a:srgbClr val="FFFFFF"/>
            </a:solidFill>
            <a:prstDash val="solid"/>
          </a:ln>
        </p:spPr>
      </p:sp>
      <p:pic>
        <p:nvPicPr>
          <p:cNvPr id="4" name="Image 0" descr="/home/claude/ref/ppt/media/image1.png"/>
          <p:cNvPicPr>
            <a:picLocks noChangeAspect="1"/>
          </p:cNvPicPr>
          <p:nvPr/>
        </p:nvPicPr>
        <p:blipFill>
          <a:blip r:embed="rId3"/>
          <a:stretch>
            <a:fillRect/>
          </a:stretch>
        </p:blipFill>
        <p:spPr>
          <a:xfrm>
            <a:off x="4811454" y="1197864"/>
            <a:ext cx="1673352" cy="859536"/>
          </a:xfrm>
          <a:prstGeom prst="rect">
            <a:avLst/>
          </a:prstGeom>
        </p:spPr>
      </p:pic>
      <p:sp>
        <p:nvSpPr>
          <p:cNvPr id="5" name="Text 1"/>
          <p:cNvSpPr txBox="1"/>
          <p:nvPr/>
        </p:nvSpPr>
        <p:spPr>
          <a:xfrm>
            <a:off x="1373124" y="2377440"/>
            <a:ext cx="9445752" cy="1097280"/>
          </a:xfrm>
          <a:prstGeom prst="rect">
            <a:avLst/>
          </a:prstGeom>
          <a:noFill/>
          <a:ln/>
        </p:spPr>
        <p:txBody>
          <a:bodyPr wrap="square" lIns="63500" tIns="63500" rIns="63500" bIns="63500" rtlCol="0" anchor="ctr"/>
          <a:lstStyle/>
          <a:p>
            <a:pPr marL="0" indent="0" algn="ctr">
              <a:buNone/>
            </a:pPr>
            <a:r>
              <a:rPr lang="en-US" sz="5400" b="1" dirty="0">
                <a:solidFill>
                  <a:srgbClr val="3A53A0"/>
                </a:solidFill>
                <a:latin typeface="Times New Roman" pitchFamily="34" charset="0"/>
                <a:ea typeface="Times New Roman" pitchFamily="34" charset="-122"/>
                <a:cs typeface="Times New Roman" pitchFamily="34" charset="-120"/>
              </a:rPr>
              <a:t>Thank You</a:t>
            </a:r>
            <a:endParaRPr lang="en-US" sz="5400" dirty="0">
              <a:solidFill>
                <a:srgbClr val="3A53A0"/>
              </a:solidFill>
            </a:endParaRPr>
          </a:p>
        </p:txBody>
      </p:sp>
      <p:sp>
        <p:nvSpPr>
          <p:cNvPr id="6" name="Text 2"/>
          <p:cNvSpPr txBox="1"/>
          <p:nvPr/>
        </p:nvSpPr>
        <p:spPr>
          <a:xfrm>
            <a:off x="1738884" y="3657600"/>
            <a:ext cx="8714232" cy="914400"/>
          </a:xfrm>
          <a:prstGeom prst="rect">
            <a:avLst/>
          </a:prstGeom>
          <a:noFill/>
          <a:ln/>
        </p:spPr>
        <p:txBody>
          <a:bodyPr wrap="square" lIns="63500" tIns="63500" rIns="63500" bIns="63500" rtlCol="0" anchor="t"/>
          <a:lstStyle/>
          <a:p>
            <a:pPr marL="0" indent="0" algn="ctr">
              <a:buNone/>
            </a:pPr>
            <a:r>
              <a:rPr lang="en-US" sz="2200" i="1" dirty="0">
                <a:solidFill>
                  <a:srgbClr val="3A53A0"/>
                </a:solidFill>
                <a:latin typeface="Times New Roman" pitchFamily="34" charset="0"/>
                <a:ea typeface="Times New Roman" pitchFamily="34" charset="-122"/>
                <a:cs typeface="Times New Roman" pitchFamily="34" charset="-120"/>
              </a:rPr>
              <a:t>Predict sepsis early, check whether the explanation can be trusted, and say so when it cannot.</a:t>
            </a:r>
            <a:endParaRPr lang="en-US" sz="2200" dirty="0">
              <a:solidFill>
                <a:srgbClr val="3A53A0"/>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Times New Roman"/>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imes New Roman"/>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34</TotalTime>
  <Words>2033</Words>
  <Application>Microsoft Office PowerPoint</Application>
  <PresentationFormat>Widescreen</PresentationFormat>
  <Paragraphs>269</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Times New Roman</vt:lpstr>
      <vt:lpstr>Office Theme</vt:lpstr>
      <vt:lpstr>PowerPoint Presentation</vt:lpstr>
      <vt:lpstr>Outline</vt:lpstr>
      <vt:lpstr>Problem Statement</vt:lpstr>
      <vt:lpstr>Scope and Feasibility Study</vt:lpstr>
      <vt:lpstr>Background</vt:lpstr>
      <vt:lpstr>Background Work</vt:lpstr>
      <vt:lpstr>Proposed Approach</vt:lpstr>
      <vt:lpstr>Reliability Layer: Detect</vt:lpstr>
      <vt:lpstr>Diagnose, Mitigate and Abstain</vt:lpstr>
      <vt:lpstr>Applications / Use Cases</vt:lpstr>
      <vt:lpstr>Expected Deliverables</vt:lpstr>
      <vt:lpstr>Capstone Project Timeline</vt:lpstr>
      <vt:lpstr>Any Other Information: Data and Evaluation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Early Sepsis Prediction - Capstone Project Approval</dc:title>
  <dc:subject>PptxGenJS Presentation</dc:subject>
  <dc:creator>PptxGenJS</dc:creator>
  <cp:lastModifiedBy>Ibrahim Khaleel</cp:lastModifiedBy>
  <cp:revision>3</cp:revision>
  <dcterms:created xsi:type="dcterms:W3CDTF">2026-10-13T09:00:00Z</dcterms:created>
  <dcterms:modified xsi:type="dcterms:W3CDTF">2026-10-13T09:46:41Z</dcterms:modified>
</cp:coreProperties>
</file>