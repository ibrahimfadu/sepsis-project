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57" r:id="rId1"/>
  </p:sldMasterIdLst>
  <p:notesMasterIdLst>
    <p:notesMasterId r:id="rId17"/>
  </p:notesMasterIdLst>
  <p:handoutMasterIdLst>
    <p:handoutMasterId r:id="rId18"/>
  </p:handoutMasterIdLst>
  <p:sldIdLst>
    <p:sldId id="538" r:id="rId2"/>
    <p:sldId id="535" r:id="rId3"/>
    <p:sldId id="569" r:id="rId4"/>
    <p:sldId id="568" r:id="rId5"/>
    <p:sldId id="573" r:id="rId6"/>
    <p:sldId id="574" r:id="rId7"/>
    <p:sldId id="575" r:id="rId8"/>
    <p:sldId id="576" r:id="rId9"/>
    <p:sldId id="571" r:id="rId10"/>
    <p:sldId id="570" r:id="rId11"/>
    <p:sldId id="572" r:id="rId12"/>
    <p:sldId id="577" r:id="rId13"/>
    <p:sldId id="545" r:id="rId14"/>
    <p:sldId id="578" r:id="rId15"/>
    <p:sldId id="549" r:id="rId16"/>
  </p:sldIdLst>
  <p:sldSz cx="12192000" cy="6858000"/>
  <p:notesSz cx="7010400" cy="9296400"/>
  <p:defaultTextStyle>
    <a:defPPr>
      <a:defRPr lang="en-US"/>
    </a:defPPr>
    <a:lvl1pPr algn="l" rtl="0" fontAlgn="base">
      <a:spcBef>
        <a:spcPct val="0"/>
      </a:spcBef>
      <a:spcAft>
        <a:spcPct val="0"/>
      </a:spcAft>
      <a:defRPr kern="1200">
        <a:solidFill>
          <a:schemeClr val="tx1"/>
        </a:solidFill>
        <a:latin typeface="Times New Roman" charset="0"/>
        <a:ea typeface="+mn-ea"/>
        <a:cs typeface="+mn-cs"/>
      </a:defRPr>
    </a:lvl1pPr>
    <a:lvl2pPr marL="457200" algn="l" rtl="0" fontAlgn="base">
      <a:spcBef>
        <a:spcPct val="0"/>
      </a:spcBef>
      <a:spcAft>
        <a:spcPct val="0"/>
      </a:spcAft>
      <a:defRPr kern="1200">
        <a:solidFill>
          <a:schemeClr val="tx1"/>
        </a:solidFill>
        <a:latin typeface="Times New Roman" charset="0"/>
        <a:ea typeface="+mn-ea"/>
        <a:cs typeface="+mn-cs"/>
      </a:defRPr>
    </a:lvl2pPr>
    <a:lvl3pPr marL="914400" algn="l" rtl="0" fontAlgn="base">
      <a:spcBef>
        <a:spcPct val="0"/>
      </a:spcBef>
      <a:spcAft>
        <a:spcPct val="0"/>
      </a:spcAft>
      <a:defRPr kern="1200">
        <a:solidFill>
          <a:schemeClr val="tx1"/>
        </a:solidFill>
        <a:latin typeface="Times New Roman" charset="0"/>
        <a:ea typeface="+mn-ea"/>
        <a:cs typeface="+mn-cs"/>
      </a:defRPr>
    </a:lvl3pPr>
    <a:lvl4pPr marL="1371600" algn="l" rtl="0" fontAlgn="base">
      <a:spcBef>
        <a:spcPct val="0"/>
      </a:spcBef>
      <a:spcAft>
        <a:spcPct val="0"/>
      </a:spcAft>
      <a:defRPr kern="1200">
        <a:solidFill>
          <a:schemeClr val="tx1"/>
        </a:solidFill>
        <a:latin typeface="Times New Roman" charset="0"/>
        <a:ea typeface="+mn-ea"/>
        <a:cs typeface="+mn-cs"/>
      </a:defRPr>
    </a:lvl4pPr>
    <a:lvl5pPr marL="1828800" algn="l" rtl="0" fontAlgn="base">
      <a:spcBef>
        <a:spcPct val="0"/>
      </a:spcBef>
      <a:spcAft>
        <a:spcPct val="0"/>
      </a:spcAft>
      <a:defRPr kern="1200">
        <a:solidFill>
          <a:schemeClr val="tx1"/>
        </a:solidFill>
        <a:latin typeface="Times New Roman" charset="0"/>
        <a:ea typeface="+mn-ea"/>
        <a:cs typeface="+mn-cs"/>
      </a:defRPr>
    </a:lvl5pPr>
    <a:lvl6pPr marL="2286000" algn="l" defTabSz="914400" rtl="0" eaLnBrk="1" latinLnBrk="0" hangingPunct="1">
      <a:defRPr kern="1200">
        <a:solidFill>
          <a:schemeClr val="tx1"/>
        </a:solidFill>
        <a:latin typeface="Times New Roman" charset="0"/>
        <a:ea typeface="+mn-ea"/>
        <a:cs typeface="+mn-cs"/>
      </a:defRPr>
    </a:lvl6pPr>
    <a:lvl7pPr marL="2743200" algn="l" defTabSz="914400" rtl="0" eaLnBrk="1" latinLnBrk="0" hangingPunct="1">
      <a:defRPr kern="1200">
        <a:solidFill>
          <a:schemeClr val="tx1"/>
        </a:solidFill>
        <a:latin typeface="Times New Roman" charset="0"/>
        <a:ea typeface="+mn-ea"/>
        <a:cs typeface="+mn-cs"/>
      </a:defRPr>
    </a:lvl7pPr>
    <a:lvl8pPr marL="3200400" algn="l" defTabSz="914400" rtl="0" eaLnBrk="1" latinLnBrk="0" hangingPunct="1">
      <a:defRPr kern="1200">
        <a:solidFill>
          <a:schemeClr val="tx1"/>
        </a:solidFill>
        <a:latin typeface="Times New Roman" charset="0"/>
        <a:ea typeface="+mn-ea"/>
        <a:cs typeface="+mn-cs"/>
      </a:defRPr>
    </a:lvl8pPr>
    <a:lvl9pPr marL="3657600" algn="l" defTabSz="914400" rtl="0" eaLnBrk="1" latinLnBrk="0" hangingPunct="1">
      <a:defRPr kern="1200">
        <a:solidFill>
          <a:schemeClr val="tx1"/>
        </a:solidFill>
        <a:latin typeface="Times New Roman" charset="0"/>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a:srgbClr val="FF0066"/>
    <a:srgbClr val="0000FF"/>
    <a:srgbClr val="33CC33"/>
    <a:srgbClr val="00FFFF"/>
    <a:srgbClr val="6600FF"/>
    <a:srgbClr val="CC66FF"/>
    <a:srgbClr val="62832D"/>
    <a:srgbClr val="0066FF"/>
    <a:srgbClr val="3399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137" autoAdjust="0"/>
    <p:restoredTop sz="86811" autoAdjust="0"/>
  </p:normalViewPr>
  <p:slideViewPr>
    <p:cSldViewPr>
      <p:cViewPr varScale="1">
        <p:scale>
          <a:sx n="82" d="100"/>
          <a:sy n="82" d="100"/>
        </p:scale>
        <p:origin x="710" y="72"/>
      </p:cViewPr>
      <p:guideLst>
        <p:guide orient="horz" pos="2160"/>
        <p:guide pos="3840"/>
      </p:guideLst>
    </p:cSldViewPr>
  </p:slideViewPr>
  <p:notesTextViewPr>
    <p:cViewPr>
      <p:scale>
        <a:sx n="100" d="100"/>
        <a:sy n="100" d="100"/>
      </p:scale>
      <p:origin x="0" y="0"/>
    </p:cViewPr>
  </p:notesTextViewPr>
  <p:sorterViewPr>
    <p:cViewPr>
      <p:scale>
        <a:sx n="90" d="100"/>
        <a:sy n="90" d="100"/>
      </p:scale>
      <p:origin x="0" y="1308"/>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sz="quarter"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26A7C97D-3554-44E0-8E72-665D45387ACC}" type="datetimeFigureOut">
              <a:rPr lang="en-US"/>
              <a:pPr>
                <a:defRPr/>
              </a:pPr>
              <a:t>10/13/2026</a:t>
            </a:fld>
            <a:endParaRPr lang="en-US"/>
          </a:p>
        </p:txBody>
      </p:sp>
      <p:sp>
        <p:nvSpPr>
          <p:cNvPr id="4" name="Footer Placeholder 3"/>
          <p:cNvSpPr>
            <a:spLocks noGrp="1"/>
          </p:cNvSpPr>
          <p:nvPr>
            <p:ph type="ftr" sz="quarter" idx="2"/>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5" name="Slide Number Placeholder 4"/>
          <p:cNvSpPr>
            <a:spLocks noGrp="1"/>
          </p:cNvSpPr>
          <p:nvPr>
            <p:ph type="sldNum" sz="quarter" idx="3"/>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1486DC43-659C-4A17-BDC0-5684401D4FAB}" type="slidenum">
              <a:rPr lang="en-US"/>
              <a:pPr>
                <a:defRPr/>
              </a:pPr>
              <a:t>‹#›</a:t>
            </a:fld>
            <a:endParaRPr 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2" y="0"/>
            <a:ext cx="3038648" cy="465138"/>
          </a:xfrm>
          <a:prstGeom prst="rect">
            <a:avLst/>
          </a:prstGeom>
        </p:spPr>
        <p:txBody>
          <a:bodyPr vert="horz" lIns="91440" tIns="45720" rIns="91440" bIns="45720" rtlCol="0"/>
          <a:lstStyle>
            <a:lvl1pPr algn="l">
              <a:defRPr sz="1200"/>
            </a:lvl1pPr>
          </a:lstStyle>
          <a:p>
            <a:pPr>
              <a:defRPr/>
            </a:pPr>
            <a:endParaRPr lang="en-US"/>
          </a:p>
        </p:txBody>
      </p:sp>
      <p:sp>
        <p:nvSpPr>
          <p:cNvPr id="3" name="Date Placeholder 2"/>
          <p:cNvSpPr>
            <a:spLocks noGrp="1"/>
          </p:cNvSpPr>
          <p:nvPr>
            <p:ph type="dt" idx="1"/>
          </p:nvPr>
        </p:nvSpPr>
        <p:spPr>
          <a:xfrm>
            <a:off x="3970135" y="0"/>
            <a:ext cx="3038648" cy="465138"/>
          </a:xfrm>
          <a:prstGeom prst="rect">
            <a:avLst/>
          </a:prstGeom>
        </p:spPr>
        <p:txBody>
          <a:bodyPr vert="horz" lIns="91440" tIns="45720" rIns="91440" bIns="45720" rtlCol="0"/>
          <a:lstStyle>
            <a:lvl1pPr algn="r">
              <a:defRPr sz="1200"/>
            </a:lvl1pPr>
          </a:lstStyle>
          <a:p>
            <a:pPr>
              <a:defRPr/>
            </a:pPr>
            <a:fld id="{C973BE83-6A1D-4DA3-83D0-ED76C71EFE38}" type="datetimeFigureOut">
              <a:rPr lang="en-US"/>
              <a:pPr>
                <a:defRPr/>
              </a:pPr>
              <a:t>10/13/2026</a:t>
            </a:fld>
            <a:endParaRPr lang="en-US"/>
          </a:p>
        </p:txBody>
      </p:sp>
      <p:sp>
        <p:nvSpPr>
          <p:cNvPr id="4" name="Slide Image Placeholder 3"/>
          <p:cNvSpPr>
            <a:spLocks noGrp="1" noRot="1" noChangeAspect="1"/>
          </p:cNvSpPr>
          <p:nvPr>
            <p:ph type="sldImg" idx="2"/>
          </p:nvPr>
        </p:nvSpPr>
        <p:spPr>
          <a:xfrm>
            <a:off x="407988" y="696913"/>
            <a:ext cx="6196012" cy="3486150"/>
          </a:xfrm>
          <a:prstGeom prst="rect">
            <a:avLst/>
          </a:prstGeom>
          <a:noFill/>
          <a:ln w="12700">
            <a:solidFill>
              <a:prstClr val="black"/>
            </a:solidFill>
          </a:ln>
        </p:spPr>
        <p:txBody>
          <a:bodyPr vert="horz" lIns="91440" tIns="45720" rIns="91440" bIns="45720" rtlCol="0" anchor="ctr"/>
          <a:lstStyle/>
          <a:p>
            <a:pPr lvl="0"/>
            <a:endParaRPr lang="en-US" noProof="0"/>
          </a:p>
        </p:txBody>
      </p:sp>
      <p:sp>
        <p:nvSpPr>
          <p:cNvPr id="5" name="Notes Placeholder 4"/>
          <p:cNvSpPr>
            <a:spLocks noGrp="1"/>
          </p:cNvSpPr>
          <p:nvPr>
            <p:ph type="body" sz="quarter" idx="3"/>
          </p:nvPr>
        </p:nvSpPr>
        <p:spPr>
          <a:xfrm>
            <a:off x="701848" y="4416426"/>
            <a:ext cx="5608320" cy="4183063"/>
          </a:xfrm>
          <a:prstGeom prst="rect">
            <a:avLst/>
          </a:prstGeom>
        </p:spPr>
        <p:txBody>
          <a:bodyPr vert="horz" lIns="91440" tIns="45720" rIns="91440" bIns="45720" rtlCol="0">
            <a:normAutofit/>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2" y="8829675"/>
            <a:ext cx="3038648" cy="465138"/>
          </a:xfrm>
          <a:prstGeom prst="rect">
            <a:avLst/>
          </a:prstGeom>
        </p:spPr>
        <p:txBody>
          <a:bodyPr vert="horz" lIns="91440" tIns="45720" rIns="91440" bIns="45720"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970135" y="8829675"/>
            <a:ext cx="3038648" cy="465138"/>
          </a:xfrm>
          <a:prstGeom prst="rect">
            <a:avLst/>
          </a:prstGeom>
        </p:spPr>
        <p:txBody>
          <a:bodyPr vert="horz" lIns="91440" tIns="45720" rIns="91440" bIns="45720" rtlCol="0" anchor="b"/>
          <a:lstStyle>
            <a:lvl1pPr algn="r">
              <a:defRPr sz="1200"/>
            </a:lvl1pPr>
          </a:lstStyle>
          <a:p>
            <a:pPr>
              <a:defRPr/>
            </a:pPr>
            <a:fld id="{01C81575-24DE-4F6C-A73E-0331B3B2E418}" type="slidenum">
              <a:rPr lang="en-US"/>
              <a:pPr>
                <a:defRPr/>
              </a:pPr>
              <a:t>‹#›</a:t>
            </a:fld>
            <a:endParaRPr lang="en-US"/>
          </a:p>
        </p:txBody>
      </p:sp>
    </p:spTree>
    <p:extLst>
      <p:ext uri="{BB962C8B-B14F-4D97-AF65-F5344CB8AC3E}">
        <p14:creationId xmlns:p14="http://schemas.microsoft.com/office/powerpoint/2010/main" val="60913145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a:ea typeface="+mn-ea"/>
        <a:cs typeface="+mn-cs"/>
      </a:defRPr>
    </a:lvl1pPr>
    <a:lvl2pPr marL="457200" algn="l" rtl="0" eaLnBrk="0" fontAlgn="base" hangingPunct="0">
      <a:spcBef>
        <a:spcPct val="30000"/>
      </a:spcBef>
      <a:spcAft>
        <a:spcPct val="0"/>
      </a:spcAft>
      <a:defRPr sz="1200" kern="1200">
        <a:solidFill>
          <a:schemeClr val="tx1"/>
        </a:solidFill>
        <a:latin typeface="Times New Roman"/>
        <a:ea typeface="+mn-ea"/>
        <a:cs typeface="+mn-cs"/>
      </a:defRPr>
    </a:lvl2pPr>
    <a:lvl3pPr marL="914400" algn="l" rtl="0" eaLnBrk="0" fontAlgn="base" hangingPunct="0">
      <a:spcBef>
        <a:spcPct val="30000"/>
      </a:spcBef>
      <a:spcAft>
        <a:spcPct val="0"/>
      </a:spcAft>
      <a:defRPr sz="1200" kern="1200">
        <a:solidFill>
          <a:schemeClr val="tx1"/>
        </a:solidFill>
        <a:latin typeface="Times New Roman"/>
        <a:ea typeface="+mn-ea"/>
        <a:cs typeface="+mn-cs"/>
      </a:defRPr>
    </a:lvl3pPr>
    <a:lvl4pPr marL="1371600" algn="l" rtl="0" eaLnBrk="0" fontAlgn="base" hangingPunct="0">
      <a:spcBef>
        <a:spcPct val="30000"/>
      </a:spcBef>
      <a:spcAft>
        <a:spcPct val="0"/>
      </a:spcAft>
      <a:defRPr sz="1200" kern="1200">
        <a:solidFill>
          <a:schemeClr val="tx1"/>
        </a:solidFill>
        <a:latin typeface="Times New Roman"/>
        <a:ea typeface="+mn-ea"/>
        <a:cs typeface="+mn-cs"/>
      </a:defRPr>
    </a:lvl4pPr>
    <a:lvl5pPr marL="1828800" algn="l" rtl="0" eaLnBrk="0" fontAlgn="base" hangingPunct="0">
      <a:spcBef>
        <a:spcPct val="30000"/>
      </a:spcBef>
      <a:spcAft>
        <a:spcPct val="0"/>
      </a:spcAft>
      <a:defRPr sz="1200" kern="1200">
        <a:solidFill>
          <a:schemeClr val="tx1"/>
        </a:solidFill>
        <a:latin typeface="Times New Roman"/>
        <a:ea typeface="+mn-ea"/>
        <a:cs typeface="+mn-cs"/>
      </a:defRPr>
    </a:lvl5pPr>
    <a:lvl6pPr marL="2286000" algn="l" defTabSz="914400" rtl="0" eaLnBrk="1" latinLnBrk="0" hangingPunct="1">
      <a:defRPr sz="1200" kern="1200">
        <a:solidFill>
          <a:schemeClr val="tx1"/>
        </a:solidFill>
        <a:latin typeface="Times New Roman"/>
        <a:ea typeface="+mn-ea"/>
        <a:cs typeface="+mn-cs"/>
      </a:defRPr>
    </a:lvl6pPr>
    <a:lvl7pPr marL="2743200" algn="l" defTabSz="914400" rtl="0" eaLnBrk="1" latinLnBrk="0" hangingPunct="1">
      <a:defRPr sz="1200" kern="1200">
        <a:solidFill>
          <a:schemeClr val="tx1"/>
        </a:solidFill>
        <a:latin typeface="Times New Roman"/>
        <a:ea typeface="+mn-ea"/>
        <a:cs typeface="+mn-cs"/>
      </a:defRPr>
    </a:lvl7pPr>
    <a:lvl8pPr marL="3200400" algn="l" defTabSz="914400" rtl="0" eaLnBrk="1" latinLnBrk="0" hangingPunct="1">
      <a:defRPr sz="1200" kern="1200">
        <a:solidFill>
          <a:schemeClr val="tx1"/>
        </a:solidFill>
        <a:latin typeface="Times New Roman"/>
        <a:ea typeface="+mn-ea"/>
        <a:cs typeface="+mn-cs"/>
      </a:defRPr>
    </a:lvl8pPr>
    <a:lvl9pPr marL="3657600" algn="l" defTabSz="914400" rtl="0" eaLnBrk="1" latinLnBrk="0" hangingPunct="1">
      <a:defRPr sz="1200" kern="1200">
        <a:solidFill>
          <a:schemeClr val="tx1"/>
        </a:solidFill>
        <a:latin typeface="Times New Roman"/>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Good morning. We are presenting ChokePoint, our capstone project. It is a graph-based spatio-temporal framework that predicts crowd-crush risk at structural bottlenecks such as stairs, gates and foot-over-bridges, and recommends actions minutes before danger. I will introduce the team and guide, and then walk you through the problem, our approach and the plan for three phases.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7101247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r>
              <a:t>Here is the flow of the talk. We start with the problem and its scope, then the background and the existing work. Next we explain our approach and the signals we measure. After that we cover applications, deliverables, the timeline and how the work is split across the four of us. We close with datasets and evaluation.</a:t>
            </a:r>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2</a:t>
            </a:fld>
            <a:endParaRPr lang="en-US"/>
          </a:p>
        </p:txBody>
      </p:sp>
    </p:spTree>
    <p:extLst>
      <p:ext uri="{BB962C8B-B14F-4D97-AF65-F5344CB8AC3E}">
        <p14:creationId xmlns:p14="http://schemas.microsoft.com/office/powerpoint/2010/main" val="159833998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r>
              <a:t>The core problem: current AI crowd-safety systems look at the whole frame or a uniform grid. That causes three gaps. First, the wrong unit of risk: a grid cell has nothing to do with why a crush happens, but a staircase or a gate does. Second, zones are treated in isolation, so nobody models how pressure at one gate spills into the next corridor, which is exactly how stampedes cascade. Third, systems stop at an alert and leave staff to decide what to do under pressure. Our objective addresses all four points on the slide: structural zones, graph propagation, a 3, 5 or 10-minute forecast per zone, and ranked interventions. Estimating each action’s risk reduction in simulation is a stretch goal.</a:t>
            </a:r>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3</a:t>
            </a:fld>
            <a:endParaRPr lang="en-US"/>
          </a:p>
        </p:txBody>
      </p:sp>
    </p:spTree>
    <p:extLst>
      <p:ext uri="{BB962C8B-B14F-4D97-AF65-F5344CB8AC3E}">
        <p14:creationId xmlns:p14="http://schemas.microsoft.com/office/powerpoint/2010/main" val="413196607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r>
              <a:t>In scope: fixed CCTV with overhead angles, zones drawn once per camera, a 3 to 10-minute forecast, graph propagation, ranked actions checked in simulation, and a dashboard prototype. Out of scope: live deployment, automatic gate control, face recognition and drone feeds. It is feasible because the whole stack is open source and the models are small enough for a single GPU or Colab. The main challenges are on the right, each with a mitigation. The most important one: real danger events are rare, so we use JuPedSim crowds calibrated on Jülich experiments, and we report any risk-reduction number as a simulation estimate only.</a:t>
            </a:r>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4</a:t>
            </a:fld>
            <a:endParaRPr lang="en-US"/>
          </a:p>
        </p:txBody>
      </p:sp>
    </p:spTree>
    <p:extLst>
      <p:ext uri="{BB962C8B-B14F-4D97-AF65-F5344CB8AC3E}">
        <p14:creationId xmlns:p14="http://schemas.microsoft.com/office/powerpoint/2010/main" val="322573092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52B9E9-ADFC-DA0A-79D1-58FB874BF78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DA8ED24-73F0-4E0D-572F-BBB29428F59F}"/>
              </a:ext>
            </a:extLst>
          </p:cNvPr>
          <p:cNvSpPr>
            <a:spLocks noGrp="1" noRot="1" noChangeAspect="1"/>
          </p:cNvSpPr>
          <p:nvPr>
            <p:ph type="sldImg"/>
          </p:nvPr>
        </p:nvSpPr>
        <p:spPr>
          <a:xfrm>
            <a:off x="407988" y="696913"/>
            <a:ext cx="6196012" cy="3486150"/>
          </a:xfrm>
        </p:spPr>
      </p:sp>
      <p:sp>
        <p:nvSpPr>
          <p:cNvPr id="3" name="Notes Placeholder 2">
            <a:extLst>
              <a:ext uri="{FF2B5EF4-FFF2-40B4-BE49-F238E27FC236}">
                <a16:creationId xmlns:a16="http://schemas.microsoft.com/office/drawing/2014/main" id="{C6E88CEB-6411-3C5C-D2E1-9CD5D885F0F5}"/>
              </a:ext>
            </a:extLst>
          </p:cNvPr>
          <p:cNvSpPr>
            <a:spLocks noGrp="1"/>
          </p:cNvSpPr>
          <p:nvPr>
            <p:ph type="body" idx="1"/>
          </p:nvPr>
        </p:nvSpPr>
        <p:spPr/>
        <p:txBody>
          <a:bodyPr>
            <a:normAutofit/>
          </a:bodyPr>
          <a:lstStyle/>
          <a:p>
            <a:r>
              <a:t>Why this problem. About 140 people die every year in India in stampedes, which matches NCRB data of 3,074 deaths from 2001 to 2022 at public and religious events. A study of Mahakumbh found 92 percent of past stampede sites were linked to narrow riverbank access routes, so crushes start at chokepoints, not at random. A recent predictor, AURORA, gives about 14 seconds of warning, which is too short to open a gate. For domain context: risk rises sharply above about 4 persons per square metre and builds where inflow exceeds outflow. Stations and melas already have CCTV, but it is watched by people. A useful system has to warn minutes early, point to the exact chokepoint and say what to do.</a:t>
            </a:r>
          </a:p>
        </p:txBody>
      </p:sp>
      <p:sp>
        <p:nvSpPr>
          <p:cNvPr id="4" name="Slide Number Placeholder 3">
            <a:extLst>
              <a:ext uri="{FF2B5EF4-FFF2-40B4-BE49-F238E27FC236}">
                <a16:creationId xmlns:a16="http://schemas.microsoft.com/office/drawing/2014/main" id="{419515E1-284B-EDB2-6F99-DA03DCC9CD61}"/>
              </a:ext>
            </a:extLst>
          </p:cNvPr>
          <p:cNvSpPr>
            <a:spLocks noGrp="1"/>
          </p:cNvSpPr>
          <p:nvPr>
            <p:ph type="sldNum" sz="quarter" idx="10"/>
          </p:nvPr>
        </p:nvSpPr>
        <p:spPr/>
        <p:txBody>
          <a:bodyPr/>
          <a:lstStyle/>
          <a:p>
            <a:pPr>
              <a:defRPr/>
            </a:pPr>
            <a:fld id="{01C81575-24DE-4F6C-A73E-0331B3B2E418}" type="slidenum">
              <a:rPr lang="en-US" smtClean="0"/>
              <a:pPr>
                <a:defRPr/>
              </a:pPr>
              <a:t>5</a:t>
            </a:fld>
            <a:endParaRPr lang="en-US"/>
          </a:p>
        </p:txBody>
      </p:sp>
    </p:spTree>
    <p:extLst>
      <p:ext uri="{BB962C8B-B14F-4D97-AF65-F5344CB8AC3E}">
        <p14:creationId xmlns:p14="http://schemas.microsoft.com/office/powerpoint/2010/main" val="316796689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table compares the closest recent systems on three questions. What is the unit of risk? Do they model spread between zones? Do they turn the forecast into actions? ICMF works on the whole frame, Crowd Guardian uses a 6 by 6 grid, the GIEST predictor uses density cells, and AURORA is zone-wise but not tied to structure, with only a rule-based safety layer. None models spread between zones. The image shows the difference: grid cells cut through the stairs and average the crush away, while our zones are drawn on the chokepoints. Our contribution is the combination of all three, which we will validate through ablation. ICMF is our base paper, and we re-implement it as the main baseline in phase three.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05120569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pipeline runs left to right. Fixed CCTV video comes in. We count people with YOLOv8 in sparse areas and a density-map model in dense areas. Each person is mapped to a chokepoint zone by point-in-polygon. Per zone we extract density, its rate of change, net flux and direction entropy. An LSTM forecasts the probability of reaching danger in 3, 5 or 10 minutes. A graph neural network then revises each zone's risk using its connected neighbours. Finally, the system ranks interventions. The blue boxes are our novel parts. On the graph, each node is a zone and each edge is a physical connection such as stairs to platform to gate.</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45653657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four signals per zone. Density is people divided by zone area, using a one-time camera calibration. The rate of change catches a rising trend before it looks dangerous. Net flux, inflow minus outflow at the boundary, measures bottleneck pressure and also serves as the edge feature for the graph. Direction entropy measures disorder; we ignore slow vectors so a standing crowd is not mistaken for panic. The prediction target is the probability that a zone's density crosses its own danger threshold within H minutes. Thresholds start at 2 for Warning and 4 for Danger, and are set lower for stairs, gates and FOBs because their safe flow is lower. They are tuned on validation data.</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428463752"/>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r>
              <a:t>The users are the people who must act. Station and venue managers see zone risk and ranked suggestions. Police, RPF and crowd-control teams carry out the actions: open a gate, redirect flow or hold inflow. Emergency responders get minutes of lead time to pre-position. Civic authorities and planners can audit recurring bottlenecks after an event. Typical venues are railway stations and FOBs, Kumbh and other melas, stadiums, concerts, rallies, metro interchanges and temple queues. The dashboard shown is a concept mockup, and all values are illustrative.</a:t>
            </a:r>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9</a:t>
            </a:fld>
            <a:endParaRPr lang="en-US"/>
          </a:p>
        </p:txBody>
      </p:sp>
    </p:spTree>
    <p:extLst>
      <p:ext uri="{BB962C8B-B14F-4D97-AF65-F5344CB8AC3E}">
        <p14:creationId xmlns:p14="http://schemas.microsoft.com/office/powerpoint/2010/main" val="322573092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6913"/>
            <a:ext cx="6196012" cy="3486150"/>
          </a:xfrm>
        </p:spPr>
      </p:sp>
      <p:sp>
        <p:nvSpPr>
          <p:cNvPr id="3" name="Notes Placeholder 2"/>
          <p:cNvSpPr>
            <a:spLocks noGrp="1"/>
          </p:cNvSpPr>
          <p:nvPr>
            <p:ph type="body" idx="1"/>
          </p:nvPr>
        </p:nvSpPr>
        <p:spPr/>
        <p:txBody>
          <a:bodyPr>
            <a:normAutofit/>
          </a:bodyPr>
          <a:lstStyle/>
          <a:p>
            <a:r>
              <a:t>Deliverables follow the three phases. Phase one is the foundation: literature survey, datasets, zone annotation, counting, features and an LSTM baseline per zone. The milestone is a working per-zone forecast. Phase two is the core novelty: the zone graph and the GNN, tested with a three-way ablation. That compares the LSTM alone, the LSTM with neighbour features, and the LSTM with the GNN, so we can show the graph itself helps. Phase three adds the rule-based intervention engine, a real-time demo on recorded or webcam video, the integrated dashboard and the full evaluation against ICMF, our base paper, ending in a research paper and final demo. Simulation-estimated risk reduction per action is a stretch goal.</a:t>
            </a:r>
          </a:p>
        </p:txBody>
      </p:sp>
      <p:sp>
        <p:nvSpPr>
          <p:cNvPr id="4" name="Slide Number Placeholder 3"/>
          <p:cNvSpPr>
            <a:spLocks noGrp="1"/>
          </p:cNvSpPr>
          <p:nvPr>
            <p:ph type="sldNum" sz="quarter" idx="10"/>
          </p:nvPr>
        </p:nvSpPr>
        <p:spPr/>
        <p:txBody>
          <a:bodyPr/>
          <a:lstStyle/>
          <a:p>
            <a:pPr>
              <a:defRPr/>
            </a:pPr>
            <a:fld id="{01C81575-24DE-4F6C-A73E-0331B3B2E418}" type="slidenum">
              <a:rPr lang="en-US" smtClean="0"/>
              <a:pPr>
                <a:defRPr/>
              </a:pPr>
              <a:t>10</a:t>
            </a:fld>
            <a:endParaRPr lang="en-US"/>
          </a:p>
        </p:txBody>
      </p:sp>
    </p:spTree>
    <p:extLst>
      <p:ext uri="{BB962C8B-B14F-4D97-AF65-F5344CB8AC3E}">
        <p14:creationId xmlns:p14="http://schemas.microsoft.com/office/powerpoint/2010/main" val="183189965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Gantt chart maps tasks to months and owners across the three phases. Phase one runs from August to November 2026 and covers data, detection, features and the LSTM baseline. Phase two runs from January to April 2027 and covers the graph design, the GNN and the ablation, with a workshop paper if the results hold. Phase three runs from August to November 2027 and covers interventions, the dashboard, evaluation and the final paper. The owner column links each task to a member: M1 Rehan, M2 Prateek, M3 Pranav, M4 Yaseen. The dashboard and the simulator start in phase one, so every model has a place to show results.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41680224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Work is split equally, 25 percent each, with one module per member and clear interfaces between modules. Rehan owns detection and data, and re-implements the ICMF baseline. Prateek owns features, forecasting and real-time performance. Pranav owns calibration and zone mapping, the graph model and the ablation. Yaseen owns simulation, interventions and the dashboard. All four of us share the literature review, our own sections of the paper, joint evaluation and the reviews.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3208354115"/>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These are the datasets and what each one actually gives us. FDST and CroHD provide video for counting, flow and tracking. The Jülich PedDyn archive gives bottleneck ground truth and simulator calibration. HAJJv2 has 18 real Hajj videos, which we use as a mass-gathering stress test. ShanghaiTech and JHU-CROWD++ are still images, so we use them only to train the counter. Self-recorded clips cover our own target zones, and JuPedSim supplies rare danger cases and what-if interventions. For evaluation we report precision, recall, F1, PR-AUC, lead time and false alarms per hour. The key experiment is the fair three-way ablation with the same features, splits and model size, with ICMF as the base-paper baseline. Our target lead time is 3 to 10 minutes, compared with about 14 seconds for AURORA.</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157958378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Backup slide, hidden in the slide show. Use it only if the panel asks about the literature. Helbing's social-force model and the Jülich bottleneck experiments are the crowd-dynamics foundation; we use the Jülich data for calibration. CSRNet and DM-Count give us density counting in dense crowds. STGCN shows that forecasting on a graph works for traffic, and we adapt that idea to crowd zones. The remaining rows are the recent crowd-risk systems from the previous slide, plus the Mahakumbh study that motivates chokepoint zones.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22539318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Thank you. To sum up, ChokePoint predicts risk where crushes actually start, models how it spreads between connected zones, and turns the forecast into ranked actions minutes ahead. We are happy to take your questions.</a:t>
            </a:r>
          </a:p>
        </p:txBody>
      </p:sp>
      <p:sp>
        <p:nvSpPr>
          <p:cNvPr id="4" name="Slide Number Placeholder 3"/>
          <p:cNvSpPr>
            <a:spLocks noGrp="1"/>
          </p:cNvSpPr>
          <p:nvPr>
            <p:ph type="sldNum" sz="quarter" idx="5"/>
          </p:nvPr>
        </p:nvSpPr>
        <p:spPr/>
      </p:sp>
    </p:spTree>
    <p:extLst>
      <p:ext uri="{BB962C8B-B14F-4D97-AF65-F5344CB8AC3E}">
        <p14:creationId xmlns:p14="http://schemas.microsoft.com/office/powerpoint/2010/main" val="256145107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2713C8-F183-1D43-AE77-BF9BD4D2AE3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E7AF752-0EC0-CF4D-965A-5129A913599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E3E32540-0688-DC4A-809A-52FB3313D316}"/>
              </a:ext>
            </a:extLst>
          </p:cNvPr>
          <p:cNvSpPr>
            <a:spLocks noGrp="1"/>
          </p:cNvSpPr>
          <p:nvPr>
            <p:ph type="dt" sz="half" idx="10"/>
          </p:nvPr>
        </p:nvSpPr>
        <p:spPr/>
        <p:txBody>
          <a:bodyPr/>
          <a:lstStyle/>
          <a:p>
            <a:fld id="{2D1A7037-0853-0447-B5BA-F1548123F733}" type="datetimeFigureOut">
              <a:rPr lang="en-US" smtClean="0"/>
              <a:pPr/>
              <a:t>10/13/2026</a:t>
            </a:fld>
            <a:endParaRPr lang="en-US"/>
          </a:p>
        </p:txBody>
      </p:sp>
      <p:sp>
        <p:nvSpPr>
          <p:cNvPr id="5" name="Footer Placeholder 4">
            <a:extLst>
              <a:ext uri="{FF2B5EF4-FFF2-40B4-BE49-F238E27FC236}">
                <a16:creationId xmlns:a16="http://schemas.microsoft.com/office/drawing/2014/main" id="{0F2CA43E-0611-D047-BC7B-31F920B659D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B6E4123-5713-BC41-BBD0-42ADF35D9634}"/>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9207038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1DED43-C903-1F44-A779-40DF9AEFDEC4}"/>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E9975D8-34AD-544B-B0E2-83FA77D2FAF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9D24DD5-B8E0-534E-B68A-EF415575E505}"/>
              </a:ext>
            </a:extLst>
          </p:cNvPr>
          <p:cNvSpPr>
            <a:spLocks noGrp="1"/>
          </p:cNvSpPr>
          <p:nvPr>
            <p:ph type="dt" sz="half" idx="10"/>
          </p:nvPr>
        </p:nvSpPr>
        <p:spPr/>
        <p:txBody>
          <a:bodyPr/>
          <a:lstStyle/>
          <a:p>
            <a:fld id="{2D1A7037-0853-0447-B5BA-F1548123F733}" type="datetimeFigureOut">
              <a:rPr lang="en-US" smtClean="0"/>
              <a:pPr/>
              <a:t>10/13/2026</a:t>
            </a:fld>
            <a:endParaRPr lang="en-US"/>
          </a:p>
        </p:txBody>
      </p:sp>
      <p:sp>
        <p:nvSpPr>
          <p:cNvPr id="5" name="Footer Placeholder 4">
            <a:extLst>
              <a:ext uri="{FF2B5EF4-FFF2-40B4-BE49-F238E27FC236}">
                <a16:creationId xmlns:a16="http://schemas.microsoft.com/office/drawing/2014/main" id="{45096688-5BB1-5E48-BD14-BBC9FA67D401}"/>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71DC407C-3003-DB44-98B5-0DEC6272B11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1229166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C5630D-09E2-0742-AED8-D3F732546CD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715B2CD3-A564-8044-A4EC-7EBA2629878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E22A64EE-79C1-8B46-BA9C-199117C7B485}"/>
              </a:ext>
            </a:extLst>
          </p:cNvPr>
          <p:cNvSpPr>
            <a:spLocks noGrp="1"/>
          </p:cNvSpPr>
          <p:nvPr>
            <p:ph type="dt" sz="half" idx="10"/>
          </p:nvPr>
        </p:nvSpPr>
        <p:spPr/>
        <p:txBody>
          <a:bodyPr/>
          <a:lstStyle/>
          <a:p>
            <a:fld id="{2D1A7037-0853-0447-B5BA-F1548123F733}" type="datetimeFigureOut">
              <a:rPr lang="en-US" smtClean="0"/>
              <a:pPr/>
              <a:t>10/13/2026</a:t>
            </a:fld>
            <a:endParaRPr lang="en-US"/>
          </a:p>
        </p:txBody>
      </p:sp>
      <p:sp>
        <p:nvSpPr>
          <p:cNvPr id="5" name="Footer Placeholder 4">
            <a:extLst>
              <a:ext uri="{FF2B5EF4-FFF2-40B4-BE49-F238E27FC236}">
                <a16:creationId xmlns:a16="http://schemas.microsoft.com/office/drawing/2014/main" id="{A851AAB2-DA47-AE48-A088-6FC7C169450F}"/>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348FF9C-19C9-FA46-8C21-74202499420D}"/>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17179160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37CBAF5-C913-024F-8BE6-64C58F97021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395E6DB7-D3D7-1443-A583-8730715E2532}"/>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53CEB82F-3E99-7441-9B06-6D7C2156AB85}"/>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F426D282-1572-D344-87D1-785DA8576020}"/>
              </a:ext>
            </a:extLst>
          </p:cNvPr>
          <p:cNvSpPr>
            <a:spLocks noGrp="1"/>
          </p:cNvSpPr>
          <p:nvPr>
            <p:ph type="dt" sz="half" idx="10"/>
          </p:nvPr>
        </p:nvSpPr>
        <p:spPr/>
        <p:txBody>
          <a:bodyPr/>
          <a:lstStyle/>
          <a:p>
            <a:fld id="{2D1A7037-0853-0447-B5BA-F1548123F733}" type="datetimeFigureOut">
              <a:rPr lang="en-US" smtClean="0"/>
              <a:pPr/>
              <a:t>10/13/2026</a:t>
            </a:fld>
            <a:endParaRPr lang="en-US"/>
          </a:p>
        </p:txBody>
      </p:sp>
      <p:sp>
        <p:nvSpPr>
          <p:cNvPr id="6" name="Footer Placeholder 5">
            <a:extLst>
              <a:ext uri="{FF2B5EF4-FFF2-40B4-BE49-F238E27FC236}">
                <a16:creationId xmlns:a16="http://schemas.microsoft.com/office/drawing/2014/main" id="{3723D760-065F-6442-AF7E-1A7AAFFCA96E}"/>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6BF4C15-EC3A-7E41-A2B3-D2AB7D70EB32}"/>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2657047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72CC90-B8AE-8A46-A8A5-F7E8DA615EEE}"/>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58E152C5-AA77-4B47-965C-21A00C1EECEB}"/>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8C466F8D-3502-5242-9160-E1CDE38E0AB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89754302-8F9A-5648-9C5E-6D037F1C754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BA9FC9CD-8823-F145-9952-EFBA9ACD2E8C}"/>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D65EF4D9-655F-4842-A6B8-D44A050122B8}"/>
              </a:ext>
            </a:extLst>
          </p:cNvPr>
          <p:cNvSpPr>
            <a:spLocks noGrp="1"/>
          </p:cNvSpPr>
          <p:nvPr>
            <p:ph type="dt" sz="half" idx="10"/>
          </p:nvPr>
        </p:nvSpPr>
        <p:spPr/>
        <p:txBody>
          <a:bodyPr/>
          <a:lstStyle/>
          <a:p>
            <a:fld id="{2D1A7037-0853-0447-B5BA-F1548123F733}" type="datetimeFigureOut">
              <a:rPr lang="en-US" smtClean="0"/>
              <a:pPr/>
              <a:t>10/13/2026</a:t>
            </a:fld>
            <a:endParaRPr lang="en-US"/>
          </a:p>
        </p:txBody>
      </p:sp>
      <p:sp>
        <p:nvSpPr>
          <p:cNvPr id="8" name="Footer Placeholder 7">
            <a:extLst>
              <a:ext uri="{FF2B5EF4-FFF2-40B4-BE49-F238E27FC236}">
                <a16:creationId xmlns:a16="http://schemas.microsoft.com/office/drawing/2014/main" id="{08E68A74-725F-8F40-8F80-E96287703E59}"/>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29D868FA-8565-A740-9B9C-B3CD6AB33570}"/>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18278540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8DFCE3-1C1E-7448-AF7E-5E46BB14081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7B19D5C9-50F6-8546-8D8C-AFACC1BC1B4F}"/>
              </a:ext>
            </a:extLst>
          </p:cNvPr>
          <p:cNvSpPr>
            <a:spLocks noGrp="1"/>
          </p:cNvSpPr>
          <p:nvPr>
            <p:ph type="dt" sz="half" idx="10"/>
          </p:nvPr>
        </p:nvSpPr>
        <p:spPr/>
        <p:txBody>
          <a:bodyPr/>
          <a:lstStyle/>
          <a:p>
            <a:fld id="{2D1A7037-0853-0447-B5BA-F1548123F733}" type="datetimeFigureOut">
              <a:rPr lang="en-US" smtClean="0"/>
              <a:pPr/>
              <a:t>10/13/2026</a:t>
            </a:fld>
            <a:endParaRPr lang="en-US"/>
          </a:p>
        </p:txBody>
      </p:sp>
      <p:sp>
        <p:nvSpPr>
          <p:cNvPr id="4" name="Footer Placeholder 3">
            <a:extLst>
              <a:ext uri="{FF2B5EF4-FFF2-40B4-BE49-F238E27FC236}">
                <a16:creationId xmlns:a16="http://schemas.microsoft.com/office/drawing/2014/main" id="{1DEA0D0C-FCAF-4F4C-AAF5-C9B78C03C47E}"/>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7568836A-EEA3-7347-A63C-8E66DF7B3451}"/>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6022871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DE7A43C1-2303-5A41-B234-90D15E2A4B17}"/>
              </a:ext>
            </a:extLst>
          </p:cNvPr>
          <p:cNvSpPr>
            <a:spLocks noGrp="1"/>
          </p:cNvSpPr>
          <p:nvPr>
            <p:ph type="dt" sz="half" idx="10"/>
          </p:nvPr>
        </p:nvSpPr>
        <p:spPr/>
        <p:txBody>
          <a:bodyPr/>
          <a:lstStyle/>
          <a:p>
            <a:fld id="{2D1A7037-0853-0447-B5BA-F1548123F733}" type="datetimeFigureOut">
              <a:rPr lang="en-US" smtClean="0"/>
              <a:pPr/>
              <a:t>10/13/2026</a:t>
            </a:fld>
            <a:endParaRPr lang="en-US"/>
          </a:p>
        </p:txBody>
      </p:sp>
      <p:sp>
        <p:nvSpPr>
          <p:cNvPr id="3" name="Footer Placeholder 2">
            <a:extLst>
              <a:ext uri="{FF2B5EF4-FFF2-40B4-BE49-F238E27FC236}">
                <a16:creationId xmlns:a16="http://schemas.microsoft.com/office/drawing/2014/main" id="{9EA77971-B281-6149-9884-0E9C45F816B3}"/>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B1D0F6F3-1061-E842-B540-6BD0D6CB8D59}"/>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287373287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EB970D-13D5-B346-968D-400B0BCCF66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7019FFE0-37CD-7644-A007-76E5304F12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70210BE7-EA92-B44F-9EEC-94E6F6955C4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73B6D810-D2A1-B549-A5BC-25CCA5CDCD3C}"/>
              </a:ext>
            </a:extLst>
          </p:cNvPr>
          <p:cNvSpPr>
            <a:spLocks noGrp="1"/>
          </p:cNvSpPr>
          <p:nvPr>
            <p:ph type="dt" sz="half" idx="10"/>
          </p:nvPr>
        </p:nvSpPr>
        <p:spPr/>
        <p:txBody>
          <a:bodyPr/>
          <a:lstStyle/>
          <a:p>
            <a:fld id="{2D1A7037-0853-0447-B5BA-F1548123F733}" type="datetimeFigureOut">
              <a:rPr lang="en-US" smtClean="0"/>
              <a:pPr/>
              <a:t>10/13/2026</a:t>
            </a:fld>
            <a:endParaRPr lang="en-US"/>
          </a:p>
        </p:txBody>
      </p:sp>
      <p:sp>
        <p:nvSpPr>
          <p:cNvPr id="6" name="Footer Placeholder 5">
            <a:extLst>
              <a:ext uri="{FF2B5EF4-FFF2-40B4-BE49-F238E27FC236}">
                <a16:creationId xmlns:a16="http://schemas.microsoft.com/office/drawing/2014/main" id="{6AD872D2-2005-3043-A02D-3E2DB9334E5A}"/>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59F9F01D-1164-4249-AD67-1D51D33C01DC}"/>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35803867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F2D3B30-2A71-A043-9BD7-3B8C66BF74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132B08A9-6B45-4340-8859-996D9B94909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26B1F4B2-96C1-614B-9110-8D1AEE080D36}"/>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07DF3EB-6252-5845-AE7D-FB94ECF9F136}"/>
              </a:ext>
            </a:extLst>
          </p:cNvPr>
          <p:cNvSpPr>
            <a:spLocks noGrp="1"/>
          </p:cNvSpPr>
          <p:nvPr>
            <p:ph type="dt" sz="half" idx="10"/>
          </p:nvPr>
        </p:nvSpPr>
        <p:spPr/>
        <p:txBody>
          <a:bodyPr/>
          <a:lstStyle/>
          <a:p>
            <a:fld id="{2D1A7037-0853-0447-B5BA-F1548123F733}" type="datetimeFigureOut">
              <a:rPr lang="en-US" smtClean="0"/>
              <a:pPr/>
              <a:t>10/13/2026</a:t>
            </a:fld>
            <a:endParaRPr lang="en-US"/>
          </a:p>
        </p:txBody>
      </p:sp>
      <p:sp>
        <p:nvSpPr>
          <p:cNvPr id="6" name="Footer Placeholder 5">
            <a:extLst>
              <a:ext uri="{FF2B5EF4-FFF2-40B4-BE49-F238E27FC236}">
                <a16:creationId xmlns:a16="http://schemas.microsoft.com/office/drawing/2014/main" id="{D2D65DB7-EFE7-7446-8DEC-69F1FB47AE22}"/>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2A0E09F-0F32-5644-881A-A61CD82461E5}"/>
              </a:ext>
            </a:extLst>
          </p:cNvPr>
          <p:cNvSpPr>
            <a:spLocks noGrp="1"/>
          </p:cNvSpPr>
          <p:nvPr>
            <p:ph type="sldNum" sz="quarter" idx="12"/>
          </p:nvPr>
        </p:nvSpPr>
        <p:spPr/>
        <p:txBody>
          <a:bodyPr/>
          <a:lstStyle/>
          <a:p>
            <a:fld id="{102F0E29-F314-934F-92DB-8EEB8DA68833}" type="slidenum">
              <a:rPr lang="en-US" smtClean="0"/>
              <a:pPr/>
              <a:t>‹#›</a:t>
            </a:fld>
            <a:endParaRPr lang="en-US"/>
          </a:p>
        </p:txBody>
      </p:sp>
    </p:spTree>
    <p:extLst>
      <p:ext uri="{BB962C8B-B14F-4D97-AF65-F5344CB8AC3E}">
        <p14:creationId xmlns:p14="http://schemas.microsoft.com/office/powerpoint/2010/main" val="50459444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image" Target="../media/image1.png"/><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26E61B7-8DCD-1544-BC5D-B4592F60C64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BAB61D9-7FB3-1343-9555-936FC6036D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DC2A79E-2DF5-4E41-BDCF-90E9D26B7E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D1A7037-0853-0447-B5BA-F1548123F733}" type="datetimeFigureOut">
              <a:rPr lang="en-US" smtClean="0"/>
              <a:pPr/>
              <a:t>10/13/2026</a:t>
            </a:fld>
            <a:endParaRPr lang="en-US"/>
          </a:p>
        </p:txBody>
      </p:sp>
      <p:sp>
        <p:nvSpPr>
          <p:cNvPr id="5" name="Footer Placeholder 4">
            <a:extLst>
              <a:ext uri="{FF2B5EF4-FFF2-40B4-BE49-F238E27FC236}">
                <a16:creationId xmlns:a16="http://schemas.microsoft.com/office/drawing/2014/main" id="{556D5DC5-E1CB-B84F-BCAB-EB319B37181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a:extLst>
              <a:ext uri="{FF2B5EF4-FFF2-40B4-BE49-F238E27FC236}">
                <a16:creationId xmlns:a16="http://schemas.microsoft.com/office/drawing/2014/main" id="{C9712A2C-5C91-4B43-A114-209348A10C9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102F0E29-F314-934F-92DB-8EEB8DA68833}" type="slidenum">
              <a:rPr lang="en-US" smtClean="0"/>
              <a:pPr/>
              <a:t>‹#›</a:t>
            </a:fld>
            <a:endParaRPr lang="en-US"/>
          </a:p>
        </p:txBody>
      </p:sp>
      <p:pic>
        <p:nvPicPr>
          <p:cNvPr id="1026" name="Picture 2" descr="PESSAT - All India Online Entrance Exam for Admission to PES University">
            <a:extLst>
              <a:ext uri="{FF2B5EF4-FFF2-40B4-BE49-F238E27FC236}">
                <a16:creationId xmlns:a16="http://schemas.microsoft.com/office/drawing/2014/main" id="{C91282D4-EDA2-9EB7-4718-C22D3D176D2B}"/>
              </a:ext>
            </a:extLst>
          </p:cNvPr>
          <p:cNvPicPr>
            <a:picLocks noChangeAspect="1" noChangeArrowheads="1"/>
          </p:cNvPicPr>
          <p:nvPr userDrawn="1"/>
        </p:nvPicPr>
        <p:blipFill>
          <a:blip r:embed="rId11" cstate="print">
            <a:extLst>
              <a:ext uri="{28A0092B-C50C-407E-A947-70E740481C1C}">
                <a14:useLocalDpi xmlns:a14="http://schemas.microsoft.com/office/drawing/2010/main" val="0"/>
              </a:ext>
            </a:extLst>
          </a:blip>
          <a:srcRect/>
          <a:stretch>
            <a:fillRect/>
          </a:stretch>
        </p:blipFill>
        <p:spPr bwMode="auto">
          <a:xfrm>
            <a:off x="10167336" y="365125"/>
            <a:ext cx="1162050" cy="5334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92383200"/>
      </p:ext>
    </p:extLst>
  </p:cSld>
  <p:clrMap bg1="lt1" tx1="dk1" bg2="lt2" tx2="dk2" accent1="accent1" accent2="accent2" accent3="accent3" accent4="accent4" accent5="accent5" accent6="accent6" hlink="hlink" folHlink="folHlink"/>
  <p:sldLayoutIdLst>
    <p:sldLayoutId id="2147483658" r:id="rId1"/>
    <p:sldLayoutId id="2147483659" r:id="rId2"/>
    <p:sldLayoutId id="2147483660" r:id="rId3"/>
    <p:sldLayoutId id="2147483661" r:id="rId4"/>
    <p:sldLayoutId id="2147483662" r:id="rId5"/>
    <p:sldLayoutId id="2147483663" r:id="rId6"/>
    <p:sldLayoutId id="2147483664" r:id="rId7"/>
    <p:sldLayoutId id="2147483665" r:id="rId8"/>
    <p:sldLayoutId id="2147483666" r:id="rId9"/>
  </p:sldLayoutIdLst>
  <p:txStyles>
    <p:titleStyle>
      <a:lvl1pPr algn="l" defTabSz="914400" rtl="0" eaLnBrk="1" latinLnBrk="0" hangingPunct="1">
        <a:lnSpc>
          <a:spcPct val="90000"/>
        </a:lnSpc>
        <a:spcBef>
          <a:spcPct val="0"/>
        </a:spcBef>
        <a:buNone/>
        <a:defRPr sz="4400" kern="1200">
          <a:solidFill>
            <a:schemeClr val="tx1"/>
          </a:solidFill>
          <a:latin typeface="Times New Roman"/>
          <a:ea typeface="+mj-ea"/>
          <a:cs typeface="+mj-cs"/>
        </a:defRPr>
      </a:lvl1pPr>
    </p:titleStyle>
    <p:bodyStyle>
      <a:lvl1pPr marL="228600" indent="-228600" algn="l" defTabSz="914400" rtl="0" eaLnBrk="1" latinLnBrk="0" hangingPunct="1">
        <a:lnSpc>
          <a:spcPct val="90000"/>
        </a:lnSpc>
        <a:spcBef>
          <a:spcPts val="1000"/>
        </a:spcBef>
        <a:buFont typeface="Times New Roman" panose="020B0604020202020204" pitchFamily="34" charset="0"/>
        <a:buChar char="•"/>
        <a:defRPr sz="2800" kern="1200">
          <a:solidFill>
            <a:schemeClr val="tx1"/>
          </a:solidFill>
          <a:latin typeface="Times New Roman"/>
          <a:ea typeface="+mn-ea"/>
          <a:cs typeface="+mn-cs"/>
        </a:defRPr>
      </a:lvl1pPr>
      <a:lvl2pPr marL="685800" indent="-228600" algn="l" defTabSz="914400" rtl="0" eaLnBrk="1" latinLnBrk="0" hangingPunct="1">
        <a:lnSpc>
          <a:spcPct val="90000"/>
        </a:lnSpc>
        <a:spcBef>
          <a:spcPts val="500"/>
        </a:spcBef>
        <a:buFont typeface="Times New Roman" panose="020B0604020202020204" pitchFamily="34" charset="0"/>
        <a:buChar char="•"/>
        <a:defRPr sz="2400" kern="1200">
          <a:solidFill>
            <a:schemeClr val="tx1"/>
          </a:solidFill>
          <a:latin typeface="Times New Roman"/>
          <a:ea typeface="+mn-ea"/>
          <a:cs typeface="+mn-cs"/>
        </a:defRPr>
      </a:lvl2pPr>
      <a:lvl3pPr marL="1143000" indent="-228600" algn="l" defTabSz="914400" rtl="0" eaLnBrk="1" latinLnBrk="0" hangingPunct="1">
        <a:lnSpc>
          <a:spcPct val="90000"/>
        </a:lnSpc>
        <a:spcBef>
          <a:spcPts val="500"/>
        </a:spcBef>
        <a:buFont typeface="Times New Roman" panose="020B0604020202020204" pitchFamily="34" charset="0"/>
        <a:buChar char="•"/>
        <a:defRPr sz="2000" kern="1200">
          <a:solidFill>
            <a:schemeClr val="tx1"/>
          </a:solidFill>
          <a:latin typeface="Times New Roman"/>
          <a:ea typeface="+mn-ea"/>
          <a:cs typeface="+mn-cs"/>
        </a:defRPr>
      </a:lvl3pPr>
      <a:lvl4pPr marL="1600200" indent="-228600" algn="l" defTabSz="914400" rtl="0" eaLnBrk="1" latinLnBrk="0" hangingPunct="1">
        <a:lnSpc>
          <a:spcPct val="90000"/>
        </a:lnSpc>
        <a:spcBef>
          <a:spcPts val="500"/>
        </a:spcBef>
        <a:buFont typeface="Times New Roman" panose="020B0604020202020204" pitchFamily="34" charset="0"/>
        <a:buChar char="•"/>
        <a:defRPr sz="1800" kern="1200">
          <a:solidFill>
            <a:schemeClr val="tx1"/>
          </a:solidFill>
          <a:latin typeface="Times New Roman"/>
          <a:ea typeface="+mn-ea"/>
          <a:cs typeface="+mn-cs"/>
        </a:defRPr>
      </a:lvl4pPr>
      <a:lvl5pPr marL="2057400" indent="-228600" algn="l" defTabSz="914400" rtl="0" eaLnBrk="1" latinLnBrk="0" hangingPunct="1">
        <a:lnSpc>
          <a:spcPct val="90000"/>
        </a:lnSpc>
        <a:spcBef>
          <a:spcPts val="500"/>
        </a:spcBef>
        <a:buFont typeface="Times New Roman" panose="020B0604020202020204" pitchFamily="34" charset="0"/>
        <a:buChar char="•"/>
        <a:defRPr sz="1800" kern="1200">
          <a:solidFill>
            <a:schemeClr val="tx1"/>
          </a:solidFill>
          <a:latin typeface="Times New Roman"/>
          <a:ea typeface="+mn-ea"/>
          <a:cs typeface="+mn-cs"/>
        </a:defRPr>
      </a:lvl5pPr>
      <a:lvl6pPr marL="2514600" indent="-228600" algn="l" defTabSz="914400" rtl="0" eaLnBrk="1" latinLnBrk="0" hangingPunct="1">
        <a:lnSpc>
          <a:spcPct val="90000"/>
        </a:lnSpc>
        <a:spcBef>
          <a:spcPts val="500"/>
        </a:spcBef>
        <a:buFont typeface="Times New Roman" panose="020B0604020202020204" pitchFamily="34" charset="0"/>
        <a:buChar char="•"/>
        <a:defRPr sz="1800" kern="1200">
          <a:solidFill>
            <a:schemeClr val="tx1"/>
          </a:solidFill>
          <a:latin typeface="Times New Roman"/>
          <a:ea typeface="+mn-ea"/>
          <a:cs typeface="+mn-cs"/>
        </a:defRPr>
      </a:lvl6pPr>
      <a:lvl7pPr marL="2971800" indent="-228600" algn="l" defTabSz="914400" rtl="0" eaLnBrk="1" latinLnBrk="0" hangingPunct="1">
        <a:lnSpc>
          <a:spcPct val="90000"/>
        </a:lnSpc>
        <a:spcBef>
          <a:spcPts val="500"/>
        </a:spcBef>
        <a:buFont typeface="Times New Roman" panose="020B0604020202020204" pitchFamily="34" charset="0"/>
        <a:buChar char="•"/>
        <a:defRPr sz="1800" kern="1200">
          <a:solidFill>
            <a:schemeClr val="tx1"/>
          </a:solidFill>
          <a:latin typeface="Times New Roman"/>
          <a:ea typeface="+mn-ea"/>
          <a:cs typeface="+mn-cs"/>
        </a:defRPr>
      </a:lvl7pPr>
      <a:lvl8pPr marL="3429000" indent="-228600" algn="l" defTabSz="914400" rtl="0" eaLnBrk="1" latinLnBrk="0" hangingPunct="1">
        <a:lnSpc>
          <a:spcPct val="90000"/>
        </a:lnSpc>
        <a:spcBef>
          <a:spcPts val="500"/>
        </a:spcBef>
        <a:buFont typeface="Times New Roman" panose="020B0604020202020204" pitchFamily="34" charset="0"/>
        <a:buChar char="•"/>
        <a:defRPr sz="1800" kern="1200">
          <a:solidFill>
            <a:schemeClr val="tx1"/>
          </a:solidFill>
          <a:latin typeface="Times New Roman"/>
          <a:ea typeface="+mn-ea"/>
          <a:cs typeface="+mn-cs"/>
        </a:defRPr>
      </a:lvl8pPr>
      <a:lvl9pPr marL="3886200" indent="-228600" algn="l" defTabSz="914400" rtl="0" eaLnBrk="1" latinLnBrk="0" hangingPunct="1">
        <a:lnSpc>
          <a:spcPct val="90000"/>
        </a:lnSpc>
        <a:spcBef>
          <a:spcPts val="500"/>
        </a:spcBef>
        <a:buFont typeface="Times New Roman" panose="020B0604020202020204" pitchFamily="34" charset="0"/>
        <a:buChar char="•"/>
        <a:defRPr sz="1800" kern="1200">
          <a:solidFill>
            <a:schemeClr val="tx1"/>
          </a:solidFill>
          <a:latin typeface="Times New Roman"/>
          <a:ea typeface="+mn-ea"/>
          <a:cs typeface="+mn-cs"/>
        </a:defRPr>
      </a:lvl9pPr>
    </p:bodyStyle>
    <p:otherStyle>
      <a:defPPr>
        <a:defRPr lang="en-US"/>
      </a:defPPr>
      <a:lvl1pPr marL="0" algn="l" defTabSz="914400" rtl="0" eaLnBrk="1" latinLnBrk="0" hangingPunct="1">
        <a:defRPr sz="1800" kern="1200">
          <a:solidFill>
            <a:schemeClr val="tx1"/>
          </a:solidFill>
          <a:latin typeface="Times New Roman"/>
          <a:ea typeface="+mn-ea"/>
          <a:cs typeface="+mn-cs"/>
        </a:defRPr>
      </a:lvl1pPr>
      <a:lvl2pPr marL="457200" algn="l" defTabSz="914400" rtl="0" eaLnBrk="1" latinLnBrk="0" hangingPunct="1">
        <a:defRPr sz="1800" kern="1200">
          <a:solidFill>
            <a:schemeClr val="tx1"/>
          </a:solidFill>
          <a:latin typeface="Times New Roman"/>
          <a:ea typeface="+mn-ea"/>
          <a:cs typeface="+mn-cs"/>
        </a:defRPr>
      </a:lvl2pPr>
      <a:lvl3pPr marL="914400" algn="l" defTabSz="914400" rtl="0" eaLnBrk="1" latinLnBrk="0" hangingPunct="1">
        <a:defRPr sz="1800" kern="1200">
          <a:solidFill>
            <a:schemeClr val="tx1"/>
          </a:solidFill>
          <a:latin typeface="Times New Roman"/>
          <a:ea typeface="+mn-ea"/>
          <a:cs typeface="+mn-cs"/>
        </a:defRPr>
      </a:lvl3pPr>
      <a:lvl4pPr marL="1371600" algn="l" defTabSz="914400" rtl="0" eaLnBrk="1" latinLnBrk="0" hangingPunct="1">
        <a:defRPr sz="1800" kern="1200">
          <a:solidFill>
            <a:schemeClr val="tx1"/>
          </a:solidFill>
          <a:latin typeface="Times New Roman"/>
          <a:ea typeface="+mn-ea"/>
          <a:cs typeface="+mn-cs"/>
        </a:defRPr>
      </a:lvl4pPr>
      <a:lvl5pPr marL="1828800" algn="l" defTabSz="914400" rtl="0" eaLnBrk="1" latinLnBrk="0" hangingPunct="1">
        <a:defRPr sz="1800" kern="1200">
          <a:solidFill>
            <a:schemeClr val="tx1"/>
          </a:solidFill>
          <a:latin typeface="Times New Roman"/>
          <a:ea typeface="+mn-ea"/>
          <a:cs typeface="+mn-cs"/>
        </a:defRPr>
      </a:lvl5pPr>
      <a:lvl6pPr marL="2286000" algn="l" defTabSz="914400" rtl="0" eaLnBrk="1" latinLnBrk="0" hangingPunct="1">
        <a:defRPr sz="1800" kern="1200">
          <a:solidFill>
            <a:schemeClr val="tx1"/>
          </a:solidFill>
          <a:latin typeface="Times New Roman"/>
          <a:ea typeface="+mn-ea"/>
          <a:cs typeface="+mn-cs"/>
        </a:defRPr>
      </a:lvl6pPr>
      <a:lvl7pPr marL="2743200" algn="l" defTabSz="914400" rtl="0" eaLnBrk="1" latinLnBrk="0" hangingPunct="1">
        <a:defRPr sz="1800" kern="1200">
          <a:solidFill>
            <a:schemeClr val="tx1"/>
          </a:solidFill>
          <a:latin typeface="Times New Roman"/>
          <a:ea typeface="+mn-ea"/>
          <a:cs typeface="+mn-cs"/>
        </a:defRPr>
      </a:lvl7pPr>
      <a:lvl8pPr marL="3200400" algn="l" defTabSz="914400" rtl="0" eaLnBrk="1" latinLnBrk="0" hangingPunct="1">
        <a:defRPr sz="1800" kern="1200">
          <a:solidFill>
            <a:schemeClr val="tx1"/>
          </a:solidFill>
          <a:latin typeface="Times New Roman"/>
          <a:ea typeface="+mn-ea"/>
          <a:cs typeface="+mn-cs"/>
        </a:defRPr>
      </a:lvl8pPr>
      <a:lvl9pPr marL="3657600" algn="l" defTabSz="914400" rtl="0" eaLnBrk="1" latinLnBrk="0" hangingPunct="1">
        <a:defRPr sz="1800" kern="1200">
          <a:solidFill>
            <a:schemeClr val="tx1"/>
          </a:solidFill>
          <a:latin typeface="Times New Roman"/>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1371600" y="1651000"/>
            <a:ext cx="7924800" cy="635000"/>
          </a:xfrm>
          <a:prstGeom prst="rect">
            <a:avLst/>
          </a:prstGeom>
        </p:spPr>
        <p:txBody>
          <a:bodyPr wrap="square">
            <a:spAutoFit/>
          </a:bodyPr>
          <a:lstStyle/>
          <a:p>
            <a:pPr marL="342891" indent="-342891" algn="r" eaLnBrk="0" hangingPunct="0">
              <a:defRPr/>
            </a:pPr>
            <a:r>
              <a:rPr lang="en-IN" sz="3200" b="1">
                <a:solidFill>
                  <a:srgbClr val="FF0000"/>
                </a:solidFill>
                <a:latin typeface="Times New Roman" pitchFamily="34" charset="0"/>
              </a:rPr>
              <a:t>UE24CS320A</a:t>
            </a:r>
            <a:r>
              <a:rPr lang="en-IN" sz="3200"/>
              <a:t> </a:t>
            </a:r>
            <a:r>
              <a:rPr lang="en-IN" sz="3200" b="1" dirty="0">
                <a:solidFill>
                  <a:srgbClr val="FF0000"/>
                </a:solidFill>
                <a:latin typeface="Times New Roman" pitchFamily="34" charset="0"/>
              </a:rPr>
              <a:t>– Capstone Project Approval</a:t>
            </a:r>
            <a:endParaRPr lang="en-US" sz="2800" b="1" dirty="0">
              <a:solidFill>
                <a:srgbClr val="FF0000"/>
              </a:solidFill>
              <a:latin typeface="Times New Roman" pitchFamily="34" charset="0"/>
            </a:endParaRPr>
          </a:p>
        </p:txBody>
      </p:sp>
      <p:sp>
        <p:nvSpPr>
          <p:cNvPr id="3" name="TextBox 2"/>
          <p:cNvSpPr txBox="1"/>
          <p:nvPr/>
        </p:nvSpPr>
        <p:spPr>
          <a:xfrm>
            <a:off x="1397000" y="2730500"/>
            <a:ext cx="2413000" cy="1206500"/>
          </a:xfrm>
          <a:prstGeom prst="rect">
            <a:avLst/>
          </a:prstGeom>
          <a:noFill/>
        </p:spPr>
        <p:txBody>
          <a:bodyPr wrap="square" lIns="0" tIns="0" rIns="0" bIns="0" anchor="t">
            <a:spAutoFit/>
          </a:bodyPr>
          <a:lstStyle/>
          <a:p>
            <a:pPr algn="l">
              <a:spcAft>
                <a:spcPts val="400"/>
              </a:spcAft>
            </a:pPr>
            <a:r>
              <a:rPr sz="2400" b="1" i="0">
                <a:solidFill>
                  <a:srgbClr val="0033CC"/>
                </a:solidFill>
                <a:latin typeface="Times New Roman"/>
              </a:rPr>
              <a:t>Project Title</a:t>
            </a:r>
          </a:p>
        </p:txBody>
      </p:sp>
      <p:sp>
        <p:nvSpPr>
          <p:cNvPr id="4" name="TextBox 3"/>
          <p:cNvSpPr txBox="1"/>
          <p:nvPr/>
        </p:nvSpPr>
        <p:spPr>
          <a:xfrm>
            <a:off x="3840480" y="2730500"/>
            <a:ext cx="274320" cy="1206500"/>
          </a:xfrm>
          <a:prstGeom prst="rect">
            <a:avLst/>
          </a:prstGeom>
          <a:noFill/>
        </p:spPr>
        <p:txBody>
          <a:bodyPr wrap="square" lIns="0" tIns="0" rIns="0" bIns="0" anchor="t">
            <a:spAutoFit/>
          </a:bodyPr>
          <a:lstStyle/>
          <a:p>
            <a:pPr algn="l">
              <a:spcAft>
                <a:spcPts val="400"/>
              </a:spcAft>
            </a:pPr>
            <a:r>
              <a:rPr sz="2400" b="1" i="0">
                <a:solidFill>
                  <a:srgbClr val="0033CC"/>
                </a:solidFill>
                <a:latin typeface="Times New Roman"/>
              </a:rPr>
              <a:t>:</a:t>
            </a:r>
          </a:p>
        </p:txBody>
      </p:sp>
      <p:sp>
        <p:nvSpPr>
          <p:cNvPr id="5" name="TextBox 4"/>
          <p:cNvSpPr txBox="1"/>
          <p:nvPr/>
        </p:nvSpPr>
        <p:spPr>
          <a:xfrm>
            <a:off x="4114800" y="2730500"/>
            <a:ext cx="7620000" cy="1206500"/>
          </a:xfrm>
          <a:prstGeom prst="rect">
            <a:avLst/>
          </a:prstGeom>
          <a:noFill/>
        </p:spPr>
        <p:txBody>
          <a:bodyPr wrap="square" lIns="0" tIns="0" rIns="0" bIns="0" anchor="t">
            <a:spAutoFit/>
          </a:bodyPr>
          <a:lstStyle/>
          <a:p>
            <a:pPr algn="l">
              <a:spcAft>
                <a:spcPts val="400"/>
              </a:spcAft>
            </a:pPr>
            <a:r>
              <a:rPr sz="2400" b="0" i="0">
                <a:solidFill>
                  <a:srgbClr val="1A1A1A"/>
                </a:solidFill>
                <a:latin typeface="Times New Roman"/>
              </a:rPr>
              <a:t>ChokePoint: A Graph-Based Spatio-Temporal Framework for Structural Bottleneck-Aware Crowd Risk Prediction and Intervention</a:t>
            </a:r>
          </a:p>
        </p:txBody>
      </p:sp>
      <p:sp>
        <p:nvSpPr>
          <p:cNvPr id="6" name="TextBox 5"/>
          <p:cNvSpPr txBox="1"/>
          <p:nvPr/>
        </p:nvSpPr>
        <p:spPr>
          <a:xfrm>
            <a:off x="1397000" y="4038600"/>
            <a:ext cx="2413000" cy="369332"/>
          </a:xfrm>
          <a:prstGeom prst="rect">
            <a:avLst/>
          </a:prstGeom>
          <a:noFill/>
        </p:spPr>
        <p:txBody>
          <a:bodyPr wrap="square" lIns="0" tIns="0" rIns="0" bIns="0" anchor="t">
            <a:spAutoFit/>
          </a:bodyPr>
          <a:lstStyle/>
          <a:p>
            <a:pPr algn="l">
              <a:spcAft>
                <a:spcPts val="400"/>
              </a:spcAft>
            </a:pPr>
            <a:r>
              <a:rPr lang="en-IN" sz="2400" b="1" dirty="0">
                <a:solidFill>
                  <a:srgbClr val="0033CC"/>
                </a:solidFill>
                <a:latin typeface="Times New Roman"/>
              </a:rPr>
              <a:t>Team Number</a:t>
            </a:r>
            <a:endParaRPr sz="2400" b="1" i="0" dirty="0">
              <a:solidFill>
                <a:srgbClr val="0033CC"/>
              </a:solidFill>
              <a:latin typeface="Times New Roman"/>
            </a:endParaRPr>
          </a:p>
        </p:txBody>
      </p:sp>
      <p:sp>
        <p:nvSpPr>
          <p:cNvPr id="7" name="TextBox 6"/>
          <p:cNvSpPr txBox="1"/>
          <p:nvPr/>
        </p:nvSpPr>
        <p:spPr>
          <a:xfrm>
            <a:off x="3840480" y="4038600"/>
            <a:ext cx="274320" cy="431800"/>
          </a:xfrm>
          <a:prstGeom prst="rect">
            <a:avLst/>
          </a:prstGeom>
          <a:noFill/>
        </p:spPr>
        <p:txBody>
          <a:bodyPr wrap="square" lIns="0" tIns="0" rIns="0" bIns="0" anchor="t">
            <a:spAutoFit/>
          </a:bodyPr>
          <a:lstStyle/>
          <a:p>
            <a:pPr algn="l">
              <a:spcAft>
                <a:spcPts val="400"/>
              </a:spcAft>
            </a:pPr>
            <a:r>
              <a:rPr sz="2400" b="1" i="0">
                <a:solidFill>
                  <a:srgbClr val="0033CC"/>
                </a:solidFill>
                <a:latin typeface="Times New Roman"/>
              </a:rPr>
              <a:t>:</a:t>
            </a:r>
          </a:p>
        </p:txBody>
      </p:sp>
      <p:sp>
        <p:nvSpPr>
          <p:cNvPr id="8" name="TextBox 7"/>
          <p:cNvSpPr txBox="1"/>
          <p:nvPr/>
        </p:nvSpPr>
        <p:spPr>
          <a:xfrm>
            <a:off x="4114800" y="4038600"/>
            <a:ext cx="7620000" cy="369332"/>
          </a:xfrm>
          <a:prstGeom prst="rect">
            <a:avLst/>
          </a:prstGeom>
          <a:noFill/>
        </p:spPr>
        <p:txBody>
          <a:bodyPr wrap="square" lIns="0" tIns="0" rIns="0" bIns="0" anchor="t">
            <a:spAutoFit/>
          </a:bodyPr>
          <a:lstStyle/>
          <a:p>
            <a:pPr algn="l">
              <a:spcAft>
                <a:spcPts val="400"/>
              </a:spcAft>
            </a:pPr>
            <a:r>
              <a:rPr lang="en-IN" sz="2400" dirty="0">
                <a:solidFill>
                  <a:srgbClr val="1A1A1A"/>
                </a:solidFill>
                <a:latin typeface="Times New Roman"/>
              </a:rPr>
              <a:t>169</a:t>
            </a:r>
            <a:endParaRPr sz="2400" b="0" i="0" dirty="0">
              <a:solidFill>
                <a:srgbClr val="1A1A1A"/>
              </a:solidFill>
              <a:latin typeface="Times New Roman"/>
            </a:endParaRPr>
          </a:p>
        </p:txBody>
      </p:sp>
      <p:sp>
        <p:nvSpPr>
          <p:cNvPr id="9" name="TextBox 8"/>
          <p:cNvSpPr txBox="1"/>
          <p:nvPr/>
        </p:nvSpPr>
        <p:spPr>
          <a:xfrm>
            <a:off x="1397000" y="4572000"/>
            <a:ext cx="2413000" cy="431800"/>
          </a:xfrm>
          <a:prstGeom prst="rect">
            <a:avLst/>
          </a:prstGeom>
          <a:noFill/>
        </p:spPr>
        <p:txBody>
          <a:bodyPr wrap="square" lIns="0" tIns="0" rIns="0" bIns="0" anchor="t">
            <a:spAutoFit/>
          </a:bodyPr>
          <a:lstStyle/>
          <a:p>
            <a:pPr algn="l">
              <a:spcAft>
                <a:spcPts val="400"/>
              </a:spcAft>
            </a:pPr>
            <a:r>
              <a:rPr sz="2400" b="1" i="0">
                <a:solidFill>
                  <a:srgbClr val="0033CC"/>
                </a:solidFill>
                <a:latin typeface="Times New Roman"/>
              </a:rPr>
              <a:t>Project Guide</a:t>
            </a:r>
          </a:p>
        </p:txBody>
      </p:sp>
      <p:sp>
        <p:nvSpPr>
          <p:cNvPr id="10" name="TextBox 9"/>
          <p:cNvSpPr txBox="1"/>
          <p:nvPr/>
        </p:nvSpPr>
        <p:spPr>
          <a:xfrm>
            <a:off x="3840480" y="4572000"/>
            <a:ext cx="274320" cy="431800"/>
          </a:xfrm>
          <a:prstGeom prst="rect">
            <a:avLst/>
          </a:prstGeom>
          <a:noFill/>
        </p:spPr>
        <p:txBody>
          <a:bodyPr wrap="square" lIns="0" tIns="0" rIns="0" bIns="0" anchor="t">
            <a:spAutoFit/>
          </a:bodyPr>
          <a:lstStyle/>
          <a:p>
            <a:pPr algn="l">
              <a:spcAft>
                <a:spcPts val="400"/>
              </a:spcAft>
            </a:pPr>
            <a:r>
              <a:rPr sz="2400" b="1" i="0">
                <a:solidFill>
                  <a:srgbClr val="0033CC"/>
                </a:solidFill>
                <a:latin typeface="Times New Roman"/>
              </a:rPr>
              <a:t>:</a:t>
            </a:r>
          </a:p>
        </p:txBody>
      </p:sp>
      <p:sp>
        <p:nvSpPr>
          <p:cNvPr id="11" name="TextBox 10"/>
          <p:cNvSpPr txBox="1"/>
          <p:nvPr/>
        </p:nvSpPr>
        <p:spPr>
          <a:xfrm>
            <a:off x="4114800" y="4572000"/>
            <a:ext cx="7620000" cy="369332"/>
          </a:xfrm>
          <a:prstGeom prst="rect">
            <a:avLst/>
          </a:prstGeom>
          <a:noFill/>
        </p:spPr>
        <p:txBody>
          <a:bodyPr wrap="square" lIns="0" tIns="0" rIns="0" bIns="0" anchor="t">
            <a:spAutoFit/>
          </a:bodyPr>
          <a:lstStyle/>
          <a:p>
            <a:pPr algn="l">
              <a:spcAft>
                <a:spcPts val="400"/>
              </a:spcAft>
            </a:pPr>
            <a:r>
              <a:rPr sz="2400" b="0" i="0" dirty="0">
                <a:solidFill>
                  <a:srgbClr val="1A1A1A"/>
                </a:solidFill>
                <a:latin typeface="Times New Roman"/>
              </a:rPr>
              <a:t>Prof. </a:t>
            </a:r>
            <a:r>
              <a:rPr lang="en-IN" sz="2400" dirty="0" err="1">
                <a:solidFill>
                  <a:srgbClr val="1A1A1A"/>
                </a:solidFill>
                <a:latin typeface="Times New Roman"/>
              </a:rPr>
              <a:t>Swathi</a:t>
            </a:r>
            <a:r>
              <a:rPr lang="en-IN" sz="2400" dirty="0">
                <a:solidFill>
                  <a:srgbClr val="1A1A1A"/>
                </a:solidFill>
                <a:latin typeface="Times New Roman"/>
              </a:rPr>
              <a:t> </a:t>
            </a:r>
            <a:r>
              <a:rPr lang="en-IN" sz="2400" dirty="0" err="1">
                <a:solidFill>
                  <a:srgbClr val="1A1A1A"/>
                </a:solidFill>
                <a:latin typeface="Times New Roman"/>
              </a:rPr>
              <a:t>Priya</a:t>
            </a:r>
            <a:r>
              <a:rPr lang="en-IN" sz="2400" dirty="0">
                <a:solidFill>
                  <a:srgbClr val="1A1A1A"/>
                </a:solidFill>
                <a:latin typeface="Times New Roman"/>
              </a:rPr>
              <a:t> N</a:t>
            </a:r>
            <a:endParaRPr sz="2400" b="0" i="0" dirty="0">
              <a:solidFill>
                <a:srgbClr val="1A1A1A"/>
              </a:solidFill>
              <a:latin typeface="Times New Roman"/>
            </a:endParaRPr>
          </a:p>
        </p:txBody>
      </p:sp>
      <p:sp>
        <p:nvSpPr>
          <p:cNvPr id="12" name="TextBox 11"/>
          <p:cNvSpPr txBox="1"/>
          <p:nvPr/>
        </p:nvSpPr>
        <p:spPr>
          <a:xfrm>
            <a:off x="1397000" y="5105400"/>
            <a:ext cx="2413000" cy="889000"/>
          </a:xfrm>
          <a:prstGeom prst="rect">
            <a:avLst/>
          </a:prstGeom>
          <a:noFill/>
        </p:spPr>
        <p:txBody>
          <a:bodyPr wrap="square" lIns="0" tIns="0" rIns="0" bIns="0" anchor="t">
            <a:spAutoFit/>
          </a:bodyPr>
          <a:lstStyle/>
          <a:p>
            <a:pPr algn="l">
              <a:spcAft>
                <a:spcPts val="400"/>
              </a:spcAft>
            </a:pPr>
            <a:r>
              <a:rPr sz="2400" b="1" i="0">
                <a:solidFill>
                  <a:srgbClr val="0033CC"/>
                </a:solidFill>
                <a:latin typeface="Times New Roman"/>
              </a:rPr>
              <a:t>Project Team</a:t>
            </a:r>
          </a:p>
        </p:txBody>
      </p:sp>
      <p:sp>
        <p:nvSpPr>
          <p:cNvPr id="13" name="TextBox 12"/>
          <p:cNvSpPr txBox="1"/>
          <p:nvPr/>
        </p:nvSpPr>
        <p:spPr>
          <a:xfrm>
            <a:off x="3840480" y="5105400"/>
            <a:ext cx="274320" cy="889000"/>
          </a:xfrm>
          <a:prstGeom prst="rect">
            <a:avLst/>
          </a:prstGeom>
          <a:noFill/>
        </p:spPr>
        <p:txBody>
          <a:bodyPr wrap="square" lIns="0" tIns="0" rIns="0" bIns="0" anchor="t">
            <a:spAutoFit/>
          </a:bodyPr>
          <a:lstStyle/>
          <a:p>
            <a:pPr algn="l">
              <a:spcAft>
                <a:spcPts val="400"/>
              </a:spcAft>
            </a:pPr>
            <a:r>
              <a:rPr sz="2400" b="1" i="0">
                <a:solidFill>
                  <a:srgbClr val="0033CC"/>
                </a:solidFill>
                <a:latin typeface="Times New Roman"/>
              </a:rPr>
              <a:t>:</a:t>
            </a:r>
          </a:p>
        </p:txBody>
      </p:sp>
      <p:sp>
        <p:nvSpPr>
          <p:cNvPr id="14" name="TextBox 13"/>
          <p:cNvSpPr txBox="1"/>
          <p:nvPr/>
        </p:nvSpPr>
        <p:spPr>
          <a:xfrm>
            <a:off x="4114800" y="5105400"/>
            <a:ext cx="7620000" cy="1631216"/>
          </a:xfrm>
          <a:prstGeom prst="rect">
            <a:avLst/>
          </a:prstGeom>
          <a:noFill/>
        </p:spPr>
        <p:txBody>
          <a:bodyPr wrap="square" lIns="0" tIns="0" rIns="0" bIns="0" anchor="t">
            <a:spAutoFit/>
          </a:bodyPr>
          <a:lstStyle/>
          <a:p>
            <a:pPr algn="l">
              <a:spcAft>
                <a:spcPts val="400"/>
              </a:spcAft>
            </a:pPr>
            <a:r>
              <a:rPr lang="en-IN" sz="2400" dirty="0" err="1">
                <a:solidFill>
                  <a:srgbClr val="1A1A1A"/>
                </a:solidFill>
                <a:latin typeface="Times New Roman"/>
              </a:rPr>
              <a:t>Rehan</a:t>
            </a:r>
            <a:r>
              <a:rPr lang="en-IN" sz="2400" dirty="0">
                <a:solidFill>
                  <a:srgbClr val="1A1A1A"/>
                </a:solidFill>
                <a:latin typeface="Times New Roman"/>
              </a:rPr>
              <a:t> S </a:t>
            </a:r>
            <a:r>
              <a:rPr lang="en-IN" sz="2400" dirty="0" err="1">
                <a:solidFill>
                  <a:srgbClr val="1A1A1A"/>
                </a:solidFill>
                <a:latin typeface="Times New Roman"/>
              </a:rPr>
              <a:t>Bawakhan</a:t>
            </a:r>
            <a:r>
              <a:rPr sz="2400" b="0" i="0" dirty="0">
                <a:solidFill>
                  <a:srgbClr val="1A1A1A"/>
                </a:solidFill>
                <a:latin typeface="Times New Roman"/>
              </a:rPr>
              <a:t> – </a:t>
            </a:r>
            <a:r>
              <a:rPr lang="en-IN" sz="2400" dirty="0">
                <a:solidFill>
                  <a:srgbClr val="1A1A1A"/>
                </a:solidFill>
                <a:latin typeface="Times New Roman"/>
              </a:rPr>
              <a:t>PES2UG25CS820</a:t>
            </a:r>
          </a:p>
          <a:p>
            <a:pPr algn="l">
              <a:spcAft>
                <a:spcPts val="400"/>
              </a:spcAft>
            </a:pPr>
            <a:r>
              <a:rPr lang="en-IN" sz="2400" b="0" i="0" dirty="0">
                <a:solidFill>
                  <a:srgbClr val="1A1A1A"/>
                </a:solidFill>
                <a:latin typeface="Times New Roman"/>
              </a:rPr>
              <a:t>Yellapantula Venkata Prateek – PES2UG24CS617</a:t>
            </a:r>
          </a:p>
          <a:p>
            <a:pPr algn="l">
              <a:spcAft>
                <a:spcPts val="400"/>
              </a:spcAft>
            </a:pPr>
            <a:r>
              <a:rPr lang="en-IN" sz="2400" b="0" i="0" dirty="0">
                <a:solidFill>
                  <a:srgbClr val="1A1A1A"/>
                </a:solidFill>
                <a:latin typeface="Times New Roman"/>
              </a:rPr>
              <a:t>Yellapantula Venkata Pranav – PES2UG24CS616</a:t>
            </a:r>
          </a:p>
          <a:p>
            <a:pPr algn="l">
              <a:spcAft>
                <a:spcPts val="400"/>
              </a:spcAft>
            </a:pPr>
            <a:r>
              <a:rPr lang="en-IN" sz="2400" b="0" i="0" dirty="0">
                <a:solidFill>
                  <a:srgbClr val="1A1A1A"/>
                </a:solidFill>
                <a:latin typeface="Times New Roman"/>
              </a:rPr>
              <a:t>Yaseen Mulla – PES2UG24CS607</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imes New Roman" pitchFamily="34" charset="0"/>
              </a:rPr>
              <a:t>Outline</a:t>
            </a:r>
          </a:p>
        </p:txBody>
      </p:sp>
      <p:sp>
        <p:nvSpPr>
          <p:cNvPr id="15" name="Oval 14"/>
          <p:cNvSpPr/>
          <p:nvPr/>
        </p:nvSpPr>
        <p:spPr>
          <a:xfrm>
            <a:off x="904794" y="1701800"/>
            <a:ext cx="571946" cy="571946"/>
          </a:xfrm>
          <a:prstGeom prst="ellipse">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Times New Roman"/>
              </a:rPr>
              <a:t>1</a:t>
            </a:r>
          </a:p>
        </p:txBody>
      </p:sp>
      <p:sp>
        <p:nvSpPr>
          <p:cNvPr id="16" name="TextBox 15"/>
          <p:cNvSpPr txBox="1"/>
          <p:nvPr/>
        </p:nvSpPr>
        <p:spPr>
          <a:xfrm>
            <a:off x="1667388" y="1637040"/>
            <a:ext cx="4670893" cy="701467"/>
          </a:xfrm>
          <a:prstGeom prst="rect">
            <a:avLst/>
          </a:prstGeom>
          <a:noFill/>
        </p:spPr>
        <p:txBody>
          <a:bodyPr wrap="square" lIns="0" tIns="0" rIns="0" bIns="0" anchor="ctr">
            <a:spAutoFit/>
          </a:bodyPr>
          <a:lstStyle/>
          <a:p>
            <a:pPr algn="l">
              <a:spcAft>
                <a:spcPts val="400"/>
              </a:spcAft>
            </a:pPr>
            <a:r>
              <a:rPr sz="2200" b="0" i="0">
                <a:solidFill>
                  <a:srgbClr val="0033CC"/>
                </a:solidFill>
                <a:latin typeface="Times New Roman"/>
              </a:rPr>
              <a:t>Problem Statement</a:t>
            </a:r>
          </a:p>
        </p:txBody>
      </p:sp>
      <p:sp>
        <p:nvSpPr>
          <p:cNvPr id="17" name="Oval 16"/>
          <p:cNvSpPr/>
          <p:nvPr/>
        </p:nvSpPr>
        <p:spPr>
          <a:xfrm>
            <a:off x="904794" y="2777383"/>
            <a:ext cx="571946" cy="571946"/>
          </a:xfrm>
          <a:prstGeom prst="ellipse">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Times New Roman"/>
              </a:rPr>
              <a:t>2</a:t>
            </a:r>
          </a:p>
        </p:txBody>
      </p:sp>
      <p:sp>
        <p:nvSpPr>
          <p:cNvPr id="18" name="TextBox 17"/>
          <p:cNvSpPr txBox="1"/>
          <p:nvPr/>
        </p:nvSpPr>
        <p:spPr>
          <a:xfrm>
            <a:off x="1667388" y="2712623"/>
            <a:ext cx="4670893" cy="701467"/>
          </a:xfrm>
          <a:prstGeom prst="rect">
            <a:avLst/>
          </a:prstGeom>
          <a:noFill/>
        </p:spPr>
        <p:txBody>
          <a:bodyPr wrap="square" lIns="0" tIns="0" rIns="0" bIns="0" anchor="ctr">
            <a:spAutoFit/>
          </a:bodyPr>
          <a:lstStyle/>
          <a:p>
            <a:pPr algn="l">
              <a:spcAft>
                <a:spcPts val="400"/>
              </a:spcAft>
            </a:pPr>
            <a:r>
              <a:rPr sz="2200" b="0" i="0">
                <a:solidFill>
                  <a:srgbClr val="0033CC"/>
                </a:solidFill>
                <a:latin typeface="Times New Roman"/>
              </a:rPr>
              <a:t>Scope and Feasibility Study</a:t>
            </a:r>
          </a:p>
        </p:txBody>
      </p:sp>
      <p:sp>
        <p:nvSpPr>
          <p:cNvPr id="19" name="Oval 18"/>
          <p:cNvSpPr/>
          <p:nvPr/>
        </p:nvSpPr>
        <p:spPr>
          <a:xfrm>
            <a:off x="904794" y="3852966"/>
            <a:ext cx="571946" cy="571946"/>
          </a:xfrm>
          <a:prstGeom prst="ellipse">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Times New Roman"/>
              </a:rPr>
              <a:t>3</a:t>
            </a:r>
          </a:p>
        </p:txBody>
      </p:sp>
      <p:sp>
        <p:nvSpPr>
          <p:cNvPr id="20" name="TextBox 19"/>
          <p:cNvSpPr txBox="1"/>
          <p:nvPr/>
        </p:nvSpPr>
        <p:spPr>
          <a:xfrm>
            <a:off x="1667388" y="3788206"/>
            <a:ext cx="4670893" cy="701467"/>
          </a:xfrm>
          <a:prstGeom prst="rect">
            <a:avLst/>
          </a:prstGeom>
          <a:noFill/>
        </p:spPr>
        <p:txBody>
          <a:bodyPr wrap="square" lIns="0" tIns="0" rIns="0" bIns="0" anchor="ctr">
            <a:spAutoFit/>
          </a:bodyPr>
          <a:lstStyle/>
          <a:p>
            <a:pPr algn="l">
              <a:spcAft>
                <a:spcPts val="400"/>
              </a:spcAft>
            </a:pPr>
            <a:r>
              <a:rPr sz="2200" b="0" i="0">
                <a:solidFill>
                  <a:srgbClr val="0033CC"/>
                </a:solidFill>
                <a:latin typeface="Times New Roman"/>
              </a:rPr>
              <a:t>Background</a:t>
            </a:r>
          </a:p>
        </p:txBody>
      </p:sp>
      <p:sp>
        <p:nvSpPr>
          <p:cNvPr id="21" name="Oval 20"/>
          <p:cNvSpPr/>
          <p:nvPr/>
        </p:nvSpPr>
        <p:spPr>
          <a:xfrm>
            <a:off x="904794" y="4928549"/>
            <a:ext cx="571946" cy="571946"/>
          </a:xfrm>
          <a:prstGeom prst="ellipse">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Times New Roman"/>
              </a:rPr>
              <a:t>4</a:t>
            </a:r>
          </a:p>
        </p:txBody>
      </p:sp>
      <p:sp>
        <p:nvSpPr>
          <p:cNvPr id="22" name="TextBox 21"/>
          <p:cNvSpPr txBox="1"/>
          <p:nvPr/>
        </p:nvSpPr>
        <p:spPr>
          <a:xfrm>
            <a:off x="1667388" y="4863789"/>
            <a:ext cx="4670893" cy="701467"/>
          </a:xfrm>
          <a:prstGeom prst="rect">
            <a:avLst/>
          </a:prstGeom>
          <a:noFill/>
        </p:spPr>
        <p:txBody>
          <a:bodyPr wrap="square" lIns="0" tIns="0" rIns="0" bIns="0" anchor="ctr">
            <a:spAutoFit/>
          </a:bodyPr>
          <a:lstStyle/>
          <a:p>
            <a:pPr algn="l">
              <a:spcAft>
                <a:spcPts val="400"/>
              </a:spcAft>
            </a:pPr>
            <a:r>
              <a:rPr sz="2200" b="0" i="0">
                <a:solidFill>
                  <a:srgbClr val="0033CC"/>
                </a:solidFill>
                <a:latin typeface="Times New Roman"/>
              </a:rPr>
              <a:t>Background Work</a:t>
            </a:r>
          </a:p>
        </p:txBody>
      </p:sp>
      <p:sp>
        <p:nvSpPr>
          <p:cNvPr id="23" name="Oval 22"/>
          <p:cNvSpPr/>
          <p:nvPr/>
        </p:nvSpPr>
        <p:spPr>
          <a:xfrm>
            <a:off x="904794" y="6004132"/>
            <a:ext cx="571946" cy="571946"/>
          </a:xfrm>
          <a:prstGeom prst="ellipse">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Times New Roman"/>
              </a:rPr>
              <a:t>5</a:t>
            </a:r>
          </a:p>
        </p:txBody>
      </p:sp>
      <p:sp>
        <p:nvSpPr>
          <p:cNvPr id="24" name="TextBox 23"/>
          <p:cNvSpPr txBox="1"/>
          <p:nvPr/>
        </p:nvSpPr>
        <p:spPr>
          <a:xfrm>
            <a:off x="1667388" y="5939372"/>
            <a:ext cx="4670893" cy="701467"/>
          </a:xfrm>
          <a:prstGeom prst="rect">
            <a:avLst/>
          </a:prstGeom>
          <a:noFill/>
        </p:spPr>
        <p:txBody>
          <a:bodyPr wrap="square" lIns="0" tIns="0" rIns="0" bIns="0" anchor="ctr">
            <a:spAutoFit/>
          </a:bodyPr>
          <a:lstStyle/>
          <a:p>
            <a:pPr algn="l">
              <a:spcAft>
                <a:spcPts val="400"/>
              </a:spcAft>
            </a:pPr>
            <a:r>
              <a:rPr sz="2200" b="0" i="0">
                <a:solidFill>
                  <a:srgbClr val="0033CC"/>
                </a:solidFill>
                <a:latin typeface="Times New Roman"/>
              </a:rPr>
              <a:t>Proposed Approach</a:t>
            </a:r>
          </a:p>
        </p:txBody>
      </p:sp>
      <p:sp>
        <p:nvSpPr>
          <p:cNvPr id="25" name="Oval 24"/>
          <p:cNvSpPr/>
          <p:nvPr/>
        </p:nvSpPr>
        <p:spPr>
          <a:xfrm>
            <a:off x="6528931" y="1701800"/>
            <a:ext cx="571946" cy="571946"/>
          </a:xfrm>
          <a:prstGeom prst="ellipse">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Times New Roman"/>
              </a:rPr>
              <a:t>6</a:t>
            </a:r>
          </a:p>
        </p:txBody>
      </p:sp>
      <p:sp>
        <p:nvSpPr>
          <p:cNvPr id="26" name="TextBox 25"/>
          <p:cNvSpPr txBox="1"/>
          <p:nvPr/>
        </p:nvSpPr>
        <p:spPr>
          <a:xfrm>
            <a:off x="7291526" y="1637040"/>
            <a:ext cx="4670893" cy="701467"/>
          </a:xfrm>
          <a:prstGeom prst="rect">
            <a:avLst/>
          </a:prstGeom>
          <a:noFill/>
        </p:spPr>
        <p:txBody>
          <a:bodyPr wrap="square" lIns="0" tIns="0" rIns="0" bIns="0" anchor="ctr">
            <a:spAutoFit/>
          </a:bodyPr>
          <a:lstStyle/>
          <a:p>
            <a:pPr algn="l">
              <a:spcAft>
                <a:spcPts val="400"/>
              </a:spcAft>
            </a:pPr>
            <a:r>
              <a:rPr sz="2200" b="0" i="0">
                <a:solidFill>
                  <a:srgbClr val="0033CC"/>
                </a:solidFill>
                <a:latin typeface="Times New Roman"/>
              </a:rPr>
              <a:t>Applications / Use Cases</a:t>
            </a:r>
          </a:p>
        </p:txBody>
      </p:sp>
      <p:sp>
        <p:nvSpPr>
          <p:cNvPr id="27" name="Oval 26"/>
          <p:cNvSpPr/>
          <p:nvPr/>
        </p:nvSpPr>
        <p:spPr>
          <a:xfrm>
            <a:off x="6528931" y="2777383"/>
            <a:ext cx="571946" cy="571946"/>
          </a:xfrm>
          <a:prstGeom prst="ellipse">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Times New Roman"/>
              </a:rPr>
              <a:t>7</a:t>
            </a:r>
          </a:p>
        </p:txBody>
      </p:sp>
      <p:sp>
        <p:nvSpPr>
          <p:cNvPr id="28" name="TextBox 27"/>
          <p:cNvSpPr txBox="1"/>
          <p:nvPr/>
        </p:nvSpPr>
        <p:spPr>
          <a:xfrm>
            <a:off x="7291526" y="2712623"/>
            <a:ext cx="4670893" cy="701467"/>
          </a:xfrm>
          <a:prstGeom prst="rect">
            <a:avLst/>
          </a:prstGeom>
          <a:noFill/>
        </p:spPr>
        <p:txBody>
          <a:bodyPr wrap="square" lIns="0" tIns="0" rIns="0" bIns="0" anchor="ctr">
            <a:spAutoFit/>
          </a:bodyPr>
          <a:lstStyle/>
          <a:p>
            <a:pPr algn="l">
              <a:spcAft>
                <a:spcPts val="400"/>
              </a:spcAft>
            </a:pPr>
            <a:r>
              <a:rPr sz="2200" b="0" i="0">
                <a:solidFill>
                  <a:srgbClr val="0033CC"/>
                </a:solidFill>
                <a:latin typeface="Times New Roman"/>
              </a:rPr>
              <a:t>Expected Deliverables</a:t>
            </a:r>
          </a:p>
        </p:txBody>
      </p:sp>
      <p:sp>
        <p:nvSpPr>
          <p:cNvPr id="29" name="Oval 28"/>
          <p:cNvSpPr/>
          <p:nvPr/>
        </p:nvSpPr>
        <p:spPr>
          <a:xfrm>
            <a:off x="6528931" y="3852966"/>
            <a:ext cx="571946" cy="571946"/>
          </a:xfrm>
          <a:prstGeom prst="ellipse">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Times New Roman"/>
              </a:rPr>
              <a:t>8</a:t>
            </a:r>
          </a:p>
        </p:txBody>
      </p:sp>
      <p:sp>
        <p:nvSpPr>
          <p:cNvPr id="30" name="TextBox 29"/>
          <p:cNvSpPr txBox="1"/>
          <p:nvPr/>
        </p:nvSpPr>
        <p:spPr>
          <a:xfrm>
            <a:off x="7291526" y="3788206"/>
            <a:ext cx="4670893" cy="701467"/>
          </a:xfrm>
          <a:prstGeom prst="rect">
            <a:avLst/>
          </a:prstGeom>
          <a:noFill/>
        </p:spPr>
        <p:txBody>
          <a:bodyPr wrap="square" lIns="0" tIns="0" rIns="0" bIns="0" anchor="ctr">
            <a:spAutoFit/>
          </a:bodyPr>
          <a:lstStyle/>
          <a:p>
            <a:pPr algn="l">
              <a:spcAft>
                <a:spcPts val="400"/>
              </a:spcAft>
            </a:pPr>
            <a:r>
              <a:rPr sz="2200" b="0" i="0">
                <a:solidFill>
                  <a:srgbClr val="0033CC"/>
                </a:solidFill>
                <a:latin typeface="Times New Roman"/>
              </a:rPr>
              <a:t>Capstone (Phase-I, II &amp; III) Project Timeline</a:t>
            </a:r>
          </a:p>
        </p:txBody>
      </p:sp>
      <p:sp>
        <p:nvSpPr>
          <p:cNvPr id="31" name="Oval 30"/>
          <p:cNvSpPr/>
          <p:nvPr/>
        </p:nvSpPr>
        <p:spPr>
          <a:xfrm>
            <a:off x="6528931" y="4928549"/>
            <a:ext cx="571946" cy="571946"/>
          </a:xfrm>
          <a:prstGeom prst="ellipse">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Times New Roman"/>
              </a:rPr>
              <a:t>9</a:t>
            </a:r>
          </a:p>
        </p:txBody>
      </p:sp>
      <p:sp>
        <p:nvSpPr>
          <p:cNvPr id="32" name="TextBox 31"/>
          <p:cNvSpPr txBox="1"/>
          <p:nvPr/>
        </p:nvSpPr>
        <p:spPr>
          <a:xfrm>
            <a:off x="7291526" y="4863789"/>
            <a:ext cx="4670893" cy="701467"/>
          </a:xfrm>
          <a:prstGeom prst="rect">
            <a:avLst/>
          </a:prstGeom>
          <a:noFill/>
        </p:spPr>
        <p:txBody>
          <a:bodyPr wrap="square" lIns="0" tIns="0" rIns="0" bIns="0" anchor="ctr">
            <a:spAutoFit/>
          </a:bodyPr>
          <a:lstStyle/>
          <a:p>
            <a:pPr algn="l">
              <a:spcAft>
                <a:spcPts val="400"/>
              </a:spcAft>
            </a:pPr>
            <a:r>
              <a:rPr sz="2200" b="0" i="0">
                <a:solidFill>
                  <a:srgbClr val="0033CC"/>
                </a:solidFill>
                <a:latin typeface="Times New Roman"/>
              </a:rPr>
              <a:t>Effort Split by Team Member</a:t>
            </a:r>
          </a:p>
        </p:txBody>
      </p:sp>
      <p:sp>
        <p:nvSpPr>
          <p:cNvPr id="33" name="Oval 32"/>
          <p:cNvSpPr/>
          <p:nvPr/>
        </p:nvSpPr>
        <p:spPr>
          <a:xfrm>
            <a:off x="6528931" y="6004132"/>
            <a:ext cx="571946" cy="571946"/>
          </a:xfrm>
          <a:prstGeom prst="ellipse">
            <a:avLst/>
          </a:prstGeom>
          <a:solidFill>
            <a:srgbClr val="33CCCC"/>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a:r>
              <a:rPr sz="1800" b="1">
                <a:solidFill>
                  <a:srgbClr val="FFFFFF"/>
                </a:solidFill>
                <a:latin typeface="Times New Roman"/>
              </a:rPr>
              <a:t>10</a:t>
            </a:r>
          </a:p>
        </p:txBody>
      </p:sp>
      <p:sp>
        <p:nvSpPr>
          <p:cNvPr id="34" name="TextBox 33"/>
          <p:cNvSpPr txBox="1"/>
          <p:nvPr/>
        </p:nvSpPr>
        <p:spPr>
          <a:xfrm>
            <a:off x="7291526" y="5939372"/>
            <a:ext cx="4670893" cy="701467"/>
          </a:xfrm>
          <a:prstGeom prst="rect">
            <a:avLst/>
          </a:prstGeom>
          <a:noFill/>
        </p:spPr>
        <p:txBody>
          <a:bodyPr wrap="square" lIns="0" tIns="0" rIns="0" bIns="0" anchor="ctr">
            <a:spAutoFit/>
          </a:bodyPr>
          <a:lstStyle/>
          <a:p>
            <a:pPr algn="l">
              <a:spcAft>
                <a:spcPts val="400"/>
              </a:spcAft>
            </a:pPr>
            <a:r>
              <a:rPr sz="2200" b="0" i="0">
                <a:solidFill>
                  <a:srgbClr val="0033CC"/>
                </a:solidFill>
                <a:latin typeface="Times New Roman"/>
              </a:rPr>
              <a:t>Any Other Information</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IN" sz="2400" dirty="0">
                <a:solidFill>
                  <a:srgbClr val="FF0000"/>
                </a:solidFill>
                <a:latin typeface="Times New Roman" pitchFamily="34" charset="0"/>
              </a:rPr>
              <a:t>Problem Statement</a:t>
            </a:r>
            <a:endParaRPr lang="en-US" sz="2400" dirty="0">
              <a:solidFill>
                <a:srgbClr val="FF0000"/>
              </a:solidFill>
              <a:latin typeface="Times New Roman" pitchFamily="34" charset="0"/>
            </a:endParaRPr>
          </a:p>
        </p:txBody>
      </p:sp>
      <p:sp>
        <p:nvSpPr>
          <p:cNvPr id="15" name="Rounded Rectangle 14"/>
          <p:cNvSpPr/>
          <p:nvPr/>
        </p:nvSpPr>
        <p:spPr>
          <a:xfrm>
            <a:off x="332847" y="1701800"/>
            <a:ext cx="11534247" cy="1226421"/>
          </a:xfrm>
          <a:prstGeom prst="roundRect">
            <a:avLst>
              <a:gd name="adj" fmla="val 6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71158" y="1770479"/>
            <a:ext cx="11057626" cy="1079250"/>
          </a:xfrm>
          <a:prstGeom prst="rect">
            <a:avLst/>
          </a:prstGeom>
          <a:noFill/>
        </p:spPr>
        <p:txBody>
          <a:bodyPr wrap="square" lIns="0" tIns="0" rIns="0" bIns="0" anchor="ctr">
            <a:spAutoFit/>
          </a:bodyPr>
          <a:lstStyle/>
          <a:p>
            <a:pPr algn="l">
              <a:spcAft>
                <a:spcPts val="400"/>
              </a:spcAft>
            </a:pPr>
            <a:r>
              <a:rPr sz="2000" b="0" i="0">
                <a:solidFill>
                  <a:srgbClr val="1A1A1A"/>
                </a:solidFill>
                <a:latin typeface="Times New Roman"/>
              </a:rPr>
              <a:t>Existing AI crowd-safety systems predict stampede risk over the whole camera frame or a uniform grid, treat each zone independently, and stop at an alert. They do not measure risk where crushes physically start, do not model how it spreads through a venue, and do not tell authorities what to do.</a:t>
            </a:r>
          </a:p>
        </p:txBody>
      </p:sp>
      <p:sp>
        <p:nvSpPr>
          <p:cNvPr id="17" name="Rounded Rectangle 16"/>
          <p:cNvSpPr/>
          <p:nvPr/>
        </p:nvSpPr>
        <p:spPr>
          <a:xfrm>
            <a:off x="332847" y="3124449"/>
            <a:ext cx="3717650" cy="2011330"/>
          </a:xfrm>
          <a:prstGeom prst="roundRect">
            <a:avLst>
              <a:gd name="adj" fmla="val 6000"/>
            </a:avLst>
          </a:prstGeom>
          <a:solidFill>
            <a:srgbClr val="FFFFFF"/>
          </a:solid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3496" y="3222562"/>
            <a:ext cx="3336352" cy="1864160"/>
          </a:xfrm>
          <a:prstGeom prst="rect">
            <a:avLst/>
          </a:prstGeom>
          <a:noFill/>
        </p:spPr>
        <p:txBody>
          <a:bodyPr wrap="square" lIns="0" tIns="0" rIns="0" bIns="0" anchor="t">
            <a:spAutoFit/>
          </a:bodyPr>
          <a:lstStyle/>
          <a:p>
            <a:pPr algn="l">
              <a:spcAft>
                <a:spcPts val="600"/>
              </a:spcAft>
            </a:pPr>
            <a:r>
              <a:rPr sz="2000" b="1" i="0" dirty="0">
                <a:solidFill>
                  <a:srgbClr val="FF0000"/>
                </a:solidFill>
                <a:latin typeface="Times New Roman"/>
              </a:rPr>
              <a:t>1. Wrong unit of risk</a:t>
            </a:r>
          </a:p>
          <a:p>
            <a:pPr algn="l">
              <a:spcAft>
                <a:spcPts val="400"/>
              </a:spcAft>
            </a:pPr>
            <a:r>
              <a:rPr sz="1800" b="0" i="0" dirty="0">
                <a:solidFill>
                  <a:srgbClr val="1A1A1A"/>
                </a:solidFill>
                <a:latin typeface="Times New Roman"/>
              </a:rPr>
              <a:t>ICMF: whole frame. Crowd Guardian: 6×6 grid. AURORA: zones not tied to structure. None ties risk to stairs, gates or FOBs, where crushes start.</a:t>
            </a:r>
          </a:p>
        </p:txBody>
      </p:sp>
      <p:sp>
        <p:nvSpPr>
          <p:cNvPr id="19" name="Rounded Rectangle 18"/>
          <p:cNvSpPr/>
          <p:nvPr/>
        </p:nvSpPr>
        <p:spPr>
          <a:xfrm>
            <a:off x="4241145" y="3124449"/>
            <a:ext cx="3717650" cy="2011330"/>
          </a:xfrm>
          <a:prstGeom prst="roundRect">
            <a:avLst>
              <a:gd name="adj" fmla="val 6000"/>
            </a:avLst>
          </a:prstGeom>
          <a:solidFill>
            <a:srgbClr val="FFFFFF"/>
          </a:solidFill>
          <a:ln w="12700">
            <a:solidFill>
              <a:srgbClr val="E08A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4431794" y="3222562"/>
            <a:ext cx="3336352" cy="1864160"/>
          </a:xfrm>
          <a:prstGeom prst="rect">
            <a:avLst/>
          </a:prstGeom>
          <a:noFill/>
        </p:spPr>
        <p:txBody>
          <a:bodyPr wrap="square" lIns="0" tIns="0" rIns="0" bIns="0" anchor="t">
            <a:spAutoFit/>
          </a:bodyPr>
          <a:lstStyle/>
          <a:p>
            <a:pPr algn="l">
              <a:spcAft>
                <a:spcPts val="600"/>
              </a:spcAft>
            </a:pPr>
            <a:r>
              <a:rPr sz="2000" b="1" i="0">
                <a:solidFill>
                  <a:srgbClr val="E08A00"/>
                </a:solidFill>
                <a:latin typeface="Times New Roman"/>
              </a:rPr>
              <a:t>2. Zones treated in isolation</a:t>
            </a:r>
          </a:p>
          <a:p>
            <a:pPr algn="l">
              <a:spcAft>
                <a:spcPts val="400"/>
              </a:spcAft>
            </a:pPr>
            <a:r>
              <a:rPr sz="1800" b="0" i="0">
                <a:solidFill>
                  <a:srgbClr val="1A1A1A"/>
                </a:solidFill>
                <a:latin typeface="Times New Roman"/>
              </a:rPr>
              <a:t>No reviewed system models how congestion at one gate pushes pressure into the next corridor, although this is how stampedes cascade.</a:t>
            </a:r>
          </a:p>
        </p:txBody>
      </p:sp>
      <p:sp>
        <p:nvSpPr>
          <p:cNvPr id="21" name="Rounded Rectangle 20"/>
          <p:cNvSpPr/>
          <p:nvPr/>
        </p:nvSpPr>
        <p:spPr>
          <a:xfrm>
            <a:off x="8149444" y="3124449"/>
            <a:ext cx="3717650" cy="2011330"/>
          </a:xfrm>
          <a:prstGeom prst="roundRect">
            <a:avLst>
              <a:gd name="adj" fmla="val 6000"/>
            </a:avLst>
          </a:prstGeom>
          <a:solidFill>
            <a:srgbClr val="FFFFFF"/>
          </a:solidFill>
          <a:ln w="12700">
            <a:solidFill>
              <a:srgbClr val="0033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8340093" y="3222562"/>
            <a:ext cx="3336352" cy="1864160"/>
          </a:xfrm>
          <a:prstGeom prst="rect">
            <a:avLst/>
          </a:prstGeom>
          <a:noFill/>
        </p:spPr>
        <p:txBody>
          <a:bodyPr wrap="square" lIns="0" tIns="0" rIns="0" bIns="0" anchor="t">
            <a:spAutoFit/>
          </a:bodyPr>
          <a:lstStyle/>
          <a:p>
            <a:pPr algn="l">
              <a:spcAft>
                <a:spcPts val="600"/>
              </a:spcAft>
            </a:pPr>
            <a:r>
              <a:rPr sz="2000" b="1" i="0">
                <a:solidFill>
                  <a:srgbClr val="0033CC"/>
                </a:solidFill>
                <a:latin typeface="Times New Roman"/>
              </a:rPr>
              <a:t>3. Alerts, not actions</a:t>
            </a:r>
          </a:p>
          <a:p>
            <a:pPr algn="l">
              <a:spcAft>
                <a:spcPts val="400"/>
              </a:spcAft>
            </a:pPr>
            <a:r>
              <a:rPr sz="1800" b="0" i="0">
                <a:solidFill>
                  <a:srgbClr val="1A1A1A"/>
                </a:solidFill>
                <a:latin typeface="Times New Roman"/>
              </a:rPr>
              <a:t>Systems stop at a warning. Staff must decide under time pressure which gate to open or where to redirect the crowd.</a:t>
            </a:r>
          </a:p>
        </p:txBody>
      </p:sp>
      <p:sp>
        <p:nvSpPr>
          <p:cNvPr id="23" name="TextBox 22"/>
          <p:cNvSpPr txBox="1"/>
          <p:nvPr/>
        </p:nvSpPr>
        <p:spPr>
          <a:xfrm>
            <a:off x="332847" y="5332007"/>
            <a:ext cx="11534247" cy="1373592"/>
          </a:xfrm>
          <a:prstGeom prst="rect">
            <a:avLst/>
          </a:prstGeom>
          <a:noFill/>
        </p:spPr>
        <p:txBody>
          <a:bodyPr wrap="square" lIns="0" tIns="0" rIns="0" bIns="0" anchor="t">
            <a:spAutoFit/>
          </a:bodyPr>
          <a:lstStyle/>
          <a:p>
            <a:pPr algn="l">
              <a:spcAft>
                <a:spcPts val="400"/>
              </a:spcAft>
            </a:pPr>
            <a:r>
              <a:rPr sz="1900" b="1" i="0">
                <a:solidFill>
                  <a:srgbClr val="0033CC"/>
                </a:solidFill>
                <a:latin typeface="Times New Roman"/>
              </a:rPr>
              <a:t>Objective: </a:t>
            </a:r>
            <a:r>
              <a:rPr sz="1800" b="0" i="0">
                <a:solidFill>
                  <a:srgbClr val="1A1A1A"/>
                </a:solidFill>
                <a:latin typeface="Times New Roman"/>
              </a:rPr>
              <a:t>Develop a computer-vision based system that (i) defines risk zones on real structural chokepoints, (ii) models risk propagation across connected zones with a graph neural network, (iii) predicts, for each zone, the probability that density reaches that zone’s Danger threshold within the next 3, 5 or 10 minutes, and (iv) recommends ranked interventions, e.g. “Open Gate 4”, “Hold inflow at Stairs A”, with simulation-estimated risk reduction as a stretch goal.</a:t>
            </a:r>
          </a:p>
        </p:txBody>
      </p:sp>
    </p:spTree>
    <p:extLst>
      <p:ext uri="{BB962C8B-B14F-4D97-AF65-F5344CB8AC3E}">
        <p14:creationId xmlns:p14="http://schemas.microsoft.com/office/powerpoint/2010/main" val="381103013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2895600" y="990600"/>
            <a:ext cx="7848600" cy="461665"/>
          </a:xfrm>
          <a:prstGeom prst="rect">
            <a:avLst/>
          </a:prstGeom>
          <a:noFill/>
          <a:ln w="9525">
            <a:noFill/>
            <a:miter lim="800000"/>
            <a:headEnd/>
            <a:tailEnd/>
          </a:ln>
        </p:spPr>
        <p:txBody>
          <a:bodyPr wrap="square">
            <a:spAutoFit/>
          </a:bodyPr>
          <a:lstStyle/>
          <a:p>
            <a:pPr marL="342891" indent="-342891" algn="r" eaLnBrk="0" hangingPunct="0">
              <a:defRPr/>
            </a:pPr>
            <a:r>
              <a:rPr lang="en-IN" sz="2400" dirty="0">
                <a:solidFill>
                  <a:srgbClr val="FF0000"/>
                </a:solidFill>
                <a:latin typeface="Times New Roman" pitchFamily="34" charset="0"/>
              </a:rPr>
              <a:t>Scope and Feasibility study</a:t>
            </a:r>
            <a:endParaRPr lang="en-US" sz="2400" dirty="0">
              <a:solidFill>
                <a:srgbClr val="FF0000"/>
              </a:solidFill>
              <a:latin typeface="Times New Roman" pitchFamily="34" charset="0"/>
            </a:endParaRPr>
          </a:p>
        </p:txBody>
      </p:sp>
      <p:sp>
        <p:nvSpPr>
          <p:cNvPr id="15" name="Rounded Rectangle 14"/>
          <p:cNvSpPr/>
          <p:nvPr/>
        </p:nvSpPr>
        <p:spPr>
          <a:xfrm>
            <a:off x="332847" y="1701800"/>
            <a:ext cx="3669987" cy="418644"/>
          </a:xfrm>
          <a:prstGeom prst="roundRect">
            <a:avLst>
              <a:gd name="adj" fmla="val 6000"/>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700" b="1">
                <a:solidFill>
                  <a:srgbClr val="FFFFFF"/>
                </a:solidFill>
                <a:latin typeface="Times New Roman"/>
              </a:rPr>
              <a:t>In scope</a:t>
            </a:r>
          </a:p>
        </p:txBody>
      </p:sp>
      <p:sp>
        <p:nvSpPr>
          <p:cNvPr id="16" name="TextBox 15"/>
          <p:cNvSpPr txBox="1"/>
          <p:nvPr/>
        </p:nvSpPr>
        <p:spPr>
          <a:xfrm>
            <a:off x="428172" y="2220121"/>
            <a:ext cx="3527001" cy="2093223"/>
          </a:xfrm>
          <a:prstGeom prst="rect">
            <a:avLst/>
          </a:prstGeom>
          <a:noFill/>
        </p:spPr>
        <p:txBody>
          <a:bodyPr wrap="square" lIns="0" tIns="0" rIns="0" bIns="0" anchor="t">
            <a:spAutoFit/>
          </a:bodyPr>
          <a:lstStyle/>
          <a:p>
            <a:pPr marL="228600" indent="-228600" algn="l">
              <a:spcAft>
                <a:spcPts val="300"/>
              </a:spcAft>
              <a:buFont typeface="Times New Roman"/>
              <a:buChar char="•"/>
            </a:pPr>
            <a:r>
              <a:rPr sz="1600" b="0" i="0" dirty="0">
                <a:solidFill>
                  <a:srgbClr val="1A1A1A"/>
                </a:solidFill>
                <a:latin typeface="Times New Roman"/>
              </a:rPr>
              <a:t>Fixed CCTV feeds, overhead angles</a:t>
            </a:r>
          </a:p>
          <a:p>
            <a:pPr marL="228600" indent="-228600" algn="l">
              <a:spcAft>
                <a:spcPts val="300"/>
              </a:spcAft>
              <a:buFont typeface="Times New Roman"/>
              <a:buChar char="•"/>
            </a:pPr>
            <a:r>
              <a:rPr sz="1600" b="0" i="0" dirty="0">
                <a:solidFill>
                  <a:srgbClr val="1A1A1A"/>
                </a:solidFill>
                <a:latin typeface="Times New Roman"/>
              </a:rPr>
              <a:t>Zones annotated once per camera</a:t>
            </a:r>
          </a:p>
          <a:p>
            <a:pPr marL="228600" indent="-228600" algn="l">
              <a:spcAft>
                <a:spcPts val="300"/>
              </a:spcAft>
              <a:buFont typeface="Times New Roman"/>
              <a:buChar char="•"/>
            </a:pPr>
            <a:r>
              <a:rPr sz="1600" b="0" i="0" dirty="0">
                <a:solidFill>
                  <a:srgbClr val="1A1A1A"/>
                </a:solidFill>
                <a:latin typeface="Times New Roman"/>
              </a:rPr>
              <a:t>Zone risk forecast 3–10 min ahead</a:t>
            </a:r>
          </a:p>
          <a:p>
            <a:pPr marL="228600" indent="-228600" algn="l">
              <a:spcAft>
                <a:spcPts val="300"/>
              </a:spcAft>
              <a:buFont typeface="Times New Roman"/>
              <a:buChar char="•"/>
            </a:pPr>
            <a:r>
              <a:rPr sz="1600" b="0" i="0" dirty="0">
                <a:solidFill>
                  <a:srgbClr val="1A1A1A"/>
                </a:solidFill>
                <a:latin typeface="Times New Roman"/>
              </a:rPr>
              <a:t>GNN propagation over zone graph</a:t>
            </a:r>
          </a:p>
          <a:p>
            <a:pPr marL="228600" indent="-228600" algn="l">
              <a:spcAft>
                <a:spcPts val="300"/>
              </a:spcAft>
              <a:buFont typeface="Times New Roman"/>
              <a:buChar char="•"/>
            </a:pPr>
            <a:r>
              <a:rPr sz="1600" b="0" i="0" dirty="0">
                <a:solidFill>
                  <a:srgbClr val="1A1A1A"/>
                </a:solidFill>
                <a:latin typeface="Times New Roman"/>
              </a:rPr>
              <a:t>Ranked actions, checked in simulation</a:t>
            </a:r>
          </a:p>
          <a:p>
            <a:pPr marL="228600" indent="-228600" algn="l">
              <a:spcAft>
                <a:spcPts val="300"/>
              </a:spcAft>
              <a:buFont typeface="Times New Roman"/>
              <a:buChar char="•"/>
            </a:pPr>
            <a:r>
              <a:rPr sz="1600" b="0" i="0" dirty="0">
                <a:solidFill>
                  <a:srgbClr val="1A1A1A"/>
                </a:solidFill>
                <a:latin typeface="Times New Roman"/>
              </a:rPr>
              <a:t>Dashboard prototype</a:t>
            </a:r>
          </a:p>
        </p:txBody>
      </p:sp>
      <p:sp>
        <p:nvSpPr>
          <p:cNvPr id="17" name="Rounded Rectangle 16"/>
          <p:cNvSpPr/>
          <p:nvPr/>
        </p:nvSpPr>
        <p:spPr>
          <a:xfrm>
            <a:off x="332847" y="4393086"/>
            <a:ext cx="3669987" cy="418644"/>
          </a:xfrm>
          <a:prstGeom prst="roundRect">
            <a:avLst>
              <a:gd name="adj" fmla="val 6000"/>
            </a:avLst>
          </a:prstGeom>
          <a:solidFill>
            <a:srgbClr val="FF00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700" b="1">
                <a:solidFill>
                  <a:srgbClr val="FFFFFF"/>
                </a:solidFill>
                <a:latin typeface="Times New Roman"/>
              </a:rPr>
              <a:t>Out of scope</a:t>
            </a:r>
          </a:p>
        </p:txBody>
      </p:sp>
      <p:sp>
        <p:nvSpPr>
          <p:cNvPr id="18" name="TextBox 17"/>
          <p:cNvSpPr txBox="1"/>
          <p:nvPr/>
        </p:nvSpPr>
        <p:spPr>
          <a:xfrm>
            <a:off x="428172" y="4911408"/>
            <a:ext cx="3527001" cy="1694513"/>
          </a:xfrm>
          <a:prstGeom prst="rect">
            <a:avLst/>
          </a:prstGeom>
          <a:noFill/>
        </p:spPr>
        <p:txBody>
          <a:bodyPr wrap="square" lIns="0" tIns="0" rIns="0" bIns="0" anchor="t">
            <a:spAutoFit/>
          </a:bodyPr>
          <a:lstStyle/>
          <a:p>
            <a:pPr marL="228600" indent="-228600" algn="l">
              <a:spcAft>
                <a:spcPts val="300"/>
              </a:spcAft>
              <a:buFont typeface="Times New Roman"/>
              <a:buChar char="•"/>
            </a:pPr>
            <a:r>
              <a:rPr sz="1600" b="0" i="0">
                <a:solidFill>
                  <a:srgbClr val="1A1A1A"/>
                </a:solidFill>
                <a:latin typeface="Times New Roman"/>
              </a:rPr>
              <a:t>Live deployment at a real event</a:t>
            </a:r>
          </a:p>
          <a:p>
            <a:pPr marL="228600" indent="-228600" algn="l">
              <a:spcAft>
                <a:spcPts val="300"/>
              </a:spcAft>
              <a:buFont typeface="Times New Roman"/>
              <a:buChar char="•"/>
            </a:pPr>
            <a:r>
              <a:rPr sz="1600" b="0" i="0">
                <a:solidFill>
                  <a:srgbClr val="1A1A1A"/>
                </a:solidFill>
                <a:latin typeface="Times New Roman"/>
              </a:rPr>
              <a:t>Automatic gate actuation</a:t>
            </a:r>
          </a:p>
          <a:p>
            <a:pPr marL="228600" indent="-228600" algn="l">
              <a:spcAft>
                <a:spcPts val="300"/>
              </a:spcAft>
              <a:buFont typeface="Times New Roman"/>
              <a:buChar char="•"/>
            </a:pPr>
            <a:r>
              <a:rPr sz="1600" b="0" i="0">
                <a:solidFill>
                  <a:srgbClr val="1A1A1A"/>
                </a:solidFill>
                <a:latin typeface="Times New Roman"/>
              </a:rPr>
              <a:t>Face recognition / identity tracking</a:t>
            </a:r>
          </a:p>
          <a:p>
            <a:pPr marL="228600" indent="-228600" algn="l">
              <a:spcAft>
                <a:spcPts val="300"/>
              </a:spcAft>
              <a:buFont typeface="Times New Roman"/>
              <a:buChar char="•"/>
            </a:pPr>
            <a:r>
              <a:rPr sz="1600" b="0" i="0">
                <a:solidFill>
                  <a:srgbClr val="1A1A1A"/>
                </a:solidFill>
                <a:latin typeface="Times New Roman"/>
              </a:rPr>
              <a:t>Drone or moving-camera feeds</a:t>
            </a:r>
          </a:p>
        </p:txBody>
      </p:sp>
      <p:sp>
        <p:nvSpPr>
          <p:cNvPr id="19" name="Rounded Rectangle 18"/>
          <p:cNvSpPr/>
          <p:nvPr/>
        </p:nvSpPr>
        <p:spPr>
          <a:xfrm>
            <a:off x="4241146" y="1701800"/>
            <a:ext cx="3669987" cy="418644"/>
          </a:xfrm>
          <a:prstGeom prst="roundRect">
            <a:avLst>
              <a:gd name="adj" fmla="val 6000"/>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700" b="1">
                <a:solidFill>
                  <a:srgbClr val="FFFFFF"/>
                </a:solidFill>
                <a:latin typeface="Times New Roman"/>
              </a:rPr>
              <a:t>Feasibility</a:t>
            </a:r>
          </a:p>
        </p:txBody>
      </p:sp>
      <p:sp>
        <p:nvSpPr>
          <p:cNvPr id="20" name="TextBox 19"/>
          <p:cNvSpPr txBox="1"/>
          <p:nvPr/>
        </p:nvSpPr>
        <p:spPr>
          <a:xfrm>
            <a:off x="4336471" y="2220121"/>
            <a:ext cx="3527001" cy="4485478"/>
          </a:xfrm>
          <a:prstGeom prst="rect">
            <a:avLst/>
          </a:prstGeom>
          <a:noFill/>
        </p:spPr>
        <p:txBody>
          <a:bodyPr wrap="square" lIns="0" tIns="0" rIns="0" bIns="0" anchor="t">
            <a:spAutoFit/>
          </a:bodyPr>
          <a:lstStyle/>
          <a:p>
            <a:pPr algn="l">
              <a:spcAft>
                <a:spcPts val="800"/>
              </a:spcAft>
            </a:pPr>
            <a:r>
              <a:rPr sz="1600" b="1" i="0">
                <a:solidFill>
                  <a:srgbClr val="0033CC"/>
                </a:solidFill>
                <a:latin typeface="Times New Roman"/>
              </a:rPr>
              <a:t>Technical: </a:t>
            </a:r>
            <a:r>
              <a:rPr sz="1600" b="0" i="0">
                <a:solidFill>
                  <a:srgbClr val="1A1A1A"/>
                </a:solidFill>
                <a:latin typeface="Times New Roman"/>
              </a:rPr>
              <a:t>open-source stack – YOLOv8, CSRNet / DM-Count, OpenCV optical flow, PyTorch, PyTorch Geometric, JuPedSim, Streamlit.</a:t>
            </a:r>
          </a:p>
          <a:p>
            <a:pPr algn="l">
              <a:spcAft>
                <a:spcPts val="800"/>
              </a:spcAft>
            </a:pPr>
            <a:r>
              <a:rPr sz="1600" b="1" i="0">
                <a:solidFill>
                  <a:srgbClr val="0033CC"/>
                </a:solidFill>
                <a:latin typeface="Times New Roman"/>
              </a:rPr>
              <a:t>Compute: </a:t>
            </a:r>
            <a:r>
              <a:rPr sz="1600" b="0" i="0">
                <a:solidFill>
                  <a:srgbClr val="1A1A1A"/>
                </a:solidFill>
                <a:latin typeface="Times New Roman"/>
              </a:rPr>
              <a:t>pretrained detector; LSTM and GNN are small, one GPU / Colab is enough.</a:t>
            </a:r>
          </a:p>
          <a:p>
            <a:pPr algn="l">
              <a:spcAft>
                <a:spcPts val="800"/>
              </a:spcAft>
            </a:pPr>
            <a:r>
              <a:rPr sz="1600" b="1" i="0">
                <a:solidFill>
                  <a:srgbClr val="0033CC"/>
                </a:solidFill>
                <a:latin typeface="Times New Roman"/>
              </a:rPr>
              <a:t>Data: </a:t>
            </a:r>
            <a:r>
              <a:rPr sz="1600" b="0" i="0">
                <a:solidFill>
                  <a:srgbClr val="1A1A1A"/>
                </a:solidFill>
                <a:latin typeface="Times New Roman"/>
              </a:rPr>
              <a:t>video – FDST, CroHD, Jülich bottleneck experiments, HAJJv2; images – ShanghaiTech, JHU-CROWD++ (counter only); self-recorded chokepoints; JuPedSim simulation.</a:t>
            </a:r>
          </a:p>
          <a:p>
            <a:pPr algn="l">
              <a:spcAft>
                <a:spcPts val="800"/>
              </a:spcAft>
            </a:pPr>
            <a:r>
              <a:rPr sz="1600" b="1" i="0">
                <a:solidFill>
                  <a:srgbClr val="0033CC"/>
                </a:solidFill>
                <a:latin typeface="Times New Roman"/>
              </a:rPr>
              <a:t>Team: </a:t>
            </a:r>
            <a:r>
              <a:rPr sz="1600" b="0" i="0">
                <a:solidFill>
                  <a:srgbClr val="1A1A1A"/>
                </a:solidFill>
                <a:latin typeface="Times New Roman"/>
              </a:rPr>
              <a:t>four members, one module each, with clear interfaces between modules.</a:t>
            </a:r>
          </a:p>
        </p:txBody>
      </p:sp>
      <p:sp>
        <p:nvSpPr>
          <p:cNvPr id="21" name="Rounded Rectangle 20"/>
          <p:cNvSpPr/>
          <p:nvPr/>
        </p:nvSpPr>
        <p:spPr>
          <a:xfrm>
            <a:off x="8149445" y="1701800"/>
            <a:ext cx="3717650" cy="418644"/>
          </a:xfrm>
          <a:prstGeom prst="roundRect">
            <a:avLst>
              <a:gd name="adj" fmla="val 6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700" b="1">
                <a:solidFill>
                  <a:srgbClr val="FFFFFF"/>
                </a:solidFill>
                <a:latin typeface="Times New Roman"/>
              </a:rPr>
              <a:t>Challenges → Mitigation</a:t>
            </a:r>
          </a:p>
        </p:txBody>
      </p:sp>
      <p:sp>
        <p:nvSpPr>
          <p:cNvPr id="22" name="TextBox 21"/>
          <p:cNvSpPr txBox="1"/>
          <p:nvPr/>
        </p:nvSpPr>
        <p:spPr>
          <a:xfrm>
            <a:off x="8244770" y="2220121"/>
            <a:ext cx="3574663" cy="4485478"/>
          </a:xfrm>
          <a:prstGeom prst="rect">
            <a:avLst/>
          </a:prstGeom>
          <a:noFill/>
        </p:spPr>
        <p:txBody>
          <a:bodyPr wrap="square" lIns="0" tIns="0" rIns="0" bIns="0" anchor="t">
            <a:spAutoFit/>
          </a:bodyPr>
          <a:lstStyle/>
          <a:p>
            <a:pPr marL="228600" indent="-228600" algn="l">
              <a:spcAft>
                <a:spcPts val="500"/>
              </a:spcAft>
              <a:buFont typeface="Times New Roman"/>
              <a:buChar char="•"/>
            </a:pPr>
            <a:r>
              <a:rPr sz="1600" b="1" i="0">
                <a:solidFill>
                  <a:srgbClr val="1A1A1A"/>
                </a:solidFill>
                <a:latin typeface="Times New Roman"/>
              </a:rPr>
              <a:t>Rare Danger events</a:t>
            </a:r>
            <a:r>
              <a:rPr sz="1600" b="0" i="0">
                <a:solidFill>
                  <a:srgbClr val="333333"/>
                </a:solidFill>
                <a:latin typeface="Times New Roman"/>
              </a:rPr>
              <a:t> → JuPedSim crowds calibrated on Jülich data</a:t>
            </a:r>
          </a:p>
          <a:p>
            <a:pPr marL="228600" indent="-228600" algn="l">
              <a:spcAft>
                <a:spcPts val="500"/>
              </a:spcAft>
              <a:buFont typeface="Times New Roman"/>
              <a:buChar char="•"/>
            </a:pPr>
            <a:r>
              <a:rPr sz="1600" b="1" i="0">
                <a:solidFill>
                  <a:srgbClr val="1A1A1A"/>
                </a:solidFill>
                <a:latin typeface="Times New Roman"/>
              </a:rPr>
              <a:t>Occlusion in dense crowds</a:t>
            </a:r>
            <a:r>
              <a:rPr sz="1600" b="0" i="0">
                <a:solidFill>
                  <a:srgbClr val="333333"/>
                </a:solidFill>
                <a:latin typeface="Times New Roman"/>
              </a:rPr>
              <a:t> → density-map counter (CSRNet / DM-Count) in dense zones</a:t>
            </a:r>
          </a:p>
          <a:p>
            <a:pPr marL="228600" indent="-228600" algn="l">
              <a:spcAft>
                <a:spcPts val="500"/>
              </a:spcAft>
              <a:buFont typeface="Times New Roman"/>
              <a:buChar char="•"/>
            </a:pPr>
            <a:r>
              <a:rPr sz="1600" b="1" i="0">
                <a:solidFill>
                  <a:srgbClr val="1A1A1A"/>
                </a:solidFill>
                <a:latin typeface="Times New Roman"/>
              </a:rPr>
              <a:t>Pixel → m² conversion</a:t>
            </a:r>
            <a:r>
              <a:rPr sz="1600" b="0" i="0">
                <a:solidFill>
                  <a:srgbClr val="333333"/>
                </a:solidFill>
                <a:latin typeface="Times New Roman"/>
              </a:rPr>
              <a:t> → one-time per-camera calibration</a:t>
            </a:r>
          </a:p>
          <a:p>
            <a:pPr marL="228600" indent="-228600" algn="l">
              <a:spcAft>
                <a:spcPts val="500"/>
              </a:spcAft>
              <a:buFont typeface="Times New Roman"/>
              <a:buChar char="•"/>
            </a:pPr>
            <a:r>
              <a:rPr sz="1600" b="1" i="0">
                <a:solidFill>
                  <a:srgbClr val="1A1A1A"/>
                </a:solidFill>
                <a:latin typeface="Times New Roman"/>
              </a:rPr>
              <a:t>Risk-reduction figures cannot be verified on real incidents</a:t>
            </a:r>
            <a:r>
              <a:rPr sz="1600" b="0" i="0">
                <a:solidFill>
                  <a:srgbClr val="333333"/>
                </a:solidFill>
                <a:latin typeface="Times New Roman"/>
              </a:rPr>
              <a:t> → report as simulation estimates only</a:t>
            </a:r>
          </a:p>
          <a:p>
            <a:pPr marL="228600" indent="-228600" algn="l">
              <a:spcAft>
                <a:spcPts val="500"/>
              </a:spcAft>
              <a:buFont typeface="Times New Roman"/>
              <a:buChar char="•"/>
            </a:pPr>
            <a:r>
              <a:rPr sz="1600" b="1" i="0">
                <a:solidFill>
                  <a:srgbClr val="1A1A1A"/>
                </a:solidFill>
                <a:latin typeface="Times New Roman"/>
              </a:rPr>
              <a:t>Short public clips limit lead-time tests</a:t>
            </a:r>
            <a:r>
              <a:rPr sz="1600" b="0" i="0">
                <a:solidFill>
                  <a:srgbClr val="333333"/>
                </a:solidFill>
                <a:latin typeface="Times New Roman"/>
              </a:rPr>
              <a:t> → longer self-recorded sequences</a:t>
            </a:r>
          </a:p>
          <a:p>
            <a:pPr marL="228600" indent="-228600" algn="l">
              <a:spcAft>
                <a:spcPts val="500"/>
              </a:spcAft>
              <a:buFont typeface="Times New Roman"/>
              <a:buChar char="•"/>
            </a:pPr>
            <a:r>
              <a:rPr sz="1600" b="1" i="0">
                <a:solidFill>
                  <a:srgbClr val="1A1A1A"/>
                </a:solidFill>
                <a:latin typeface="Times New Roman"/>
              </a:rPr>
              <a:t>Privacy and consent</a:t>
            </a:r>
            <a:r>
              <a:rPr sz="1600" b="0" i="0">
                <a:solidFill>
                  <a:srgbClr val="333333"/>
                </a:solidFill>
                <a:latin typeface="Times New Roman"/>
              </a:rPr>
              <a:t> → consent, face blurring, no identity data</a:t>
            </a:r>
          </a:p>
        </p:txBody>
      </p:sp>
    </p:spTree>
    <p:extLst>
      <p:ext uri="{BB962C8B-B14F-4D97-AF65-F5344CB8AC3E}">
        <p14:creationId xmlns:p14="http://schemas.microsoft.com/office/powerpoint/2010/main" val="420536929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9BACE1-7374-BB65-640F-D6DB2AF30CDE}"/>
            </a:ext>
          </a:extLst>
        </p:cNvPr>
        <p:cNvGrpSpPr/>
        <p:nvPr/>
      </p:nvGrpSpPr>
      <p:grpSpPr>
        <a:xfrm>
          <a:off x="0" y="0"/>
          <a:ext cx="0" cy="0"/>
          <a:chOff x="0" y="0"/>
          <a:chExt cx="0" cy="0"/>
        </a:xfrm>
      </p:grpSpPr>
      <p:sp>
        <p:nvSpPr>
          <p:cNvPr id="5" name="Rectangle 4">
            <a:extLst>
              <a:ext uri="{FF2B5EF4-FFF2-40B4-BE49-F238E27FC236}">
                <a16:creationId xmlns:a16="http://schemas.microsoft.com/office/drawing/2014/main" id="{DE1DE256-78BF-9303-91B3-73AAF4694F89}"/>
              </a:ext>
            </a:extLst>
          </p:cNvPr>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a:extLst>
              <a:ext uri="{FF2B5EF4-FFF2-40B4-BE49-F238E27FC236}">
                <a16:creationId xmlns:a16="http://schemas.microsoft.com/office/drawing/2014/main" id="{850EEB4A-C33A-37D8-561C-B5D841D91C07}"/>
              </a:ext>
            </a:extLst>
          </p:cNvPr>
          <p:cNvSpPr txBox="1">
            <a:spLocks noChangeArrowheads="1"/>
          </p:cNvSpPr>
          <p:nvPr/>
        </p:nvSpPr>
        <p:spPr bwMode="auto">
          <a:xfrm>
            <a:off x="2895600" y="990600"/>
            <a:ext cx="7848600" cy="461665"/>
          </a:xfrm>
          <a:prstGeom prst="rect">
            <a:avLst/>
          </a:prstGeom>
          <a:noFill/>
          <a:ln w="9525">
            <a:noFill/>
            <a:miter lim="800000"/>
            <a:headEnd/>
            <a:tailEnd/>
          </a:ln>
        </p:spPr>
        <p:txBody>
          <a:bodyPr wrap="square">
            <a:spAutoFit/>
          </a:bodyPr>
          <a:lstStyle/>
          <a:p>
            <a:pPr marL="342891" indent="-342891" algn="r" eaLnBrk="0" hangingPunct="0">
              <a:defRPr/>
            </a:pPr>
            <a:r>
              <a:rPr lang="en-IN" sz="2400" dirty="0">
                <a:solidFill>
                  <a:srgbClr val="FF0000"/>
                </a:solidFill>
                <a:latin typeface="Times New Roman" pitchFamily="34" charset="0"/>
              </a:rPr>
              <a:t>Background</a:t>
            </a:r>
            <a:endParaRPr lang="en-US" sz="2400" dirty="0">
              <a:solidFill>
                <a:srgbClr val="FF0000"/>
              </a:solidFill>
              <a:latin typeface="Times New Roman" pitchFamily="34" charset="0"/>
            </a:endParaRPr>
          </a:p>
        </p:txBody>
      </p:sp>
      <p:sp>
        <p:nvSpPr>
          <p:cNvPr id="15" name="TextBox 14"/>
          <p:cNvSpPr txBox="1"/>
          <p:nvPr/>
        </p:nvSpPr>
        <p:spPr>
          <a:xfrm>
            <a:off x="332847" y="1701800"/>
            <a:ext cx="5719461" cy="400304"/>
          </a:xfrm>
          <a:prstGeom prst="rect">
            <a:avLst/>
          </a:prstGeom>
          <a:noFill/>
        </p:spPr>
        <p:txBody>
          <a:bodyPr wrap="square" lIns="0" tIns="0" rIns="0" bIns="0" anchor="t">
            <a:spAutoFit/>
          </a:bodyPr>
          <a:lstStyle/>
          <a:p>
            <a:pPr algn="l">
              <a:spcAft>
                <a:spcPts val="600"/>
              </a:spcAft>
            </a:pPr>
            <a:r>
              <a:rPr sz="2000" b="1" i="0">
                <a:solidFill>
                  <a:srgbClr val="0033CC"/>
                </a:solidFill>
                <a:latin typeface="Times New Roman"/>
              </a:rPr>
              <a:t>Why this problem</a:t>
            </a:r>
          </a:p>
        </p:txBody>
      </p:sp>
      <p:sp>
        <p:nvSpPr>
          <p:cNvPr id="16" name="Rounded Rectangle 15"/>
          <p:cNvSpPr/>
          <p:nvPr/>
        </p:nvSpPr>
        <p:spPr>
          <a:xfrm>
            <a:off x="332847" y="2202180"/>
            <a:ext cx="3717650" cy="2151634"/>
          </a:xfrm>
          <a:prstGeom prst="roundRect">
            <a:avLst>
              <a:gd name="adj" fmla="val 6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71158" y="2272233"/>
            <a:ext cx="3241028" cy="750570"/>
          </a:xfrm>
          <a:prstGeom prst="rect">
            <a:avLst/>
          </a:prstGeom>
          <a:noFill/>
        </p:spPr>
        <p:txBody>
          <a:bodyPr wrap="square" lIns="0" tIns="0" rIns="0" bIns="0" anchor="t">
            <a:spAutoFit/>
          </a:bodyPr>
          <a:lstStyle/>
          <a:p>
            <a:pPr algn="l">
              <a:spcAft>
                <a:spcPts val="400"/>
              </a:spcAft>
            </a:pPr>
            <a:r>
              <a:rPr sz="3600" b="1" i="0">
                <a:solidFill>
                  <a:srgbClr val="FF0000"/>
                </a:solidFill>
                <a:latin typeface="Times New Roman"/>
              </a:rPr>
              <a:t>~140</a:t>
            </a:r>
          </a:p>
        </p:txBody>
      </p:sp>
      <p:sp>
        <p:nvSpPr>
          <p:cNvPr id="18" name="TextBox 17"/>
          <p:cNvSpPr txBox="1"/>
          <p:nvPr/>
        </p:nvSpPr>
        <p:spPr>
          <a:xfrm>
            <a:off x="571158" y="3052826"/>
            <a:ext cx="3241028" cy="900684"/>
          </a:xfrm>
          <a:prstGeom prst="rect">
            <a:avLst/>
          </a:prstGeom>
          <a:noFill/>
        </p:spPr>
        <p:txBody>
          <a:bodyPr wrap="square" lIns="0" tIns="0" rIns="0" bIns="0" anchor="t">
            <a:spAutoFit/>
          </a:bodyPr>
          <a:lstStyle/>
          <a:p>
            <a:pPr algn="l">
              <a:spcAft>
                <a:spcPts val="400"/>
              </a:spcAft>
            </a:pPr>
            <a:r>
              <a:rPr sz="1800" b="0" i="0">
                <a:solidFill>
                  <a:srgbClr val="1A1A1A"/>
                </a:solidFill>
                <a:latin typeface="Times New Roman"/>
              </a:rPr>
              <a:t>lives lost every year to stampedes at public and religious events in India</a:t>
            </a:r>
          </a:p>
        </p:txBody>
      </p:sp>
      <p:sp>
        <p:nvSpPr>
          <p:cNvPr id="19" name="TextBox 18"/>
          <p:cNvSpPr txBox="1"/>
          <p:nvPr/>
        </p:nvSpPr>
        <p:spPr>
          <a:xfrm>
            <a:off x="571158" y="4003548"/>
            <a:ext cx="3241028" cy="300228"/>
          </a:xfrm>
          <a:prstGeom prst="rect">
            <a:avLst/>
          </a:prstGeom>
          <a:noFill/>
        </p:spPr>
        <p:txBody>
          <a:bodyPr wrap="square" lIns="0" tIns="0" rIns="0" bIns="0" anchor="t">
            <a:spAutoFit/>
          </a:bodyPr>
          <a:lstStyle/>
          <a:p>
            <a:pPr algn="l">
              <a:spcAft>
                <a:spcPts val="400"/>
              </a:spcAft>
            </a:pPr>
            <a:r>
              <a:rPr sz="1600" b="0" i="1">
                <a:solidFill>
                  <a:srgbClr val="666666"/>
                </a:solidFill>
                <a:latin typeface="Times New Roman"/>
              </a:rPr>
              <a:t>NCRB 2001–22; Kumar, GIEST 2025</a:t>
            </a:r>
          </a:p>
        </p:txBody>
      </p:sp>
      <p:sp>
        <p:nvSpPr>
          <p:cNvPr id="20" name="Rounded Rectangle 19"/>
          <p:cNvSpPr/>
          <p:nvPr/>
        </p:nvSpPr>
        <p:spPr>
          <a:xfrm>
            <a:off x="4241145" y="2202180"/>
            <a:ext cx="3717650" cy="2151634"/>
          </a:xfrm>
          <a:prstGeom prst="roundRect">
            <a:avLst>
              <a:gd name="adj" fmla="val 6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79456" y="2272233"/>
            <a:ext cx="3241028" cy="750570"/>
          </a:xfrm>
          <a:prstGeom prst="rect">
            <a:avLst/>
          </a:prstGeom>
          <a:noFill/>
        </p:spPr>
        <p:txBody>
          <a:bodyPr wrap="square" lIns="0" tIns="0" rIns="0" bIns="0" anchor="t">
            <a:spAutoFit/>
          </a:bodyPr>
          <a:lstStyle/>
          <a:p>
            <a:pPr algn="l">
              <a:spcAft>
                <a:spcPts val="400"/>
              </a:spcAft>
            </a:pPr>
            <a:r>
              <a:rPr sz="3600" b="1" i="0">
                <a:solidFill>
                  <a:srgbClr val="0033CC"/>
                </a:solidFill>
                <a:latin typeface="Times New Roman"/>
              </a:rPr>
              <a:t>92%</a:t>
            </a:r>
          </a:p>
        </p:txBody>
      </p:sp>
      <p:sp>
        <p:nvSpPr>
          <p:cNvPr id="22" name="TextBox 21"/>
          <p:cNvSpPr txBox="1"/>
          <p:nvPr/>
        </p:nvSpPr>
        <p:spPr>
          <a:xfrm>
            <a:off x="4479456" y="3052826"/>
            <a:ext cx="3241028" cy="900684"/>
          </a:xfrm>
          <a:prstGeom prst="rect">
            <a:avLst/>
          </a:prstGeom>
          <a:noFill/>
        </p:spPr>
        <p:txBody>
          <a:bodyPr wrap="square" lIns="0" tIns="0" rIns="0" bIns="0" anchor="t">
            <a:spAutoFit/>
          </a:bodyPr>
          <a:lstStyle/>
          <a:p>
            <a:pPr algn="l">
              <a:spcAft>
                <a:spcPts val="400"/>
              </a:spcAft>
            </a:pPr>
            <a:r>
              <a:rPr sz="1800" b="0" i="0">
                <a:solidFill>
                  <a:srgbClr val="1A1A1A"/>
                </a:solidFill>
                <a:latin typeface="Times New Roman"/>
              </a:rPr>
              <a:t>of past Mahakumbh stampede sites were linked to narrow riverbank access routes</a:t>
            </a:r>
          </a:p>
        </p:txBody>
      </p:sp>
      <p:sp>
        <p:nvSpPr>
          <p:cNvPr id="23" name="TextBox 22"/>
          <p:cNvSpPr txBox="1"/>
          <p:nvPr/>
        </p:nvSpPr>
        <p:spPr>
          <a:xfrm>
            <a:off x="4479456" y="4003548"/>
            <a:ext cx="3241028" cy="300228"/>
          </a:xfrm>
          <a:prstGeom prst="rect">
            <a:avLst/>
          </a:prstGeom>
          <a:noFill/>
        </p:spPr>
        <p:txBody>
          <a:bodyPr wrap="square" lIns="0" tIns="0" rIns="0" bIns="0" anchor="t">
            <a:spAutoFit/>
          </a:bodyPr>
          <a:lstStyle/>
          <a:p>
            <a:pPr algn="l">
              <a:spcAft>
                <a:spcPts val="400"/>
              </a:spcAft>
            </a:pPr>
            <a:r>
              <a:rPr sz="1600" b="0" i="1">
                <a:solidFill>
                  <a:srgbClr val="666666"/>
                </a:solidFill>
                <a:latin typeface="Times New Roman"/>
              </a:rPr>
              <a:t>Pratap, arXiv 2502.03120 (2025)</a:t>
            </a:r>
          </a:p>
        </p:txBody>
      </p:sp>
      <p:sp>
        <p:nvSpPr>
          <p:cNvPr id="24" name="Rounded Rectangle 23"/>
          <p:cNvSpPr/>
          <p:nvPr/>
        </p:nvSpPr>
        <p:spPr>
          <a:xfrm>
            <a:off x="8149444" y="2202180"/>
            <a:ext cx="3717650" cy="2151634"/>
          </a:xfrm>
          <a:prstGeom prst="roundRect">
            <a:avLst>
              <a:gd name="adj" fmla="val 6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8387755" y="2272233"/>
            <a:ext cx="3241028" cy="750570"/>
          </a:xfrm>
          <a:prstGeom prst="rect">
            <a:avLst/>
          </a:prstGeom>
          <a:noFill/>
        </p:spPr>
        <p:txBody>
          <a:bodyPr wrap="square" lIns="0" tIns="0" rIns="0" bIns="0" anchor="t">
            <a:spAutoFit/>
          </a:bodyPr>
          <a:lstStyle/>
          <a:p>
            <a:pPr algn="l">
              <a:spcAft>
                <a:spcPts val="400"/>
              </a:spcAft>
            </a:pPr>
            <a:r>
              <a:rPr sz="3600" b="1" i="0">
                <a:solidFill>
                  <a:srgbClr val="E08A00"/>
                </a:solidFill>
                <a:latin typeface="Times New Roman"/>
              </a:rPr>
              <a:t>~14 s</a:t>
            </a:r>
          </a:p>
        </p:txBody>
      </p:sp>
      <p:sp>
        <p:nvSpPr>
          <p:cNvPr id="26" name="TextBox 25"/>
          <p:cNvSpPr txBox="1"/>
          <p:nvPr/>
        </p:nvSpPr>
        <p:spPr>
          <a:xfrm>
            <a:off x="8387755" y="3052826"/>
            <a:ext cx="3241028" cy="900684"/>
          </a:xfrm>
          <a:prstGeom prst="rect">
            <a:avLst/>
          </a:prstGeom>
          <a:noFill/>
        </p:spPr>
        <p:txBody>
          <a:bodyPr wrap="square" lIns="0" tIns="0" rIns="0" bIns="0" anchor="t">
            <a:spAutoFit/>
          </a:bodyPr>
          <a:lstStyle/>
          <a:p>
            <a:pPr algn="l">
              <a:spcAft>
                <a:spcPts val="400"/>
              </a:spcAft>
            </a:pPr>
            <a:r>
              <a:rPr sz="1800" b="0" i="0">
                <a:solidFill>
                  <a:srgbClr val="1A1A1A"/>
                </a:solidFill>
                <a:latin typeface="Times New Roman"/>
              </a:rPr>
              <a:t>early-warning lead time of a recent predictor – too little to open a gate or redirect a crowd</a:t>
            </a:r>
          </a:p>
        </p:txBody>
      </p:sp>
      <p:sp>
        <p:nvSpPr>
          <p:cNvPr id="27" name="TextBox 26"/>
          <p:cNvSpPr txBox="1"/>
          <p:nvPr/>
        </p:nvSpPr>
        <p:spPr>
          <a:xfrm>
            <a:off x="8387755" y="4003548"/>
            <a:ext cx="3241028" cy="300228"/>
          </a:xfrm>
          <a:prstGeom prst="rect">
            <a:avLst/>
          </a:prstGeom>
          <a:noFill/>
        </p:spPr>
        <p:txBody>
          <a:bodyPr wrap="square" lIns="0" tIns="0" rIns="0" bIns="0" anchor="t">
            <a:spAutoFit/>
          </a:bodyPr>
          <a:lstStyle/>
          <a:p>
            <a:pPr algn="l">
              <a:spcAft>
                <a:spcPts val="400"/>
              </a:spcAft>
            </a:pPr>
            <a:r>
              <a:rPr sz="1600" b="0" i="1">
                <a:solidFill>
                  <a:srgbClr val="666666"/>
                </a:solidFill>
                <a:latin typeface="Times New Roman"/>
              </a:rPr>
              <a:t>AURORA, IEEE ICAUC 2026</a:t>
            </a:r>
          </a:p>
        </p:txBody>
      </p:sp>
      <p:sp>
        <p:nvSpPr>
          <p:cNvPr id="28" name="TextBox 27"/>
          <p:cNvSpPr txBox="1"/>
          <p:nvPr/>
        </p:nvSpPr>
        <p:spPr>
          <a:xfrm>
            <a:off x="332847" y="4553966"/>
            <a:ext cx="5719461" cy="400304"/>
          </a:xfrm>
          <a:prstGeom prst="rect">
            <a:avLst/>
          </a:prstGeom>
          <a:noFill/>
        </p:spPr>
        <p:txBody>
          <a:bodyPr wrap="square" lIns="0" tIns="0" rIns="0" bIns="0" anchor="t">
            <a:spAutoFit/>
          </a:bodyPr>
          <a:lstStyle/>
          <a:p>
            <a:pPr algn="l">
              <a:spcAft>
                <a:spcPts val="600"/>
              </a:spcAft>
            </a:pPr>
            <a:r>
              <a:rPr sz="2000" b="1" i="0">
                <a:solidFill>
                  <a:srgbClr val="0033CC"/>
                </a:solidFill>
                <a:latin typeface="Times New Roman"/>
              </a:rPr>
              <a:t>Domain context</a:t>
            </a:r>
          </a:p>
        </p:txBody>
      </p:sp>
      <p:sp>
        <p:nvSpPr>
          <p:cNvPr id="29" name="TextBox 28"/>
          <p:cNvSpPr txBox="1"/>
          <p:nvPr/>
        </p:nvSpPr>
        <p:spPr>
          <a:xfrm>
            <a:off x="332847" y="5004308"/>
            <a:ext cx="11534247" cy="1701292"/>
          </a:xfrm>
          <a:prstGeom prst="rect">
            <a:avLst/>
          </a:prstGeom>
          <a:noFill/>
        </p:spPr>
        <p:txBody>
          <a:bodyPr wrap="square" lIns="0" tIns="0" rIns="0" bIns="0" anchor="t">
            <a:spAutoFit/>
          </a:bodyPr>
          <a:lstStyle/>
          <a:p>
            <a:pPr algn="l">
              <a:spcAft>
                <a:spcPts val="400"/>
              </a:spcAft>
            </a:pPr>
            <a:r>
              <a:rPr sz="1900" b="0" i="0">
                <a:solidFill>
                  <a:srgbClr val="1A1A1A"/>
                </a:solidFill>
                <a:latin typeface="Times New Roman"/>
              </a:rPr>
              <a:t>Crowd safety sits between computer vision and crowd dynamics. Crush risk rises sharply above ~4 persons/m², and it builds at structural bottlenecks – staircases, gates, foot-over-bridges and narrow corridors – where inflow exceeds outflow. Railway stations, melas and stadiums already have fixed CCTV, but feeds are watched manually. A useful system must warn minutes early, point to the exact chokepoint, and say what to do.</a:t>
            </a:r>
          </a:p>
        </p:txBody>
      </p:sp>
    </p:spTree>
    <p:extLst>
      <p:ext uri="{BB962C8B-B14F-4D97-AF65-F5344CB8AC3E}">
        <p14:creationId xmlns:p14="http://schemas.microsoft.com/office/powerpoint/2010/main" val="271503659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IN" sz="2400" dirty="0">
                <a:solidFill>
                  <a:srgbClr val="FF0000"/>
                </a:solidFill>
                <a:latin typeface="Times New Roman" pitchFamily="34" charset="0"/>
              </a:rPr>
              <a:t>Background Work</a:t>
            </a:r>
            <a:endParaRPr lang="en-US" sz="2400" dirty="0">
              <a:solidFill>
                <a:srgbClr val="FF0000"/>
              </a:solidFill>
              <a:latin typeface="Times New Roman" pitchFamily="34" charset="0"/>
            </a:endParaRPr>
          </a:p>
        </p:txBody>
      </p:sp>
      <p:graphicFrame>
        <p:nvGraphicFramePr>
          <p:cNvPr id="15" name="Table 14"/>
          <p:cNvGraphicFramePr>
            <a:graphicFrameLocks noGrp="1"/>
          </p:cNvGraphicFramePr>
          <p:nvPr/>
        </p:nvGraphicFramePr>
        <p:xfrm>
          <a:off x="330200" y="1701800"/>
          <a:ext cx="11531600" cy="2405888"/>
        </p:xfrm>
        <a:graphic>
          <a:graphicData uri="http://schemas.openxmlformats.org/drawingml/2006/table">
            <a:tbl>
              <a:tblPr firstRow="1" bandRow="1">
                <a:tableStyleId>{5C22544A-7EE6-4342-B048-85BDC9FD1C3A}</a:tableStyleId>
              </a:tblPr>
              <a:tblGrid>
                <a:gridCol w="2603500">
                  <a:extLst>
                    <a:ext uri="{9D8B030D-6E8A-4147-A177-3AD203B41FA5}">
                      <a16:colId xmlns:a16="http://schemas.microsoft.com/office/drawing/2014/main" val="20000"/>
                    </a:ext>
                  </a:extLst>
                </a:gridCol>
                <a:gridCol w="3619500">
                  <a:extLst>
                    <a:ext uri="{9D8B030D-6E8A-4147-A177-3AD203B41FA5}">
                      <a16:colId xmlns:a16="http://schemas.microsoft.com/office/drawing/2014/main" val="20001"/>
                    </a:ext>
                  </a:extLst>
                </a:gridCol>
                <a:gridCol w="2476500">
                  <a:extLst>
                    <a:ext uri="{9D8B030D-6E8A-4147-A177-3AD203B41FA5}">
                      <a16:colId xmlns:a16="http://schemas.microsoft.com/office/drawing/2014/main" val="20002"/>
                    </a:ext>
                  </a:extLst>
                </a:gridCol>
                <a:gridCol w="2832100">
                  <a:extLst>
                    <a:ext uri="{9D8B030D-6E8A-4147-A177-3AD203B41FA5}">
                      <a16:colId xmlns:a16="http://schemas.microsoft.com/office/drawing/2014/main" val="20003"/>
                    </a:ext>
                  </a:extLst>
                </a:gridCol>
              </a:tblGrid>
              <a:tr h="330200">
                <a:tc>
                  <a:txBody>
                    <a:bodyPr/>
                    <a:lstStyle/>
                    <a:p>
                      <a:r>
                        <a:rPr sz="1600" b="1">
                          <a:solidFill>
                            <a:srgbClr val="FFFFFF"/>
                          </a:solidFill>
                          <a:latin typeface="Times New Roman"/>
                        </a:rPr>
                        <a:t>System</a:t>
                      </a:r>
                    </a:p>
                  </a:txBody>
                  <a:tcPr marL="73152" marR="73152" marT="27432" marB="27432" anchor="ctr">
                    <a:solidFill>
                      <a:srgbClr val="0033CC"/>
                    </a:solidFill>
                  </a:tcPr>
                </a:tc>
                <a:tc>
                  <a:txBody>
                    <a:bodyPr/>
                    <a:lstStyle/>
                    <a:p>
                      <a:r>
                        <a:rPr sz="1600" b="1">
                          <a:solidFill>
                            <a:srgbClr val="FFFFFF"/>
                          </a:solidFill>
                          <a:latin typeface="Times New Roman"/>
                        </a:rPr>
                        <a:t>Unit of risk</a:t>
                      </a:r>
                    </a:p>
                  </a:txBody>
                  <a:tcPr marL="73152" marR="73152" marT="27432" marB="27432" anchor="ctr">
                    <a:solidFill>
                      <a:srgbClr val="0033CC"/>
                    </a:solidFill>
                  </a:tcPr>
                </a:tc>
                <a:tc>
                  <a:txBody>
                    <a:bodyPr/>
                    <a:lstStyle/>
                    <a:p>
                      <a:r>
                        <a:rPr sz="1600" b="1">
                          <a:solidFill>
                            <a:srgbClr val="FFFFFF"/>
                          </a:solidFill>
                          <a:latin typeface="Times New Roman"/>
                        </a:rPr>
                        <a:t>Models spread between zones</a:t>
                      </a:r>
                    </a:p>
                  </a:txBody>
                  <a:tcPr marL="73152" marR="73152" marT="27432" marB="27432" anchor="ctr">
                    <a:solidFill>
                      <a:srgbClr val="0033CC"/>
                    </a:solidFill>
                  </a:tcPr>
                </a:tc>
                <a:tc>
                  <a:txBody>
                    <a:bodyPr/>
                    <a:lstStyle/>
                    <a:p>
                      <a:r>
                        <a:rPr sz="1600" b="1">
                          <a:solidFill>
                            <a:srgbClr val="FFFFFF"/>
                          </a:solidFill>
                          <a:latin typeface="Times New Roman"/>
                        </a:rPr>
                        <a:t>Turns forecast into actions</a:t>
                      </a:r>
                    </a:p>
                  </a:txBody>
                  <a:tcPr marL="73152" marR="73152" marT="27432" marB="27432" anchor="ctr">
                    <a:solidFill>
                      <a:srgbClr val="0033CC"/>
                    </a:solidFill>
                  </a:tcPr>
                </a:tc>
                <a:extLst>
                  <a:ext uri="{0D108BD9-81ED-4DB2-BD59-A6C34878D82A}">
                    <a16:rowId xmlns:a16="http://schemas.microsoft.com/office/drawing/2014/main" val="10000"/>
                  </a:ext>
                </a:extLst>
              </a:tr>
              <a:tr h="330200">
                <a:tc>
                  <a:txBody>
                    <a:bodyPr/>
                    <a:lstStyle/>
                    <a:p>
                      <a:r>
                        <a:rPr sz="1600" b="0">
                          <a:solidFill>
                            <a:srgbClr val="1A1A1A"/>
                          </a:solidFill>
                          <a:latin typeface="Times New Roman"/>
                        </a:rPr>
                        <a:t>ICMF (2026) – base paper</a:t>
                      </a:r>
                    </a:p>
                  </a:txBody>
                  <a:tcPr marL="73152" marR="73152" marT="27432" marB="27432" anchor="ctr">
                    <a:solidFill>
                      <a:srgbClr val="FFFFFF"/>
                    </a:solidFill>
                  </a:tcPr>
                </a:tc>
                <a:tc>
                  <a:txBody>
                    <a:bodyPr/>
                    <a:lstStyle/>
                    <a:p>
                      <a:r>
                        <a:rPr sz="1600" b="0">
                          <a:solidFill>
                            <a:srgbClr val="1A1A1A"/>
                          </a:solidFill>
                          <a:latin typeface="Times New Roman"/>
                        </a:rPr>
                        <a:t>Whole frame: Safe / Warning / Danger</a:t>
                      </a:r>
                    </a:p>
                  </a:txBody>
                  <a:tcPr marL="73152" marR="73152" marT="27432" marB="27432" anchor="ctr">
                    <a:solidFill>
                      <a:srgbClr val="FFFFFF"/>
                    </a:solidFill>
                  </a:tcPr>
                </a:tc>
                <a:tc>
                  <a:txBody>
                    <a:bodyPr/>
                    <a:lstStyle/>
                    <a:p>
                      <a:r>
                        <a:rPr sz="1600" b="1">
                          <a:solidFill>
                            <a:srgbClr val="FF0000"/>
                          </a:solidFill>
                          <a:latin typeface="Times New Roman"/>
                        </a:rPr>
                        <a:t>No</a:t>
                      </a:r>
                    </a:p>
                  </a:txBody>
                  <a:tcPr marL="73152" marR="73152" marT="27432" marB="27432" anchor="ctr">
                    <a:solidFill>
                      <a:srgbClr val="FFFFFF"/>
                    </a:solidFill>
                  </a:tcPr>
                </a:tc>
                <a:tc>
                  <a:txBody>
                    <a:bodyPr/>
                    <a:lstStyle/>
                    <a:p>
                      <a:r>
                        <a:rPr sz="1600" b="1">
                          <a:solidFill>
                            <a:srgbClr val="FF0000"/>
                          </a:solidFill>
                          <a:latin typeface="Times New Roman"/>
                        </a:rPr>
                        <a:t>No</a:t>
                      </a:r>
                    </a:p>
                  </a:txBody>
                  <a:tcPr marL="73152" marR="73152" marT="27432" marB="27432" anchor="ctr">
                    <a:solidFill>
                      <a:srgbClr val="FFFFFF"/>
                    </a:solidFill>
                  </a:tcPr>
                </a:tc>
                <a:extLst>
                  <a:ext uri="{0D108BD9-81ED-4DB2-BD59-A6C34878D82A}">
                    <a16:rowId xmlns:a16="http://schemas.microsoft.com/office/drawing/2014/main" val="10001"/>
                  </a:ext>
                </a:extLst>
              </a:tr>
              <a:tr h="330200">
                <a:tc>
                  <a:txBody>
                    <a:bodyPr/>
                    <a:lstStyle/>
                    <a:p>
                      <a:r>
                        <a:rPr sz="1600" b="0">
                          <a:solidFill>
                            <a:srgbClr val="1A1A1A"/>
                          </a:solidFill>
                          <a:latin typeface="Times New Roman"/>
                        </a:rPr>
                        <a:t>Crowd Guardian (2026)</a:t>
                      </a:r>
                    </a:p>
                  </a:txBody>
                  <a:tcPr marL="73152" marR="73152" marT="27432" marB="27432" anchor="ctr">
                    <a:solidFill>
                      <a:srgbClr val="EEF3FC"/>
                    </a:solidFill>
                  </a:tcPr>
                </a:tc>
                <a:tc>
                  <a:txBody>
                    <a:bodyPr/>
                    <a:lstStyle/>
                    <a:p>
                      <a:r>
                        <a:rPr sz="1600" b="0">
                          <a:solidFill>
                            <a:srgbClr val="1A1A1A"/>
                          </a:solidFill>
                          <a:latin typeface="Times New Roman"/>
                        </a:rPr>
                        <a:t>Uniform 6×6 grid</a:t>
                      </a:r>
                    </a:p>
                  </a:txBody>
                  <a:tcPr marL="73152" marR="73152" marT="27432" marB="27432" anchor="ctr">
                    <a:solidFill>
                      <a:srgbClr val="EEF3FC"/>
                    </a:solidFill>
                  </a:tcPr>
                </a:tc>
                <a:tc>
                  <a:txBody>
                    <a:bodyPr/>
                    <a:lstStyle/>
                    <a:p>
                      <a:r>
                        <a:rPr sz="1600" b="1">
                          <a:solidFill>
                            <a:srgbClr val="FF0000"/>
                          </a:solidFill>
                          <a:latin typeface="Times New Roman"/>
                        </a:rPr>
                        <a:t>No</a:t>
                      </a:r>
                    </a:p>
                  </a:txBody>
                  <a:tcPr marL="73152" marR="73152" marT="27432" marB="27432" anchor="ctr">
                    <a:solidFill>
                      <a:srgbClr val="EEF3FC"/>
                    </a:solidFill>
                  </a:tcPr>
                </a:tc>
                <a:tc>
                  <a:txBody>
                    <a:bodyPr/>
                    <a:lstStyle/>
                    <a:p>
                      <a:r>
                        <a:rPr sz="1600" b="1">
                          <a:solidFill>
                            <a:srgbClr val="FF0000"/>
                          </a:solidFill>
                          <a:latin typeface="Times New Roman"/>
                        </a:rPr>
                        <a:t>No</a:t>
                      </a:r>
                    </a:p>
                  </a:txBody>
                  <a:tcPr marL="73152" marR="73152" marT="27432" marB="27432" anchor="ctr">
                    <a:solidFill>
                      <a:srgbClr val="EEF3FC"/>
                    </a:solidFill>
                  </a:tcPr>
                </a:tc>
                <a:extLst>
                  <a:ext uri="{0D108BD9-81ED-4DB2-BD59-A6C34878D82A}">
                    <a16:rowId xmlns:a16="http://schemas.microsoft.com/office/drawing/2014/main" val="10002"/>
                  </a:ext>
                </a:extLst>
              </a:tr>
              <a:tr h="330200">
                <a:tc>
                  <a:txBody>
                    <a:bodyPr/>
                    <a:lstStyle/>
                    <a:p>
                      <a:r>
                        <a:rPr sz="1600" b="0">
                          <a:solidFill>
                            <a:srgbClr val="1A1A1A"/>
                          </a:solidFill>
                          <a:latin typeface="Times New Roman"/>
                        </a:rPr>
                        <a:t>GIEST predictor (2025)</a:t>
                      </a:r>
                    </a:p>
                  </a:txBody>
                  <a:tcPr marL="73152" marR="73152" marT="27432" marB="27432" anchor="ctr">
                    <a:solidFill>
                      <a:srgbClr val="FFFFFF"/>
                    </a:solidFill>
                  </a:tcPr>
                </a:tc>
                <a:tc>
                  <a:txBody>
                    <a:bodyPr/>
                    <a:lstStyle/>
                    <a:p>
                      <a:r>
                        <a:rPr sz="1600" b="0">
                          <a:solidFill>
                            <a:srgbClr val="1A1A1A"/>
                          </a:solidFill>
                          <a:latin typeface="Times New Roman"/>
                        </a:rPr>
                        <a:t>Density grid cells</a:t>
                      </a:r>
                    </a:p>
                  </a:txBody>
                  <a:tcPr marL="73152" marR="73152" marT="27432" marB="27432" anchor="ctr">
                    <a:solidFill>
                      <a:srgbClr val="FFFFFF"/>
                    </a:solidFill>
                  </a:tcPr>
                </a:tc>
                <a:tc>
                  <a:txBody>
                    <a:bodyPr/>
                    <a:lstStyle/>
                    <a:p>
                      <a:r>
                        <a:rPr sz="1600" b="1">
                          <a:solidFill>
                            <a:srgbClr val="FF0000"/>
                          </a:solidFill>
                          <a:latin typeface="Times New Roman"/>
                        </a:rPr>
                        <a:t>No</a:t>
                      </a:r>
                    </a:p>
                  </a:txBody>
                  <a:tcPr marL="73152" marR="73152" marT="27432" marB="27432" anchor="ctr">
                    <a:solidFill>
                      <a:srgbClr val="FFFFFF"/>
                    </a:solidFill>
                  </a:tcPr>
                </a:tc>
                <a:tc>
                  <a:txBody>
                    <a:bodyPr/>
                    <a:lstStyle/>
                    <a:p>
                      <a:r>
                        <a:rPr sz="1600" b="1">
                          <a:solidFill>
                            <a:srgbClr val="FF0000"/>
                          </a:solidFill>
                          <a:latin typeface="Times New Roman"/>
                        </a:rPr>
                        <a:t>No</a:t>
                      </a:r>
                    </a:p>
                  </a:txBody>
                  <a:tcPr marL="73152" marR="73152" marT="27432" marB="27432" anchor="ctr">
                    <a:solidFill>
                      <a:srgbClr val="FFFFFF"/>
                    </a:solidFill>
                  </a:tcPr>
                </a:tc>
                <a:extLst>
                  <a:ext uri="{0D108BD9-81ED-4DB2-BD59-A6C34878D82A}">
                    <a16:rowId xmlns:a16="http://schemas.microsoft.com/office/drawing/2014/main" val="10003"/>
                  </a:ext>
                </a:extLst>
              </a:tr>
              <a:tr h="330200">
                <a:tc>
                  <a:txBody>
                    <a:bodyPr/>
                    <a:lstStyle/>
                    <a:p>
                      <a:r>
                        <a:rPr sz="1600" b="0">
                          <a:solidFill>
                            <a:srgbClr val="1A1A1A"/>
                          </a:solidFill>
                          <a:latin typeface="Times New Roman"/>
                        </a:rPr>
                        <a:t>AURORA (2026)</a:t>
                      </a:r>
                    </a:p>
                  </a:txBody>
                  <a:tcPr marL="73152" marR="73152" marT="27432" marB="27432" anchor="ctr">
                    <a:solidFill>
                      <a:srgbClr val="EEF3FC"/>
                    </a:solidFill>
                  </a:tcPr>
                </a:tc>
                <a:tc>
                  <a:txBody>
                    <a:bodyPr/>
                    <a:lstStyle/>
                    <a:p>
                      <a:r>
                        <a:rPr sz="1600" b="0">
                          <a:solidFill>
                            <a:srgbClr val="1A1A1A"/>
                          </a:solidFill>
                          <a:latin typeface="Times New Roman"/>
                        </a:rPr>
                        <a:t>Zone-wise, not tied to structure</a:t>
                      </a:r>
                    </a:p>
                  </a:txBody>
                  <a:tcPr marL="73152" marR="73152" marT="27432" marB="27432" anchor="ctr">
                    <a:solidFill>
                      <a:srgbClr val="EEF3FC"/>
                    </a:solidFill>
                  </a:tcPr>
                </a:tc>
                <a:tc>
                  <a:txBody>
                    <a:bodyPr/>
                    <a:lstStyle/>
                    <a:p>
                      <a:r>
                        <a:rPr sz="1600" b="1">
                          <a:solidFill>
                            <a:srgbClr val="FF0000"/>
                          </a:solidFill>
                          <a:latin typeface="Times New Roman"/>
                        </a:rPr>
                        <a:t>No</a:t>
                      </a:r>
                    </a:p>
                  </a:txBody>
                  <a:tcPr marL="73152" marR="73152" marT="27432" marB="27432" anchor="ctr">
                    <a:solidFill>
                      <a:srgbClr val="EEF3FC"/>
                    </a:solidFill>
                  </a:tcPr>
                </a:tc>
                <a:tc>
                  <a:txBody>
                    <a:bodyPr/>
                    <a:lstStyle/>
                    <a:p>
                      <a:r>
                        <a:rPr sz="1600" b="1">
                          <a:solidFill>
                            <a:srgbClr val="E08A00"/>
                          </a:solidFill>
                          <a:latin typeface="Times New Roman"/>
                        </a:rPr>
                        <a:t>Rule-based safety layer only</a:t>
                      </a:r>
                    </a:p>
                  </a:txBody>
                  <a:tcPr marL="73152" marR="73152" marT="27432" marB="27432" anchor="ctr">
                    <a:solidFill>
                      <a:srgbClr val="EEF3FC"/>
                    </a:solidFill>
                  </a:tcPr>
                </a:tc>
                <a:extLst>
                  <a:ext uri="{0D108BD9-81ED-4DB2-BD59-A6C34878D82A}">
                    <a16:rowId xmlns:a16="http://schemas.microsoft.com/office/drawing/2014/main" val="10004"/>
                  </a:ext>
                </a:extLst>
              </a:tr>
              <a:tr h="330200">
                <a:tc>
                  <a:txBody>
                    <a:bodyPr/>
                    <a:lstStyle/>
                    <a:p>
                      <a:r>
                        <a:rPr sz="1600" b="1">
                          <a:solidFill>
                            <a:srgbClr val="0033CC"/>
                          </a:solidFill>
                          <a:latin typeface="Times New Roman"/>
                        </a:rPr>
                        <a:t>ChokePoint (ours)</a:t>
                      </a:r>
                    </a:p>
                  </a:txBody>
                  <a:tcPr marL="73152" marR="73152" marT="27432" marB="27432" anchor="ctr">
                    <a:solidFill>
                      <a:srgbClr val="FFFFFF"/>
                    </a:solidFill>
                  </a:tcPr>
                </a:tc>
                <a:tc>
                  <a:txBody>
                    <a:bodyPr/>
                    <a:lstStyle/>
                    <a:p>
                      <a:r>
                        <a:rPr sz="1600" b="1">
                          <a:solidFill>
                            <a:srgbClr val="1A1A1A"/>
                          </a:solidFill>
                          <a:latin typeface="Times New Roman"/>
                        </a:rPr>
                        <a:t>Structural chokepoints: stairs, gates, FOBs</a:t>
                      </a:r>
                    </a:p>
                  </a:txBody>
                  <a:tcPr marL="73152" marR="73152" marT="27432" marB="27432" anchor="ctr">
                    <a:solidFill>
                      <a:srgbClr val="FFFFFF"/>
                    </a:solidFill>
                  </a:tcPr>
                </a:tc>
                <a:tc>
                  <a:txBody>
                    <a:bodyPr/>
                    <a:lstStyle/>
                    <a:p>
                      <a:r>
                        <a:rPr sz="1600" b="1">
                          <a:solidFill>
                            <a:srgbClr val="1E8E3E"/>
                          </a:solidFill>
                          <a:latin typeface="Times New Roman"/>
                        </a:rPr>
                        <a:t>Yes – GNN (proposed)</a:t>
                      </a:r>
                    </a:p>
                  </a:txBody>
                  <a:tcPr marL="73152" marR="73152" marT="27432" marB="27432" anchor="ctr">
                    <a:solidFill>
                      <a:srgbClr val="FFFFFF"/>
                    </a:solidFill>
                  </a:tcPr>
                </a:tc>
                <a:tc>
                  <a:txBody>
                    <a:bodyPr/>
                    <a:lstStyle/>
                    <a:p>
                      <a:r>
                        <a:rPr sz="1600" b="1">
                          <a:solidFill>
                            <a:srgbClr val="1E8E3E"/>
                          </a:solidFill>
                          <a:latin typeface="Times New Roman"/>
                        </a:rPr>
                        <a:t>Yes – ranked actions (proposed)</a:t>
                      </a:r>
                    </a:p>
                  </a:txBody>
                  <a:tcPr marL="73152" marR="73152" marT="27432" marB="27432" anchor="ctr">
                    <a:solidFill>
                      <a:srgbClr val="FFFFFF"/>
                    </a:solidFill>
                  </a:tcPr>
                </a:tc>
                <a:extLst>
                  <a:ext uri="{0D108BD9-81ED-4DB2-BD59-A6C34878D82A}">
                    <a16:rowId xmlns:a16="http://schemas.microsoft.com/office/drawing/2014/main" val="10005"/>
                  </a:ext>
                </a:extLst>
              </a:tr>
            </a:tbl>
          </a:graphicData>
        </a:graphic>
      </p:graphicFrame>
      <p:pic>
        <p:nvPicPr>
          <p:cNvPr id="16" name="Picture 15" descr="img_zones.png"/>
          <p:cNvPicPr>
            <a:picLocks noChangeAspect="1"/>
          </p:cNvPicPr>
          <p:nvPr/>
        </p:nvPicPr>
        <p:blipFill>
          <a:blip r:embed="rId3"/>
          <a:stretch>
            <a:fillRect/>
          </a:stretch>
        </p:blipFill>
        <p:spPr>
          <a:xfrm>
            <a:off x="330200" y="4191000"/>
            <a:ext cx="6451601" cy="2184400"/>
          </a:xfrm>
          <a:prstGeom prst="rect">
            <a:avLst/>
          </a:prstGeom>
        </p:spPr>
      </p:pic>
      <p:sp>
        <p:nvSpPr>
          <p:cNvPr id="17" name="Rounded Rectangle 16"/>
          <p:cNvSpPr/>
          <p:nvPr/>
        </p:nvSpPr>
        <p:spPr>
          <a:xfrm>
            <a:off x="6959601" y="4191000"/>
            <a:ext cx="4902198" cy="2184400"/>
          </a:xfrm>
          <a:prstGeom prst="roundRect">
            <a:avLst>
              <a:gd name="adj" fmla="val 6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086601" y="4241800"/>
            <a:ext cx="4648198" cy="2082800"/>
          </a:xfrm>
          <a:prstGeom prst="rect">
            <a:avLst/>
          </a:prstGeom>
          <a:noFill/>
        </p:spPr>
        <p:txBody>
          <a:bodyPr wrap="square" lIns="0" tIns="0" rIns="0" bIns="0" anchor="t">
            <a:spAutoFit/>
          </a:bodyPr>
          <a:lstStyle/>
          <a:p>
            <a:pPr algn="l">
              <a:spcAft>
                <a:spcPts val="600"/>
              </a:spcAft>
            </a:pPr>
            <a:r>
              <a:rPr sz="1800" b="1" i="0" dirty="0">
                <a:solidFill>
                  <a:srgbClr val="0033CC"/>
                </a:solidFill>
                <a:latin typeface="Times New Roman"/>
              </a:rPr>
              <a:t>Research gap</a:t>
            </a:r>
          </a:p>
          <a:p>
            <a:pPr algn="l">
              <a:spcAft>
                <a:spcPts val="400"/>
              </a:spcAft>
            </a:pPr>
            <a:r>
              <a:rPr sz="1600" b="0" i="0" dirty="0">
                <a:solidFill>
                  <a:srgbClr val="1A1A1A"/>
                </a:solidFill>
                <a:latin typeface="Times New Roman"/>
              </a:rPr>
              <a:t>Density estimation, LSTM forecasting and grid aggregation each exist in prior work. No reviewed system combines chokepoint zoning, inter-zone propagation and ranked interventions in one framework. We propose this combination and will validate it through ablation.</a:t>
            </a:r>
          </a:p>
        </p:txBody>
      </p:sp>
      <p:sp>
        <p:nvSpPr>
          <p:cNvPr id="19" name="TextBox 18"/>
          <p:cNvSpPr txBox="1"/>
          <p:nvPr/>
        </p:nvSpPr>
        <p:spPr>
          <a:xfrm>
            <a:off x="332847" y="6426200"/>
            <a:ext cx="11534247" cy="279400"/>
          </a:xfrm>
          <a:prstGeom prst="rect">
            <a:avLst/>
          </a:prstGeom>
          <a:noFill/>
        </p:spPr>
        <p:txBody>
          <a:bodyPr wrap="square" lIns="0" tIns="0" rIns="0" bIns="0" anchor="t">
            <a:spAutoFit/>
          </a:bodyPr>
          <a:lstStyle/>
          <a:p>
            <a:pPr algn="l">
              <a:spcAft>
                <a:spcPts val="400"/>
              </a:spcAft>
            </a:pPr>
            <a:r>
              <a:rPr sz="1600" b="0" i="1" dirty="0">
                <a:solidFill>
                  <a:srgbClr val="666666"/>
                </a:solidFill>
                <a:latin typeface="Times New Roman"/>
              </a:rPr>
              <a:t>Left: grid cuts through stairs. Right: chokepoint zones. Base paper: ICMF (Parashar et al., IJCTT 2026).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IN" sz="2400" dirty="0">
                <a:solidFill>
                  <a:srgbClr val="FF0000"/>
                </a:solidFill>
                <a:latin typeface="Times New Roman" pitchFamily="34" charset="0"/>
              </a:rPr>
              <a:t>Proposed Approach</a:t>
            </a:r>
            <a:endParaRPr lang="en-US" sz="2400" dirty="0">
              <a:solidFill>
                <a:srgbClr val="FF0000"/>
              </a:solidFill>
              <a:latin typeface="Times New Roman" pitchFamily="34" charset="0"/>
            </a:endParaRPr>
          </a:p>
        </p:txBody>
      </p:sp>
      <p:sp>
        <p:nvSpPr>
          <p:cNvPr id="15" name="Rounded Rectangle 14"/>
          <p:cNvSpPr/>
          <p:nvPr/>
        </p:nvSpPr>
        <p:spPr>
          <a:xfrm>
            <a:off x="332847" y="1701800"/>
            <a:ext cx="1477527" cy="1510581"/>
          </a:xfrm>
          <a:prstGeom prst="roundRect">
            <a:avLst>
              <a:gd name="adj" fmla="val 6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409107" y="1767887"/>
            <a:ext cx="1325008" cy="1416169"/>
          </a:xfrm>
          <a:prstGeom prst="rect">
            <a:avLst/>
          </a:prstGeom>
          <a:noFill/>
        </p:spPr>
        <p:txBody>
          <a:bodyPr wrap="square" lIns="0" tIns="0" rIns="0" bIns="0" anchor="t">
            <a:spAutoFit/>
          </a:bodyPr>
          <a:lstStyle/>
          <a:p>
            <a:pPr algn="ctr">
              <a:spcAft>
                <a:spcPts val="400"/>
              </a:spcAft>
            </a:pPr>
            <a:r>
              <a:rPr sz="1600" b="1" i="0">
                <a:solidFill>
                  <a:srgbClr val="0033CC"/>
                </a:solidFill>
                <a:latin typeface="Times New Roman"/>
              </a:rPr>
              <a:t>CCTV video</a:t>
            </a:r>
          </a:p>
          <a:p>
            <a:pPr algn="ctr">
              <a:spcAft>
                <a:spcPts val="400"/>
              </a:spcAft>
            </a:pPr>
            <a:r>
              <a:rPr sz="1600" b="0" i="0">
                <a:solidFill>
                  <a:srgbClr val="1A1A1A"/>
                </a:solidFill>
                <a:latin typeface="Times New Roman"/>
              </a:rPr>
              <a:t>Fixed camera feed</a:t>
            </a:r>
          </a:p>
        </p:txBody>
      </p:sp>
      <p:sp>
        <p:nvSpPr>
          <p:cNvPr id="17" name="Right Arrow 16"/>
          <p:cNvSpPr/>
          <p:nvPr/>
        </p:nvSpPr>
        <p:spPr>
          <a:xfrm>
            <a:off x="1829440" y="2315473"/>
            <a:ext cx="162051" cy="283233"/>
          </a:xfrm>
          <a:prstGeom prst="rightArrow">
            <a:avLst/>
          </a:prstGeom>
          <a:solidFill>
            <a:srgbClr val="33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Rounded Rectangle 17"/>
          <p:cNvSpPr/>
          <p:nvPr/>
        </p:nvSpPr>
        <p:spPr>
          <a:xfrm>
            <a:off x="2010556" y="1701800"/>
            <a:ext cx="1477527" cy="1510581"/>
          </a:xfrm>
          <a:prstGeom prst="roundRect">
            <a:avLst>
              <a:gd name="adj" fmla="val 6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2086816" y="1767887"/>
            <a:ext cx="1325008" cy="1416169"/>
          </a:xfrm>
          <a:prstGeom prst="rect">
            <a:avLst/>
          </a:prstGeom>
          <a:noFill/>
        </p:spPr>
        <p:txBody>
          <a:bodyPr wrap="square" lIns="0" tIns="0" rIns="0" bIns="0" anchor="t">
            <a:spAutoFit/>
          </a:bodyPr>
          <a:lstStyle/>
          <a:p>
            <a:pPr algn="ctr">
              <a:spcAft>
                <a:spcPts val="400"/>
              </a:spcAft>
            </a:pPr>
            <a:r>
              <a:rPr sz="1600" b="1" i="0">
                <a:solidFill>
                  <a:srgbClr val="0033CC"/>
                </a:solidFill>
                <a:latin typeface="Times New Roman"/>
              </a:rPr>
              <a:t>Count people</a:t>
            </a:r>
          </a:p>
          <a:p>
            <a:pPr algn="ctr">
              <a:spcAft>
                <a:spcPts val="400"/>
              </a:spcAft>
            </a:pPr>
            <a:r>
              <a:rPr sz="1600" b="0" i="0">
                <a:solidFill>
                  <a:srgbClr val="1A1A1A"/>
                </a:solidFill>
                <a:latin typeface="Times New Roman"/>
              </a:rPr>
              <a:t>YOLOv8 (sparse) + density map (dense)</a:t>
            </a:r>
          </a:p>
        </p:txBody>
      </p:sp>
      <p:sp>
        <p:nvSpPr>
          <p:cNvPr id="20" name="Right Arrow 19"/>
          <p:cNvSpPr/>
          <p:nvPr/>
        </p:nvSpPr>
        <p:spPr>
          <a:xfrm>
            <a:off x="3507149" y="2315473"/>
            <a:ext cx="162051" cy="283233"/>
          </a:xfrm>
          <a:prstGeom prst="rightArrow">
            <a:avLst/>
          </a:prstGeom>
          <a:solidFill>
            <a:srgbClr val="33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Rounded Rectangle 20"/>
          <p:cNvSpPr/>
          <p:nvPr/>
        </p:nvSpPr>
        <p:spPr>
          <a:xfrm>
            <a:off x="3688265" y="1701800"/>
            <a:ext cx="1477527" cy="1510581"/>
          </a:xfrm>
          <a:prstGeom prst="roundRect">
            <a:avLst>
              <a:gd name="adj" fmla="val 6000"/>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3764524" y="1767887"/>
            <a:ext cx="1325008" cy="1416169"/>
          </a:xfrm>
          <a:prstGeom prst="rect">
            <a:avLst/>
          </a:prstGeom>
          <a:noFill/>
        </p:spPr>
        <p:txBody>
          <a:bodyPr wrap="square" lIns="0" tIns="0" rIns="0" bIns="0" anchor="t">
            <a:spAutoFit/>
          </a:bodyPr>
          <a:lstStyle/>
          <a:p>
            <a:pPr algn="ctr">
              <a:spcAft>
                <a:spcPts val="400"/>
              </a:spcAft>
            </a:pPr>
            <a:r>
              <a:rPr sz="1600" b="1" i="0">
                <a:solidFill>
                  <a:srgbClr val="FFFFFF"/>
                </a:solidFill>
                <a:latin typeface="Times New Roman"/>
              </a:rPr>
              <a:t>Map to zones</a:t>
            </a:r>
          </a:p>
          <a:p>
            <a:pPr algn="ctr">
              <a:spcAft>
                <a:spcPts val="400"/>
              </a:spcAft>
            </a:pPr>
            <a:r>
              <a:rPr sz="1600" b="0" i="0">
                <a:solidFill>
                  <a:srgbClr val="FFFFFF"/>
                </a:solidFill>
                <a:latin typeface="Times New Roman"/>
              </a:rPr>
              <a:t>Point-in-polygon on chokepoints</a:t>
            </a:r>
          </a:p>
        </p:txBody>
      </p:sp>
      <p:sp>
        <p:nvSpPr>
          <p:cNvPr id="23" name="Right Arrow 22"/>
          <p:cNvSpPr/>
          <p:nvPr/>
        </p:nvSpPr>
        <p:spPr>
          <a:xfrm>
            <a:off x="5184857" y="2315473"/>
            <a:ext cx="162051" cy="283233"/>
          </a:xfrm>
          <a:prstGeom prst="rightArrow">
            <a:avLst/>
          </a:prstGeom>
          <a:solidFill>
            <a:srgbClr val="33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Rounded Rectangle 23"/>
          <p:cNvSpPr/>
          <p:nvPr/>
        </p:nvSpPr>
        <p:spPr>
          <a:xfrm>
            <a:off x="5365974" y="1701800"/>
            <a:ext cx="1477527" cy="1510581"/>
          </a:xfrm>
          <a:prstGeom prst="roundRect">
            <a:avLst>
              <a:gd name="adj" fmla="val 6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TextBox 24"/>
          <p:cNvSpPr txBox="1"/>
          <p:nvPr/>
        </p:nvSpPr>
        <p:spPr>
          <a:xfrm>
            <a:off x="5442233" y="1767887"/>
            <a:ext cx="1325008" cy="1416169"/>
          </a:xfrm>
          <a:prstGeom prst="rect">
            <a:avLst/>
          </a:prstGeom>
          <a:noFill/>
        </p:spPr>
        <p:txBody>
          <a:bodyPr wrap="square" lIns="0" tIns="0" rIns="0" bIns="0" anchor="t">
            <a:spAutoFit/>
          </a:bodyPr>
          <a:lstStyle/>
          <a:p>
            <a:pPr algn="ctr">
              <a:spcAft>
                <a:spcPts val="400"/>
              </a:spcAft>
            </a:pPr>
            <a:r>
              <a:rPr sz="1600" b="1" i="0">
                <a:solidFill>
                  <a:srgbClr val="0033CC"/>
                </a:solidFill>
                <a:latin typeface="Times New Roman"/>
              </a:rPr>
              <a:t>Extract features</a:t>
            </a:r>
          </a:p>
          <a:p>
            <a:pPr algn="ctr">
              <a:spcAft>
                <a:spcPts val="400"/>
              </a:spcAft>
            </a:pPr>
            <a:r>
              <a:rPr sz="1600" b="0" i="0">
                <a:solidFill>
                  <a:srgbClr val="1A1A1A"/>
                </a:solidFill>
                <a:latin typeface="Times New Roman"/>
              </a:rPr>
              <a:t>Density, rate of change, net flux, entropy</a:t>
            </a:r>
          </a:p>
        </p:txBody>
      </p:sp>
      <p:sp>
        <p:nvSpPr>
          <p:cNvPr id="26" name="Right Arrow 25"/>
          <p:cNvSpPr/>
          <p:nvPr/>
        </p:nvSpPr>
        <p:spPr>
          <a:xfrm>
            <a:off x="6862565" y="2315473"/>
            <a:ext cx="162051" cy="283233"/>
          </a:xfrm>
          <a:prstGeom prst="rightArrow">
            <a:avLst/>
          </a:prstGeom>
          <a:solidFill>
            <a:srgbClr val="33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6"/>
          <p:cNvSpPr/>
          <p:nvPr/>
        </p:nvSpPr>
        <p:spPr>
          <a:xfrm>
            <a:off x="7043683" y="1701800"/>
            <a:ext cx="1477527" cy="1510581"/>
          </a:xfrm>
          <a:prstGeom prst="roundRect">
            <a:avLst>
              <a:gd name="adj" fmla="val 6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7119942" y="1767887"/>
            <a:ext cx="1325008" cy="1416169"/>
          </a:xfrm>
          <a:prstGeom prst="rect">
            <a:avLst/>
          </a:prstGeom>
          <a:noFill/>
        </p:spPr>
        <p:txBody>
          <a:bodyPr wrap="square" lIns="0" tIns="0" rIns="0" bIns="0" anchor="t">
            <a:spAutoFit/>
          </a:bodyPr>
          <a:lstStyle/>
          <a:p>
            <a:pPr algn="ctr">
              <a:spcAft>
                <a:spcPts val="400"/>
              </a:spcAft>
            </a:pPr>
            <a:r>
              <a:rPr sz="1600" b="1" i="0">
                <a:solidFill>
                  <a:srgbClr val="0033CC"/>
                </a:solidFill>
                <a:latin typeface="Times New Roman"/>
              </a:rPr>
              <a:t>Forecast per zone</a:t>
            </a:r>
          </a:p>
          <a:p>
            <a:pPr algn="ctr">
              <a:spcAft>
                <a:spcPts val="400"/>
              </a:spcAft>
            </a:pPr>
            <a:r>
              <a:rPr sz="1600" b="0" i="0">
                <a:solidFill>
                  <a:srgbClr val="1A1A1A"/>
                </a:solidFill>
                <a:latin typeface="Times New Roman"/>
              </a:rPr>
              <a:t>P(Danger in 3/5/10 min), LSTM</a:t>
            </a:r>
          </a:p>
        </p:txBody>
      </p:sp>
      <p:sp>
        <p:nvSpPr>
          <p:cNvPr id="29" name="Right Arrow 28"/>
          <p:cNvSpPr/>
          <p:nvPr/>
        </p:nvSpPr>
        <p:spPr>
          <a:xfrm>
            <a:off x="8540275" y="2315473"/>
            <a:ext cx="162051" cy="283233"/>
          </a:xfrm>
          <a:prstGeom prst="rightArrow">
            <a:avLst/>
          </a:prstGeom>
          <a:solidFill>
            <a:srgbClr val="33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0" name="Rounded Rectangle 29"/>
          <p:cNvSpPr/>
          <p:nvPr/>
        </p:nvSpPr>
        <p:spPr>
          <a:xfrm>
            <a:off x="8721391" y="1701800"/>
            <a:ext cx="1477527" cy="1510581"/>
          </a:xfrm>
          <a:prstGeom prst="roundRect">
            <a:avLst>
              <a:gd name="adj" fmla="val 6000"/>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8797651" y="1767887"/>
            <a:ext cx="1325008" cy="1416169"/>
          </a:xfrm>
          <a:prstGeom prst="rect">
            <a:avLst/>
          </a:prstGeom>
          <a:noFill/>
        </p:spPr>
        <p:txBody>
          <a:bodyPr wrap="square" lIns="0" tIns="0" rIns="0" bIns="0" anchor="t">
            <a:spAutoFit/>
          </a:bodyPr>
          <a:lstStyle/>
          <a:p>
            <a:pPr algn="ctr">
              <a:spcAft>
                <a:spcPts val="400"/>
              </a:spcAft>
            </a:pPr>
            <a:r>
              <a:rPr sz="1600" b="1" i="0">
                <a:solidFill>
                  <a:srgbClr val="FFFFFF"/>
                </a:solidFill>
                <a:latin typeface="Times New Roman"/>
              </a:rPr>
              <a:t>Propagate risk</a:t>
            </a:r>
          </a:p>
          <a:p>
            <a:pPr algn="ctr">
              <a:spcAft>
                <a:spcPts val="400"/>
              </a:spcAft>
            </a:pPr>
            <a:r>
              <a:rPr sz="1600" b="0" i="0">
                <a:solidFill>
                  <a:srgbClr val="FFFFFF"/>
                </a:solidFill>
                <a:latin typeface="Times New Roman"/>
              </a:rPr>
              <a:t>GNN (GCN/GAT) on zone graph</a:t>
            </a:r>
          </a:p>
        </p:txBody>
      </p:sp>
      <p:sp>
        <p:nvSpPr>
          <p:cNvPr id="32" name="Right Arrow 31"/>
          <p:cNvSpPr/>
          <p:nvPr/>
        </p:nvSpPr>
        <p:spPr>
          <a:xfrm>
            <a:off x="10217984" y="2315473"/>
            <a:ext cx="162051" cy="283233"/>
          </a:xfrm>
          <a:prstGeom prst="rightArrow">
            <a:avLst/>
          </a:prstGeom>
          <a:solidFill>
            <a:srgbClr val="33CCC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3" name="Rounded Rectangle 32"/>
          <p:cNvSpPr/>
          <p:nvPr/>
        </p:nvSpPr>
        <p:spPr>
          <a:xfrm>
            <a:off x="10399100" y="1701800"/>
            <a:ext cx="1477527" cy="1510581"/>
          </a:xfrm>
          <a:prstGeom prst="roundRect">
            <a:avLst>
              <a:gd name="adj" fmla="val 6000"/>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0475360" y="1767887"/>
            <a:ext cx="1325008" cy="1416169"/>
          </a:xfrm>
          <a:prstGeom prst="rect">
            <a:avLst/>
          </a:prstGeom>
          <a:noFill/>
        </p:spPr>
        <p:txBody>
          <a:bodyPr wrap="square" lIns="0" tIns="0" rIns="0" bIns="0" anchor="t">
            <a:spAutoFit/>
          </a:bodyPr>
          <a:lstStyle/>
          <a:p>
            <a:pPr algn="ctr">
              <a:spcAft>
                <a:spcPts val="400"/>
              </a:spcAft>
            </a:pPr>
            <a:r>
              <a:rPr sz="1600" b="1" i="0">
                <a:solidFill>
                  <a:srgbClr val="FFFFFF"/>
                </a:solidFill>
                <a:latin typeface="Times New Roman"/>
              </a:rPr>
              <a:t>Recommend action</a:t>
            </a:r>
          </a:p>
          <a:p>
            <a:pPr algn="ctr">
              <a:spcAft>
                <a:spcPts val="400"/>
              </a:spcAft>
            </a:pPr>
            <a:r>
              <a:rPr sz="1600" b="0" i="0">
                <a:solidFill>
                  <a:srgbClr val="FFFFFF"/>
                </a:solidFill>
                <a:latin typeface="Times New Roman"/>
              </a:rPr>
              <a:t>Ranked interventions</a:t>
            </a:r>
          </a:p>
        </p:txBody>
      </p:sp>
      <p:sp>
        <p:nvSpPr>
          <p:cNvPr id="35" name="TextBox 34"/>
          <p:cNvSpPr txBox="1"/>
          <p:nvPr/>
        </p:nvSpPr>
        <p:spPr>
          <a:xfrm>
            <a:off x="332847" y="3278469"/>
            <a:ext cx="5719461" cy="283233"/>
          </a:xfrm>
          <a:prstGeom prst="rect">
            <a:avLst/>
          </a:prstGeom>
          <a:noFill/>
        </p:spPr>
        <p:txBody>
          <a:bodyPr wrap="square" lIns="0" tIns="0" rIns="0" bIns="0" anchor="t">
            <a:spAutoFit/>
          </a:bodyPr>
          <a:lstStyle/>
          <a:p>
            <a:pPr algn="l">
              <a:spcAft>
                <a:spcPts val="400"/>
              </a:spcAft>
            </a:pPr>
            <a:r>
              <a:rPr sz="1600" b="0" i="1">
                <a:solidFill>
                  <a:srgbClr val="666666"/>
                </a:solidFill>
                <a:latin typeface="Times New Roman"/>
              </a:rPr>
              <a:t>Blue boxes = novel contribution</a:t>
            </a:r>
          </a:p>
        </p:txBody>
      </p:sp>
      <p:pic>
        <p:nvPicPr>
          <p:cNvPr id="36" name="Picture 35" descr="img_graph.png"/>
          <p:cNvPicPr>
            <a:picLocks noChangeAspect="1"/>
          </p:cNvPicPr>
          <p:nvPr/>
        </p:nvPicPr>
        <p:blipFill>
          <a:blip r:embed="rId3"/>
          <a:stretch>
            <a:fillRect/>
          </a:stretch>
        </p:blipFill>
        <p:spPr>
          <a:xfrm>
            <a:off x="347858" y="3637232"/>
            <a:ext cx="3104285" cy="2596311"/>
          </a:xfrm>
          <a:prstGeom prst="rect">
            <a:avLst/>
          </a:prstGeom>
        </p:spPr>
      </p:pic>
      <p:sp>
        <p:nvSpPr>
          <p:cNvPr id="37" name="TextBox 36"/>
          <p:cNvSpPr txBox="1"/>
          <p:nvPr/>
        </p:nvSpPr>
        <p:spPr>
          <a:xfrm>
            <a:off x="3573876" y="3684437"/>
            <a:ext cx="3241028" cy="2643516"/>
          </a:xfrm>
          <a:prstGeom prst="rect">
            <a:avLst/>
          </a:prstGeom>
          <a:noFill/>
        </p:spPr>
        <p:txBody>
          <a:bodyPr wrap="square" lIns="0" tIns="0" rIns="0" bIns="0" anchor="t">
            <a:spAutoFit/>
          </a:bodyPr>
          <a:lstStyle/>
          <a:p>
            <a:pPr algn="l">
              <a:spcAft>
                <a:spcPts val="600"/>
              </a:spcAft>
            </a:pPr>
            <a:r>
              <a:rPr sz="1700" b="1" i="0">
                <a:solidFill>
                  <a:srgbClr val="0033CC"/>
                </a:solidFill>
                <a:latin typeface="Times New Roman"/>
              </a:rPr>
              <a:t>Zone graph</a:t>
            </a:r>
          </a:p>
          <a:p>
            <a:pPr marL="228600" indent="-228600" algn="l">
              <a:spcAft>
                <a:spcPts val="500"/>
              </a:spcAft>
              <a:buFont typeface="Times New Roman"/>
              <a:buChar char="•"/>
            </a:pPr>
            <a:r>
              <a:rPr sz="1600" b="0" i="0">
                <a:solidFill>
                  <a:srgbClr val="1A1A1A"/>
                </a:solidFill>
                <a:latin typeface="Times New Roman"/>
              </a:rPr>
              <a:t>Node = chokepoint zone; feature = its LSTM forecast</a:t>
            </a:r>
          </a:p>
          <a:p>
            <a:pPr marL="228600" indent="-228600" algn="l">
              <a:spcAft>
                <a:spcPts val="500"/>
              </a:spcAft>
              <a:buFont typeface="Times New Roman"/>
              <a:buChar char="•"/>
            </a:pPr>
            <a:r>
              <a:rPr sz="1600" b="0" i="0">
                <a:solidFill>
                  <a:srgbClr val="1A1A1A"/>
                </a:solidFill>
                <a:latin typeface="Times New Roman"/>
              </a:rPr>
              <a:t>Edge = physical connection (stairs → platform → gate)</a:t>
            </a:r>
          </a:p>
          <a:p>
            <a:pPr marL="228600" indent="-228600" algn="l">
              <a:spcAft>
                <a:spcPts val="500"/>
              </a:spcAft>
              <a:buFont typeface="Times New Roman"/>
              <a:buChar char="•"/>
            </a:pPr>
            <a:r>
              <a:rPr sz="1600" b="0" i="0">
                <a:solidFill>
                  <a:srgbClr val="1A1A1A"/>
                </a:solidFill>
                <a:latin typeface="Times New Roman"/>
              </a:rPr>
              <a:t>GNN revises each zone's risk from its neighbours</a:t>
            </a:r>
          </a:p>
        </p:txBody>
      </p:sp>
      <p:sp>
        <p:nvSpPr>
          <p:cNvPr id="38" name="Rounded Rectangle 37"/>
          <p:cNvSpPr/>
          <p:nvPr/>
        </p:nvSpPr>
        <p:spPr>
          <a:xfrm>
            <a:off x="7005553" y="3637232"/>
            <a:ext cx="4861542" cy="2596311"/>
          </a:xfrm>
          <a:prstGeom prst="roundRect">
            <a:avLst>
              <a:gd name="adj" fmla="val 6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9" name="TextBox 38"/>
          <p:cNvSpPr txBox="1"/>
          <p:nvPr/>
        </p:nvSpPr>
        <p:spPr>
          <a:xfrm>
            <a:off x="7196202" y="3731642"/>
            <a:ext cx="4527907" cy="2454694"/>
          </a:xfrm>
          <a:prstGeom prst="rect">
            <a:avLst/>
          </a:prstGeom>
          <a:noFill/>
        </p:spPr>
        <p:txBody>
          <a:bodyPr wrap="square" lIns="0" tIns="0" rIns="0" bIns="0" anchor="t">
            <a:spAutoFit/>
          </a:bodyPr>
          <a:lstStyle/>
          <a:p>
            <a:pPr algn="l">
              <a:spcAft>
                <a:spcPts val="600"/>
              </a:spcAft>
            </a:pPr>
            <a:r>
              <a:rPr sz="1700" b="1" i="0">
                <a:solidFill>
                  <a:srgbClr val="0033CC"/>
                </a:solidFill>
                <a:latin typeface="Times New Roman"/>
              </a:rPr>
              <a:t>Signals per zone</a:t>
            </a:r>
          </a:p>
          <a:p>
            <a:pPr marL="228600" indent="-228600" algn="l">
              <a:spcAft>
                <a:spcPts val="500"/>
              </a:spcAft>
              <a:buFont typeface="Times New Roman"/>
              <a:buChar char="•"/>
            </a:pPr>
            <a:r>
              <a:rPr sz="1600" b="0" i="0">
                <a:solidFill>
                  <a:srgbClr val="1A1A1A"/>
                </a:solidFill>
                <a:latin typeface="Times New Roman"/>
              </a:rPr>
              <a:t>Density (persons / m²)</a:t>
            </a:r>
          </a:p>
          <a:p>
            <a:pPr marL="228600" indent="-228600" algn="l">
              <a:spcAft>
                <a:spcPts val="500"/>
              </a:spcAft>
              <a:buFont typeface="Times New Roman"/>
              <a:buChar char="•"/>
            </a:pPr>
            <a:r>
              <a:rPr sz="1600" b="0" i="0">
                <a:solidFill>
                  <a:srgbClr val="1A1A1A"/>
                </a:solidFill>
                <a:latin typeface="Times New Roman"/>
              </a:rPr>
              <a:t>Density rate of change</a:t>
            </a:r>
          </a:p>
          <a:p>
            <a:pPr marL="228600" indent="-228600" algn="l">
              <a:spcAft>
                <a:spcPts val="500"/>
              </a:spcAft>
              <a:buFont typeface="Times New Roman"/>
              <a:buChar char="•"/>
            </a:pPr>
            <a:r>
              <a:rPr sz="1600" b="0" i="0">
                <a:solidFill>
                  <a:srgbClr val="1A1A1A"/>
                </a:solidFill>
                <a:latin typeface="Times New Roman"/>
              </a:rPr>
              <a:t>Net flux: inflow − outflow at zone boundary</a:t>
            </a:r>
          </a:p>
          <a:p>
            <a:pPr marL="228600" indent="-228600" algn="l">
              <a:spcAft>
                <a:spcPts val="500"/>
              </a:spcAft>
              <a:buFont typeface="Times New Roman"/>
              <a:buChar char="•"/>
            </a:pPr>
            <a:r>
              <a:rPr sz="1600" b="0" i="0">
                <a:solidFill>
                  <a:srgbClr val="1A1A1A"/>
                </a:solidFill>
                <a:latin typeface="Times New Roman"/>
              </a:rPr>
              <a:t>Direction entropy (moving pixels only)</a:t>
            </a:r>
          </a:p>
          <a:p>
            <a:pPr algn="l">
              <a:spcAft>
                <a:spcPts val="400"/>
              </a:spcAft>
            </a:pPr>
            <a:r>
              <a:rPr sz="1600" b="0" i="1">
                <a:solidFill>
                  <a:srgbClr val="666666"/>
                </a:solidFill>
                <a:latin typeface="Times New Roman"/>
              </a:rPr>
              <a:t>Formulas, prediction target and thresholds on the next slide.</a:t>
            </a:r>
          </a:p>
        </p:txBody>
      </p:sp>
      <p:sp>
        <p:nvSpPr>
          <p:cNvPr id="40" name="TextBox 39"/>
          <p:cNvSpPr txBox="1"/>
          <p:nvPr/>
        </p:nvSpPr>
        <p:spPr>
          <a:xfrm>
            <a:off x="332847" y="6422366"/>
            <a:ext cx="11534247" cy="283233"/>
          </a:xfrm>
          <a:prstGeom prst="rect">
            <a:avLst/>
          </a:prstGeom>
          <a:noFill/>
        </p:spPr>
        <p:txBody>
          <a:bodyPr wrap="square" lIns="0" tIns="0" rIns="0" bIns="0" anchor="t">
            <a:spAutoFit/>
          </a:bodyPr>
          <a:lstStyle/>
          <a:p>
            <a:pPr algn="l">
              <a:spcAft>
                <a:spcPts val="400"/>
              </a:spcAft>
            </a:pPr>
            <a:r>
              <a:rPr sz="1600" b="0" i="1">
                <a:solidFill>
                  <a:srgbClr val="666666"/>
                </a:solidFill>
                <a:latin typeface="Times New Roman"/>
              </a:rPr>
              <a:t>Stack: Python | OpenCV | Ultralytics YOLOv8 | CSRNet / DM-Count | PyTorch | PyTorch Geometric | JuPedSim | Streamlit</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IN" sz="2400" dirty="0">
                <a:solidFill>
                  <a:srgbClr val="FF0000"/>
                </a:solidFill>
                <a:latin typeface="Times New Roman" pitchFamily="34" charset="0"/>
              </a:rPr>
              <a:t>Signals, Target and Thresholds</a:t>
            </a:r>
            <a:endParaRPr lang="en-US" sz="2400" dirty="0">
              <a:solidFill>
                <a:srgbClr val="FF0000"/>
              </a:solidFill>
              <a:latin typeface="Times New Roman" pitchFamily="34" charset="0"/>
            </a:endParaRPr>
          </a:p>
        </p:txBody>
      </p:sp>
      <p:graphicFrame>
        <p:nvGraphicFramePr>
          <p:cNvPr id="15" name="Table 14"/>
          <p:cNvGraphicFramePr>
            <a:graphicFrameLocks noGrp="1"/>
          </p:cNvGraphicFramePr>
          <p:nvPr/>
        </p:nvGraphicFramePr>
        <p:xfrm>
          <a:off x="330200" y="1701800"/>
          <a:ext cx="11531600" cy="2673096"/>
        </p:xfrm>
        <a:graphic>
          <a:graphicData uri="http://schemas.openxmlformats.org/drawingml/2006/table">
            <a:tbl>
              <a:tblPr firstRow="1" bandRow="1">
                <a:tableStyleId>{5C22544A-7EE6-4342-B048-85BDC9FD1C3A}</a:tableStyleId>
              </a:tblPr>
              <a:tblGrid>
                <a:gridCol w="2794000">
                  <a:extLst>
                    <a:ext uri="{9D8B030D-6E8A-4147-A177-3AD203B41FA5}">
                      <a16:colId xmlns:a16="http://schemas.microsoft.com/office/drawing/2014/main" val="20000"/>
                    </a:ext>
                  </a:extLst>
                </a:gridCol>
                <a:gridCol w="4191000">
                  <a:extLst>
                    <a:ext uri="{9D8B030D-6E8A-4147-A177-3AD203B41FA5}">
                      <a16:colId xmlns:a16="http://schemas.microsoft.com/office/drawing/2014/main" val="20001"/>
                    </a:ext>
                  </a:extLst>
                </a:gridCol>
                <a:gridCol w="4546600">
                  <a:extLst>
                    <a:ext uri="{9D8B030D-6E8A-4147-A177-3AD203B41FA5}">
                      <a16:colId xmlns:a16="http://schemas.microsoft.com/office/drawing/2014/main" val="20002"/>
                    </a:ext>
                  </a:extLst>
                </a:gridCol>
              </a:tblGrid>
              <a:tr h="381000">
                <a:tc>
                  <a:txBody>
                    <a:bodyPr/>
                    <a:lstStyle/>
                    <a:p>
                      <a:r>
                        <a:rPr sz="1700" b="1">
                          <a:solidFill>
                            <a:srgbClr val="FFFFFF"/>
                          </a:solidFill>
                          <a:latin typeface="Times New Roman"/>
                        </a:rPr>
                        <a:t>Signal</a:t>
                      </a:r>
                    </a:p>
                  </a:txBody>
                  <a:tcPr marL="73152" marR="73152" marT="27432" marB="27432" anchor="ctr">
                    <a:solidFill>
                      <a:srgbClr val="0033CC"/>
                    </a:solidFill>
                  </a:tcPr>
                </a:tc>
                <a:tc>
                  <a:txBody>
                    <a:bodyPr/>
                    <a:lstStyle/>
                    <a:p>
                      <a:r>
                        <a:rPr sz="1700" b="1">
                          <a:solidFill>
                            <a:srgbClr val="FFFFFF"/>
                          </a:solidFill>
                          <a:latin typeface="Times New Roman"/>
                        </a:rPr>
                        <a:t>Definition</a:t>
                      </a:r>
                    </a:p>
                  </a:txBody>
                  <a:tcPr marL="73152" marR="73152" marT="27432" marB="27432" anchor="ctr">
                    <a:solidFill>
                      <a:srgbClr val="0033CC"/>
                    </a:solidFill>
                  </a:tcPr>
                </a:tc>
                <a:tc>
                  <a:txBody>
                    <a:bodyPr/>
                    <a:lstStyle/>
                    <a:p>
                      <a:r>
                        <a:rPr sz="1700" b="1">
                          <a:solidFill>
                            <a:srgbClr val="FFFFFF"/>
                          </a:solidFill>
                          <a:latin typeface="Times New Roman"/>
                        </a:rPr>
                        <a:t>Why it matters</a:t>
                      </a:r>
                    </a:p>
                  </a:txBody>
                  <a:tcPr marL="73152" marR="73152" marT="27432" marB="27432" anchor="ctr">
                    <a:solidFill>
                      <a:srgbClr val="0033CC"/>
                    </a:solidFill>
                  </a:tcPr>
                </a:tc>
                <a:extLst>
                  <a:ext uri="{0D108BD9-81ED-4DB2-BD59-A6C34878D82A}">
                    <a16:rowId xmlns:a16="http://schemas.microsoft.com/office/drawing/2014/main" val="10000"/>
                  </a:ext>
                </a:extLst>
              </a:tr>
              <a:tr h="508000">
                <a:tc>
                  <a:txBody>
                    <a:bodyPr/>
                    <a:lstStyle/>
                    <a:p>
                      <a:r>
                        <a:rPr sz="1700" b="1">
                          <a:solidFill>
                            <a:srgbClr val="0033CC"/>
                          </a:solidFill>
                          <a:latin typeface="Times New Roman"/>
                        </a:rPr>
                        <a:t>Density ρ</a:t>
                      </a:r>
                    </a:p>
                  </a:txBody>
                  <a:tcPr marL="73152" marR="73152" marT="27432" marB="27432" anchor="ctr">
                    <a:solidFill>
                      <a:srgbClr val="FFFFFF"/>
                    </a:solidFill>
                  </a:tcPr>
                </a:tc>
                <a:tc>
                  <a:txBody>
                    <a:bodyPr/>
                    <a:lstStyle/>
                    <a:p>
                      <a:r>
                        <a:rPr sz="1700" b="0">
                          <a:solidFill>
                            <a:srgbClr val="1A1A1A"/>
                          </a:solidFill>
                          <a:latin typeface="Times New Roman"/>
                        </a:rPr>
                        <a:t>people in zone / zone area (m²); area from per-camera calibration</a:t>
                      </a:r>
                    </a:p>
                  </a:txBody>
                  <a:tcPr marL="73152" marR="73152" marT="27432" marB="27432" anchor="ctr">
                    <a:solidFill>
                      <a:srgbClr val="FFFFFF"/>
                    </a:solidFill>
                  </a:tcPr>
                </a:tc>
                <a:tc>
                  <a:txBody>
                    <a:bodyPr/>
                    <a:lstStyle/>
                    <a:p>
                      <a:r>
                        <a:rPr sz="1700" b="0">
                          <a:solidFill>
                            <a:srgbClr val="1A1A1A"/>
                          </a:solidFill>
                          <a:latin typeface="Times New Roman"/>
                        </a:rPr>
                        <a:t>Core crush indicator</a:t>
                      </a:r>
                    </a:p>
                  </a:txBody>
                  <a:tcPr marL="73152" marR="73152" marT="27432" marB="27432" anchor="ctr">
                    <a:solidFill>
                      <a:srgbClr val="FFFFFF"/>
                    </a:solidFill>
                  </a:tcPr>
                </a:tc>
                <a:extLst>
                  <a:ext uri="{0D108BD9-81ED-4DB2-BD59-A6C34878D82A}">
                    <a16:rowId xmlns:a16="http://schemas.microsoft.com/office/drawing/2014/main" val="10001"/>
                  </a:ext>
                </a:extLst>
              </a:tr>
              <a:tr h="508000">
                <a:tc>
                  <a:txBody>
                    <a:bodyPr/>
                    <a:lstStyle/>
                    <a:p>
                      <a:r>
                        <a:rPr sz="1700" b="1">
                          <a:solidFill>
                            <a:srgbClr val="0033CC"/>
                          </a:solidFill>
                          <a:latin typeface="Times New Roman"/>
                        </a:rPr>
                        <a:t>Density rate of change</a:t>
                      </a:r>
                    </a:p>
                  </a:txBody>
                  <a:tcPr marL="73152" marR="73152" marT="27432" marB="27432" anchor="ctr">
                    <a:solidFill>
                      <a:srgbClr val="EEF3FC"/>
                    </a:solidFill>
                  </a:tcPr>
                </a:tc>
                <a:tc>
                  <a:txBody>
                    <a:bodyPr/>
                    <a:lstStyle/>
                    <a:p>
                      <a:r>
                        <a:rPr sz="1700" b="0">
                          <a:solidFill>
                            <a:srgbClr val="1A1A1A"/>
                          </a:solidFill>
                          <a:latin typeface="Times New Roman"/>
                        </a:rPr>
                        <a:t>(ρ now − ρ N s ago) / N</a:t>
                      </a:r>
                    </a:p>
                  </a:txBody>
                  <a:tcPr marL="73152" marR="73152" marT="27432" marB="27432" anchor="ctr">
                    <a:solidFill>
                      <a:srgbClr val="EEF3FC"/>
                    </a:solidFill>
                  </a:tcPr>
                </a:tc>
                <a:tc>
                  <a:txBody>
                    <a:bodyPr/>
                    <a:lstStyle/>
                    <a:p>
                      <a:r>
                        <a:rPr sz="1700" b="0">
                          <a:solidFill>
                            <a:srgbClr val="1A1A1A"/>
                          </a:solidFill>
                          <a:latin typeface="Times New Roman"/>
                        </a:rPr>
                        <a:t>Early trend: rising density before it looks dangerous</a:t>
                      </a:r>
                    </a:p>
                  </a:txBody>
                  <a:tcPr marL="73152" marR="73152" marT="27432" marB="27432" anchor="ctr">
                    <a:solidFill>
                      <a:srgbClr val="EEF3FC"/>
                    </a:solidFill>
                  </a:tcPr>
                </a:tc>
                <a:extLst>
                  <a:ext uri="{0D108BD9-81ED-4DB2-BD59-A6C34878D82A}">
                    <a16:rowId xmlns:a16="http://schemas.microsoft.com/office/drawing/2014/main" val="10002"/>
                  </a:ext>
                </a:extLst>
              </a:tr>
              <a:tr h="508000">
                <a:tc>
                  <a:txBody>
                    <a:bodyPr/>
                    <a:lstStyle/>
                    <a:p>
                      <a:r>
                        <a:rPr sz="1700" b="1">
                          <a:solidFill>
                            <a:srgbClr val="0033CC"/>
                          </a:solidFill>
                          <a:latin typeface="Times New Roman"/>
                        </a:rPr>
                        <a:t>Net flux</a:t>
                      </a:r>
                    </a:p>
                  </a:txBody>
                  <a:tcPr marL="73152" marR="73152" marT="27432" marB="27432" anchor="ctr">
                    <a:solidFill>
                      <a:srgbClr val="FFFFFF"/>
                    </a:solidFill>
                  </a:tcPr>
                </a:tc>
                <a:tc>
                  <a:txBody>
                    <a:bodyPr/>
                    <a:lstStyle/>
                    <a:p>
                      <a:r>
                        <a:rPr sz="1700" b="0">
                          <a:solidFill>
                            <a:srgbClr val="1A1A1A"/>
                          </a:solidFill>
                          <a:latin typeface="Times New Roman"/>
                        </a:rPr>
                        <a:t>people entering − people leaving across zone boundary, per minute</a:t>
                      </a:r>
                    </a:p>
                  </a:txBody>
                  <a:tcPr marL="73152" marR="73152" marT="27432" marB="27432" anchor="ctr">
                    <a:solidFill>
                      <a:srgbClr val="FFFFFF"/>
                    </a:solidFill>
                  </a:tcPr>
                </a:tc>
                <a:tc>
                  <a:txBody>
                    <a:bodyPr/>
                    <a:lstStyle/>
                    <a:p>
                      <a:r>
                        <a:rPr sz="1700" b="0">
                          <a:solidFill>
                            <a:srgbClr val="1A1A1A"/>
                          </a:solidFill>
                          <a:latin typeface="Times New Roman"/>
                        </a:rPr>
                        <a:t>Bottleneck pressure; also the edge feature for the GNN</a:t>
                      </a:r>
                    </a:p>
                  </a:txBody>
                  <a:tcPr marL="73152" marR="73152" marT="27432" marB="27432" anchor="ctr">
                    <a:solidFill>
                      <a:srgbClr val="FFFFFF"/>
                    </a:solidFill>
                  </a:tcPr>
                </a:tc>
                <a:extLst>
                  <a:ext uri="{0D108BD9-81ED-4DB2-BD59-A6C34878D82A}">
                    <a16:rowId xmlns:a16="http://schemas.microsoft.com/office/drawing/2014/main" val="10003"/>
                  </a:ext>
                </a:extLst>
              </a:tr>
              <a:tr h="508000">
                <a:tc>
                  <a:txBody>
                    <a:bodyPr/>
                    <a:lstStyle/>
                    <a:p>
                      <a:r>
                        <a:rPr sz="1700" b="1">
                          <a:solidFill>
                            <a:srgbClr val="0033CC"/>
                          </a:solidFill>
                          <a:latin typeface="Times New Roman"/>
                        </a:rPr>
                        <a:t>Direction entropy H</a:t>
                      </a:r>
                    </a:p>
                  </a:txBody>
                  <a:tcPr marL="73152" marR="73152" marT="27432" marB="27432" anchor="ctr">
                    <a:solidFill>
                      <a:srgbClr val="EEF3FC"/>
                    </a:solidFill>
                  </a:tcPr>
                </a:tc>
                <a:tc>
                  <a:txBody>
                    <a:bodyPr/>
                    <a:lstStyle/>
                    <a:p>
                      <a:r>
                        <a:rPr sz="1700" b="0">
                          <a:solidFill>
                            <a:srgbClr val="1A1A1A"/>
                          </a:solidFill>
                          <a:latin typeface="Times New Roman"/>
                        </a:rPr>
                        <a:t>−Σ pᵢ ln pᵢ over 8 flow-direction bins, vectors below a minimum speed ignored</a:t>
                      </a:r>
                    </a:p>
                  </a:txBody>
                  <a:tcPr marL="73152" marR="73152" marT="27432" marB="27432" anchor="ctr">
                    <a:solidFill>
                      <a:srgbClr val="EEF3FC"/>
                    </a:solidFill>
                  </a:tcPr>
                </a:tc>
                <a:tc>
                  <a:txBody>
                    <a:bodyPr/>
                    <a:lstStyle/>
                    <a:p>
                      <a:r>
                        <a:rPr sz="1700" b="0">
                          <a:solidFill>
                            <a:srgbClr val="1A1A1A"/>
                          </a:solidFill>
                          <a:latin typeface="Times New Roman"/>
                        </a:rPr>
                        <a:t>Disorder / counter-flow; a standing crowd is not mistaken for panic</a:t>
                      </a:r>
                    </a:p>
                  </a:txBody>
                  <a:tcPr marL="73152" marR="73152" marT="27432" marB="27432" anchor="ctr">
                    <a:solidFill>
                      <a:srgbClr val="EEF3FC"/>
                    </a:solidFill>
                  </a:tcPr>
                </a:tc>
                <a:extLst>
                  <a:ext uri="{0D108BD9-81ED-4DB2-BD59-A6C34878D82A}">
                    <a16:rowId xmlns:a16="http://schemas.microsoft.com/office/drawing/2014/main" val="10004"/>
                  </a:ext>
                </a:extLst>
              </a:tr>
            </a:tbl>
          </a:graphicData>
        </a:graphic>
      </p:graphicFrame>
      <p:sp>
        <p:nvSpPr>
          <p:cNvPr id="16" name="Rounded Rectangle 15"/>
          <p:cNvSpPr/>
          <p:nvPr/>
        </p:nvSpPr>
        <p:spPr>
          <a:xfrm>
            <a:off x="330200" y="4495800"/>
            <a:ext cx="4749800" cy="2209800"/>
          </a:xfrm>
          <a:prstGeom prst="roundRect">
            <a:avLst>
              <a:gd name="adj" fmla="val 6000"/>
            </a:avLst>
          </a:prstGeom>
          <a:solidFill>
            <a:srgbClr val="FFFFFF"/>
          </a:solidFill>
          <a:ln w="127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482600" y="4546600"/>
            <a:ext cx="4470400" cy="2108200"/>
          </a:xfrm>
          <a:prstGeom prst="rect">
            <a:avLst/>
          </a:prstGeom>
          <a:noFill/>
        </p:spPr>
        <p:txBody>
          <a:bodyPr wrap="square" lIns="0" tIns="0" rIns="0" bIns="0" anchor="t">
            <a:spAutoFit/>
          </a:bodyPr>
          <a:lstStyle/>
          <a:p>
            <a:pPr algn="l">
              <a:spcAft>
                <a:spcPts val="600"/>
              </a:spcAft>
            </a:pPr>
            <a:r>
              <a:rPr sz="2000" b="1" i="0">
                <a:solidFill>
                  <a:srgbClr val="FF0000"/>
                </a:solidFill>
                <a:latin typeface="Times New Roman"/>
              </a:rPr>
              <a:t>Prediction target</a:t>
            </a:r>
          </a:p>
          <a:p>
            <a:pPr algn="l">
              <a:spcAft>
                <a:spcPts val="400"/>
              </a:spcAft>
            </a:pPr>
            <a:r>
              <a:rPr sz="1800" b="0" i="0">
                <a:solidFill>
                  <a:srgbClr val="1A1A1A"/>
                </a:solidFill>
                <a:latin typeface="Times New Roman"/>
              </a:rPr>
              <a:t>For each zone z and horizon H ∈ {3, 5, 10} min, predict</a:t>
            </a:r>
          </a:p>
          <a:p>
            <a:pPr algn="l">
              <a:spcAft>
                <a:spcPts val="600"/>
              </a:spcAft>
            </a:pPr>
            <a:r>
              <a:rPr sz="2000" b="1" i="0">
                <a:solidFill>
                  <a:srgbClr val="0033CC"/>
                </a:solidFill>
                <a:latin typeface="Times New Roman"/>
              </a:rPr>
              <a:t>P( ρ_z ≥ θ_z within the next H minutes )</a:t>
            </a:r>
          </a:p>
          <a:p>
            <a:pPr algn="l">
              <a:spcAft>
                <a:spcPts val="400"/>
              </a:spcAft>
            </a:pPr>
            <a:r>
              <a:rPr sz="1800" b="0" i="0">
                <a:solidFill>
                  <a:srgbClr val="333333"/>
                </a:solidFill>
                <a:latin typeface="Times New Roman"/>
              </a:rPr>
              <a:t>Binary label from observed / simulated density. Output shown as zone risk %.</a:t>
            </a:r>
          </a:p>
        </p:txBody>
      </p:sp>
      <p:sp>
        <p:nvSpPr>
          <p:cNvPr id="18" name="Rounded Rectangle 17"/>
          <p:cNvSpPr/>
          <p:nvPr/>
        </p:nvSpPr>
        <p:spPr>
          <a:xfrm>
            <a:off x="5232400" y="4495800"/>
            <a:ext cx="6629400" cy="2209800"/>
          </a:xfrm>
          <a:prstGeom prst="roundRect">
            <a:avLst>
              <a:gd name="adj" fmla="val 6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TextBox 18"/>
          <p:cNvSpPr txBox="1"/>
          <p:nvPr/>
        </p:nvSpPr>
        <p:spPr>
          <a:xfrm>
            <a:off x="5384800" y="4546600"/>
            <a:ext cx="6350000" cy="2108200"/>
          </a:xfrm>
          <a:prstGeom prst="rect">
            <a:avLst/>
          </a:prstGeom>
          <a:noFill/>
        </p:spPr>
        <p:txBody>
          <a:bodyPr wrap="square" lIns="0" tIns="0" rIns="0" bIns="0" anchor="t">
            <a:spAutoFit/>
          </a:bodyPr>
          <a:lstStyle/>
          <a:p>
            <a:pPr algn="l">
              <a:spcAft>
                <a:spcPts val="600"/>
              </a:spcAft>
            </a:pPr>
            <a:r>
              <a:rPr sz="2000" b="1" i="0">
                <a:solidFill>
                  <a:srgbClr val="0033CC"/>
                </a:solidFill>
                <a:latin typeface="Times New Roman"/>
              </a:rPr>
              <a:t>Zone-aware thresholds θ_z</a:t>
            </a:r>
          </a:p>
          <a:p>
            <a:pPr marL="228600" indent="-228600" algn="l">
              <a:spcAft>
                <a:spcPts val="500"/>
              </a:spcAft>
              <a:buFont typeface="Times New Roman"/>
              <a:buChar char="•"/>
            </a:pPr>
            <a:r>
              <a:rPr sz="1800" b="0" i="0">
                <a:solidFill>
                  <a:srgbClr val="1A1A1A"/>
                </a:solidFill>
                <a:latin typeface="Times New Roman"/>
              </a:rPr>
              <a:t>Starting point: Warning 2, Danger 4 persons/m² (GIEST 2025; Still’s crowd-safety limits)</a:t>
            </a:r>
          </a:p>
          <a:p>
            <a:pPr marL="228600" indent="-228600" algn="l">
              <a:spcAft>
                <a:spcPts val="500"/>
              </a:spcAft>
              <a:buFont typeface="Times New Roman"/>
              <a:buChar char="•"/>
            </a:pPr>
            <a:r>
              <a:rPr sz="1800" b="0" i="0">
                <a:solidFill>
                  <a:srgbClr val="1A1A1A"/>
                </a:solidFill>
                <a:latin typeface="Times New Roman"/>
              </a:rPr>
              <a:t>Stairs, gates and FOBs set lower than open platforms, as their safe flow per metre is lower (Fruin Level-of-Service)</a:t>
            </a:r>
          </a:p>
          <a:p>
            <a:pPr marL="228600" indent="-228600" algn="l">
              <a:spcAft>
                <a:spcPts val="500"/>
              </a:spcAft>
              <a:buFont typeface="Times New Roman"/>
              <a:buChar char="•"/>
            </a:pPr>
            <a:r>
              <a:rPr sz="1800" b="0" i="0">
                <a:solidFill>
                  <a:srgbClr val="1A1A1A"/>
                </a:solidFill>
                <a:latin typeface="Times New Roman"/>
              </a:rPr>
              <a:t>Final θ per zone type tuned on validation data and Jülich bottleneck measurements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2895600" y="990600"/>
            <a:ext cx="7848600" cy="461665"/>
          </a:xfrm>
          <a:prstGeom prst="rect">
            <a:avLst/>
          </a:prstGeom>
          <a:noFill/>
          <a:ln w="9525">
            <a:noFill/>
            <a:miter lim="800000"/>
            <a:headEnd/>
            <a:tailEnd/>
          </a:ln>
        </p:spPr>
        <p:txBody>
          <a:bodyPr wrap="square">
            <a:spAutoFit/>
          </a:bodyPr>
          <a:lstStyle/>
          <a:p>
            <a:pPr marL="342891" indent="-342891" algn="r" eaLnBrk="0" hangingPunct="0">
              <a:defRPr/>
            </a:pPr>
            <a:r>
              <a:rPr lang="en-IN" sz="2400" dirty="0">
                <a:solidFill>
                  <a:srgbClr val="FF0000"/>
                </a:solidFill>
                <a:latin typeface="Times New Roman" pitchFamily="34" charset="0"/>
              </a:rPr>
              <a:t>Applications/Use cases</a:t>
            </a:r>
            <a:endParaRPr lang="en-US" sz="2400" dirty="0">
              <a:solidFill>
                <a:srgbClr val="FF0000"/>
              </a:solidFill>
              <a:latin typeface="Times New Roman" pitchFamily="34" charset="0"/>
            </a:endParaRPr>
          </a:p>
        </p:txBody>
      </p:sp>
      <p:pic>
        <p:nvPicPr>
          <p:cNvPr id="15" name="Picture 14" descr="img_mock.png"/>
          <p:cNvPicPr>
            <a:picLocks noChangeAspect="1"/>
          </p:cNvPicPr>
          <p:nvPr/>
        </p:nvPicPr>
        <p:blipFill>
          <a:blip r:embed="rId3"/>
          <a:stretch>
            <a:fillRect/>
          </a:stretch>
        </p:blipFill>
        <p:spPr>
          <a:xfrm>
            <a:off x="332847" y="1701800"/>
            <a:ext cx="6577381" cy="4374238"/>
          </a:xfrm>
          <a:prstGeom prst="rect">
            <a:avLst/>
          </a:prstGeom>
        </p:spPr>
      </p:pic>
      <p:sp>
        <p:nvSpPr>
          <p:cNvPr id="16" name="TextBox 15"/>
          <p:cNvSpPr txBox="1"/>
          <p:nvPr/>
        </p:nvSpPr>
        <p:spPr>
          <a:xfrm>
            <a:off x="332847" y="6350000"/>
            <a:ext cx="6577381" cy="304800"/>
          </a:xfrm>
          <a:prstGeom prst="rect">
            <a:avLst/>
          </a:prstGeom>
          <a:noFill/>
        </p:spPr>
        <p:txBody>
          <a:bodyPr wrap="square" lIns="0" tIns="0" rIns="0" bIns="0" anchor="t">
            <a:spAutoFit/>
          </a:bodyPr>
          <a:lstStyle/>
          <a:p>
            <a:pPr algn="l">
              <a:spcAft>
                <a:spcPts val="400"/>
              </a:spcAft>
            </a:pPr>
            <a:r>
              <a:rPr sz="1600" b="0" i="1">
                <a:solidFill>
                  <a:srgbClr val="666666"/>
                </a:solidFill>
                <a:latin typeface="Times New Roman"/>
              </a:rPr>
              <a:t>Dashboard concept mockup; all values illustrative.</a:t>
            </a:r>
          </a:p>
        </p:txBody>
      </p:sp>
      <p:sp>
        <p:nvSpPr>
          <p:cNvPr id="17" name="Rounded Rectangle 16"/>
          <p:cNvSpPr/>
          <p:nvPr/>
        </p:nvSpPr>
        <p:spPr>
          <a:xfrm>
            <a:off x="7196202" y="1701800"/>
            <a:ext cx="4670893" cy="889000"/>
          </a:xfrm>
          <a:prstGeom prst="roundRect">
            <a:avLst>
              <a:gd name="adj" fmla="val 6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7386850" y="1701800"/>
            <a:ext cx="4384920" cy="889000"/>
          </a:xfrm>
          <a:prstGeom prst="rect">
            <a:avLst/>
          </a:prstGeom>
          <a:noFill/>
        </p:spPr>
        <p:txBody>
          <a:bodyPr wrap="square" lIns="0" tIns="0" rIns="0" bIns="0" anchor="ctr">
            <a:spAutoFit/>
          </a:bodyPr>
          <a:lstStyle/>
          <a:p>
            <a:pPr algn="l">
              <a:spcAft>
                <a:spcPts val="100"/>
              </a:spcAft>
            </a:pPr>
            <a:r>
              <a:rPr sz="2000" b="1" i="0">
                <a:solidFill>
                  <a:srgbClr val="0033CC"/>
                </a:solidFill>
                <a:latin typeface="Times New Roman"/>
              </a:rPr>
              <a:t>Station and venue managers</a:t>
            </a:r>
          </a:p>
          <a:p>
            <a:pPr algn="l">
              <a:spcAft>
                <a:spcPts val="400"/>
              </a:spcAft>
            </a:pPr>
            <a:r>
              <a:rPr sz="1800" b="0" i="0">
                <a:solidFill>
                  <a:srgbClr val="1A1A1A"/>
                </a:solidFill>
                <a:latin typeface="Times New Roman"/>
              </a:rPr>
              <a:t>See zone risk, act on ranked suggestions</a:t>
            </a:r>
          </a:p>
        </p:txBody>
      </p:sp>
      <p:sp>
        <p:nvSpPr>
          <p:cNvPr id="19" name="Rounded Rectangle 18"/>
          <p:cNvSpPr/>
          <p:nvPr/>
        </p:nvSpPr>
        <p:spPr>
          <a:xfrm>
            <a:off x="7196202" y="2717800"/>
            <a:ext cx="4670893" cy="889000"/>
          </a:xfrm>
          <a:prstGeom prst="roundRect">
            <a:avLst>
              <a:gd name="adj" fmla="val 6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7386850" y="2717800"/>
            <a:ext cx="4384920" cy="889000"/>
          </a:xfrm>
          <a:prstGeom prst="rect">
            <a:avLst/>
          </a:prstGeom>
          <a:noFill/>
        </p:spPr>
        <p:txBody>
          <a:bodyPr wrap="square" lIns="0" tIns="0" rIns="0" bIns="0" anchor="ctr">
            <a:spAutoFit/>
          </a:bodyPr>
          <a:lstStyle/>
          <a:p>
            <a:pPr algn="l">
              <a:spcAft>
                <a:spcPts val="100"/>
              </a:spcAft>
            </a:pPr>
            <a:r>
              <a:rPr sz="2000" b="1" i="0">
                <a:solidFill>
                  <a:srgbClr val="0033CC"/>
                </a:solidFill>
                <a:latin typeface="Times New Roman"/>
              </a:rPr>
              <a:t>Police, RPF, crowd control</a:t>
            </a:r>
          </a:p>
          <a:p>
            <a:pPr algn="l">
              <a:spcAft>
                <a:spcPts val="400"/>
              </a:spcAft>
            </a:pPr>
            <a:r>
              <a:rPr sz="1800" b="0" i="0">
                <a:solidFill>
                  <a:srgbClr val="1A1A1A"/>
                </a:solidFill>
                <a:latin typeface="Times New Roman"/>
              </a:rPr>
              <a:t>Open a gate, redirect flow, hold inflow</a:t>
            </a:r>
          </a:p>
        </p:txBody>
      </p:sp>
      <p:sp>
        <p:nvSpPr>
          <p:cNvPr id="21" name="Rounded Rectangle 20"/>
          <p:cNvSpPr/>
          <p:nvPr/>
        </p:nvSpPr>
        <p:spPr>
          <a:xfrm>
            <a:off x="7196202" y="3733800"/>
            <a:ext cx="4670893" cy="889000"/>
          </a:xfrm>
          <a:prstGeom prst="roundRect">
            <a:avLst>
              <a:gd name="adj" fmla="val 6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7386850" y="3733800"/>
            <a:ext cx="4384920" cy="889000"/>
          </a:xfrm>
          <a:prstGeom prst="rect">
            <a:avLst/>
          </a:prstGeom>
          <a:noFill/>
        </p:spPr>
        <p:txBody>
          <a:bodyPr wrap="square" lIns="0" tIns="0" rIns="0" bIns="0" anchor="ctr">
            <a:spAutoFit/>
          </a:bodyPr>
          <a:lstStyle/>
          <a:p>
            <a:pPr algn="l">
              <a:spcAft>
                <a:spcPts val="100"/>
              </a:spcAft>
            </a:pPr>
            <a:r>
              <a:rPr sz="2000" b="1" i="0">
                <a:solidFill>
                  <a:srgbClr val="0033CC"/>
                </a:solidFill>
                <a:latin typeface="Times New Roman"/>
              </a:rPr>
              <a:t>Emergency responders</a:t>
            </a:r>
          </a:p>
          <a:p>
            <a:pPr algn="l">
              <a:spcAft>
                <a:spcPts val="400"/>
              </a:spcAft>
            </a:pPr>
            <a:r>
              <a:rPr sz="1800" b="0" i="0">
                <a:solidFill>
                  <a:srgbClr val="1A1A1A"/>
                </a:solidFill>
                <a:latin typeface="Times New Roman"/>
              </a:rPr>
              <a:t>Minutes of lead time to pre-position</a:t>
            </a:r>
          </a:p>
        </p:txBody>
      </p:sp>
      <p:sp>
        <p:nvSpPr>
          <p:cNvPr id="23" name="Rounded Rectangle 22"/>
          <p:cNvSpPr/>
          <p:nvPr/>
        </p:nvSpPr>
        <p:spPr>
          <a:xfrm>
            <a:off x="7196202" y="4749800"/>
            <a:ext cx="4670893" cy="889000"/>
          </a:xfrm>
          <a:prstGeom prst="roundRect">
            <a:avLst>
              <a:gd name="adj" fmla="val 6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7386850" y="4749800"/>
            <a:ext cx="4384920" cy="889000"/>
          </a:xfrm>
          <a:prstGeom prst="rect">
            <a:avLst/>
          </a:prstGeom>
          <a:noFill/>
        </p:spPr>
        <p:txBody>
          <a:bodyPr wrap="square" lIns="0" tIns="0" rIns="0" bIns="0" anchor="ctr">
            <a:spAutoFit/>
          </a:bodyPr>
          <a:lstStyle/>
          <a:p>
            <a:pPr algn="l">
              <a:spcAft>
                <a:spcPts val="100"/>
              </a:spcAft>
            </a:pPr>
            <a:r>
              <a:rPr sz="2000" b="1" i="0">
                <a:solidFill>
                  <a:srgbClr val="0033CC"/>
                </a:solidFill>
                <a:latin typeface="Times New Roman"/>
              </a:rPr>
              <a:t>Civic authorities, planners</a:t>
            </a:r>
          </a:p>
          <a:p>
            <a:pPr algn="l">
              <a:spcAft>
                <a:spcPts val="400"/>
              </a:spcAft>
            </a:pPr>
            <a:r>
              <a:rPr sz="1800" b="0" i="0">
                <a:solidFill>
                  <a:srgbClr val="1A1A1A"/>
                </a:solidFill>
                <a:latin typeface="Times New Roman"/>
              </a:rPr>
              <a:t>Post-event audit of recurring bottlenecks</a:t>
            </a:r>
          </a:p>
        </p:txBody>
      </p:sp>
      <p:sp>
        <p:nvSpPr>
          <p:cNvPr id="25" name="TextBox 24"/>
          <p:cNvSpPr txBox="1"/>
          <p:nvPr/>
        </p:nvSpPr>
        <p:spPr>
          <a:xfrm>
            <a:off x="7196202" y="5740400"/>
            <a:ext cx="4670893" cy="965200"/>
          </a:xfrm>
          <a:prstGeom prst="rect">
            <a:avLst/>
          </a:prstGeom>
          <a:noFill/>
        </p:spPr>
        <p:txBody>
          <a:bodyPr wrap="square" lIns="0" tIns="0" rIns="0" bIns="0" anchor="t">
            <a:spAutoFit/>
          </a:bodyPr>
          <a:lstStyle/>
          <a:p>
            <a:pPr algn="l">
              <a:spcAft>
                <a:spcPts val="400"/>
              </a:spcAft>
            </a:pPr>
            <a:r>
              <a:rPr sz="1800" b="1" i="0">
                <a:solidFill>
                  <a:srgbClr val="0033CC"/>
                </a:solidFill>
                <a:latin typeface="Times New Roman"/>
              </a:rPr>
              <a:t>Where: </a:t>
            </a:r>
            <a:r>
              <a:rPr sz="1800" b="0" i="0">
                <a:solidFill>
                  <a:srgbClr val="1A1A1A"/>
                </a:solidFill>
                <a:latin typeface="Times New Roman"/>
              </a:rPr>
              <a:t>railway stations and FOBs, Kumbh and religious melas, stadiums, concerts, rallies, metro interchanges, temple queues.</a:t>
            </a:r>
          </a:p>
        </p:txBody>
      </p:sp>
    </p:spTree>
    <p:extLst>
      <p:ext uri="{BB962C8B-B14F-4D97-AF65-F5344CB8AC3E}">
        <p14:creationId xmlns:p14="http://schemas.microsoft.com/office/powerpoint/2010/main" val="420536929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3" name="Text Box 34"/>
          <p:cNvSpPr txBox="1">
            <a:spLocks noChangeArrowheads="1"/>
          </p:cNvSpPr>
          <p:nvPr/>
        </p:nvSpPr>
        <p:spPr bwMode="auto">
          <a:xfrm>
            <a:off x="1905000" y="1143002"/>
            <a:ext cx="8763000" cy="461665"/>
          </a:xfrm>
          <a:prstGeom prst="rect">
            <a:avLst/>
          </a:prstGeom>
          <a:noFill/>
          <a:ln w="9525">
            <a:noFill/>
            <a:miter lim="800000"/>
            <a:headEnd/>
            <a:tailEnd/>
          </a:ln>
        </p:spPr>
        <p:txBody>
          <a:bodyPr wrap="square">
            <a:spAutoFit/>
          </a:bodyPr>
          <a:lstStyle/>
          <a:p>
            <a:pPr marL="342900" indent="-342900" algn="r">
              <a:spcBef>
                <a:spcPts val="0"/>
              </a:spcBef>
              <a:spcAft>
                <a:spcPts val="0"/>
              </a:spcAft>
            </a:pPr>
            <a:r>
              <a:rPr lang="en-US" sz="2400" dirty="0">
                <a:solidFill>
                  <a:srgbClr val="FF0000"/>
                </a:solidFill>
                <a:latin typeface="Times New Roman"/>
                <a:ea typeface="Times New Roman"/>
                <a:cs typeface="Times New Roman"/>
                <a:sym typeface="Times New Roman"/>
              </a:rPr>
              <a:t>Expected Deliverables</a:t>
            </a:r>
            <a:endParaRPr lang="en-US" sz="2400" dirty="0"/>
          </a:p>
        </p:txBody>
      </p:sp>
      <p:sp>
        <p:nvSpPr>
          <p:cNvPr id="14" name="Rounded Rectangle 13"/>
          <p:cNvSpPr/>
          <p:nvPr/>
        </p:nvSpPr>
        <p:spPr>
          <a:xfrm>
            <a:off x="332847" y="1701800"/>
            <a:ext cx="3717650" cy="561651"/>
          </a:xfrm>
          <a:prstGeom prst="roundRect">
            <a:avLst>
              <a:gd name="adj" fmla="val 6000"/>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800" b="1">
                <a:solidFill>
                  <a:srgbClr val="FFFFFF"/>
                </a:solidFill>
                <a:latin typeface="Times New Roman"/>
              </a:rPr>
              <a:t>Capstone-I – Foundation</a:t>
            </a:r>
          </a:p>
        </p:txBody>
      </p:sp>
      <p:sp>
        <p:nvSpPr>
          <p:cNvPr id="15" name="Rounded Rectangle 14"/>
          <p:cNvSpPr/>
          <p:nvPr/>
        </p:nvSpPr>
        <p:spPr>
          <a:xfrm>
            <a:off x="332847" y="2365569"/>
            <a:ext cx="3717650" cy="3523083"/>
          </a:xfrm>
          <a:prstGeom prst="roundRect">
            <a:avLst>
              <a:gd name="adj" fmla="val 6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523496" y="2488111"/>
            <a:ext cx="3336352" cy="3318846"/>
          </a:xfrm>
          <a:prstGeom prst="rect">
            <a:avLst/>
          </a:prstGeom>
          <a:noFill/>
        </p:spPr>
        <p:txBody>
          <a:bodyPr wrap="square" lIns="0" tIns="0" rIns="0" bIns="0" anchor="t">
            <a:spAutoFit/>
          </a:bodyPr>
          <a:lstStyle/>
          <a:p>
            <a:pPr marL="228600" indent="-228600" algn="l">
              <a:spcAft>
                <a:spcPts val="500"/>
              </a:spcAft>
              <a:buFont typeface="Times New Roman"/>
              <a:buChar char="•"/>
            </a:pPr>
            <a:r>
              <a:rPr sz="1800" b="0" i="0">
                <a:solidFill>
                  <a:srgbClr val="1A1A1A"/>
                </a:solidFill>
                <a:latin typeface="Times New Roman"/>
              </a:rPr>
              <a:t>Literature survey, problem statement</a:t>
            </a:r>
          </a:p>
          <a:p>
            <a:pPr marL="228600" indent="-228600" algn="l">
              <a:spcAft>
                <a:spcPts val="500"/>
              </a:spcAft>
              <a:buFont typeface="Times New Roman"/>
              <a:buChar char="•"/>
            </a:pPr>
            <a:r>
              <a:rPr sz="1800" b="0" i="0">
                <a:solidFill>
                  <a:srgbClr val="1A1A1A"/>
                </a:solidFill>
                <a:latin typeface="Times New Roman"/>
              </a:rPr>
              <a:t>Curated datasets; CVAT zones; JuPedSim set-up; dashboard skeleton</a:t>
            </a:r>
          </a:p>
          <a:p>
            <a:pPr marL="228600" indent="-228600" algn="l">
              <a:spcAft>
                <a:spcPts val="500"/>
              </a:spcAft>
              <a:buFont typeface="Times New Roman"/>
              <a:buChar char="•"/>
            </a:pPr>
            <a:r>
              <a:rPr sz="1800" b="0" i="0">
                <a:solidFill>
                  <a:srgbClr val="1A1A1A"/>
                </a:solidFill>
                <a:latin typeface="Times New Roman"/>
              </a:rPr>
              <a:t>Counting: YOLOv8 + density-map model; zone mapping</a:t>
            </a:r>
          </a:p>
          <a:p>
            <a:pPr marL="228600" indent="-228600" algn="l">
              <a:spcAft>
                <a:spcPts val="500"/>
              </a:spcAft>
              <a:buFont typeface="Times New Roman"/>
              <a:buChar char="•"/>
            </a:pPr>
            <a:r>
              <a:rPr sz="1800" b="0" i="0">
                <a:solidFill>
                  <a:srgbClr val="1A1A1A"/>
                </a:solidFill>
                <a:latin typeface="Times New Roman"/>
              </a:rPr>
              <a:t>Features: density, rate of change, net flux, entropy</a:t>
            </a:r>
          </a:p>
          <a:p>
            <a:pPr marL="228600" indent="-228600" algn="l">
              <a:spcAft>
                <a:spcPts val="500"/>
              </a:spcAft>
              <a:buFont typeface="Times New Roman"/>
              <a:buChar char="•"/>
            </a:pPr>
            <a:r>
              <a:rPr sz="1800" b="0" i="0">
                <a:solidFill>
                  <a:srgbClr val="1A1A1A"/>
                </a:solidFill>
                <a:latin typeface="Times New Roman"/>
              </a:rPr>
              <a:t>LSTM baseline: P(Danger in 3/5/10 min) per zone</a:t>
            </a:r>
          </a:p>
        </p:txBody>
      </p:sp>
      <p:sp>
        <p:nvSpPr>
          <p:cNvPr id="17" name="Rounded Rectangle 16"/>
          <p:cNvSpPr/>
          <p:nvPr/>
        </p:nvSpPr>
        <p:spPr>
          <a:xfrm>
            <a:off x="332847" y="5990771"/>
            <a:ext cx="3717650" cy="714828"/>
          </a:xfrm>
          <a:prstGeom prst="roundRect">
            <a:avLst>
              <a:gd name="adj" fmla="val 6000"/>
            </a:avLst>
          </a:prstGeom>
          <a:solidFill>
            <a:srgbClr val="FFFFFF"/>
          </a:solidFill>
          <a:ln w="12700">
            <a:solidFill>
              <a:srgbClr val="33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8" name="TextBox 17"/>
          <p:cNvSpPr txBox="1"/>
          <p:nvPr/>
        </p:nvSpPr>
        <p:spPr>
          <a:xfrm>
            <a:off x="523496" y="5990771"/>
            <a:ext cx="3336352" cy="714828"/>
          </a:xfrm>
          <a:prstGeom prst="rect">
            <a:avLst/>
          </a:prstGeom>
          <a:noFill/>
        </p:spPr>
        <p:txBody>
          <a:bodyPr wrap="square" lIns="0" tIns="0" rIns="0" bIns="0" anchor="ctr">
            <a:spAutoFit/>
          </a:bodyPr>
          <a:lstStyle/>
          <a:p>
            <a:pPr algn="l">
              <a:spcAft>
                <a:spcPts val="400"/>
              </a:spcAft>
            </a:pPr>
            <a:r>
              <a:rPr sz="1800" b="1" i="0">
                <a:solidFill>
                  <a:srgbClr val="FF0000"/>
                </a:solidFill>
                <a:latin typeface="Times New Roman"/>
              </a:rPr>
              <a:t>Milestone: </a:t>
            </a:r>
            <a:r>
              <a:rPr sz="1800" b="1" i="0">
                <a:solidFill>
                  <a:srgbClr val="1A1A1A"/>
                </a:solidFill>
                <a:latin typeface="Times New Roman"/>
              </a:rPr>
              <a:t>Baseline per-zone forecast</a:t>
            </a:r>
          </a:p>
        </p:txBody>
      </p:sp>
      <p:sp>
        <p:nvSpPr>
          <p:cNvPr id="19" name="Rounded Rectangle 18"/>
          <p:cNvSpPr/>
          <p:nvPr/>
        </p:nvSpPr>
        <p:spPr>
          <a:xfrm>
            <a:off x="4241145" y="1701800"/>
            <a:ext cx="3717650" cy="561651"/>
          </a:xfrm>
          <a:prstGeom prst="roundRect">
            <a:avLst>
              <a:gd name="adj" fmla="val 6000"/>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800" b="1">
                <a:solidFill>
                  <a:srgbClr val="FFFFFF"/>
                </a:solidFill>
                <a:latin typeface="Times New Roman"/>
              </a:rPr>
              <a:t>Capstone-II – Core novelty</a:t>
            </a:r>
          </a:p>
        </p:txBody>
      </p:sp>
      <p:sp>
        <p:nvSpPr>
          <p:cNvPr id="20" name="Rounded Rectangle 19"/>
          <p:cNvSpPr/>
          <p:nvPr/>
        </p:nvSpPr>
        <p:spPr>
          <a:xfrm>
            <a:off x="4241145" y="2365569"/>
            <a:ext cx="3717650" cy="3523083"/>
          </a:xfrm>
          <a:prstGeom prst="roundRect">
            <a:avLst>
              <a:gd name="adj" fmla="val 6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1" name="TextBox 20"/>
          <p:cNvSpPr txBox="1"/>
          <p:nvPr/>
        </p:nvSpPr>
        <p:spPr>
          <a:xfrm>
            <a:off x="4431794" y="2488111"/>
            <a:ext cx="3336352" cy="3318846"/>
          </a:xfrm>
          <a:prstGeom prst="rect">
            <a:avLst/>
          </a:prstGeom>
          <a:noFill/>
        </p:spPr>
        <p:txBody>
          <a:bodyPr wrap="square" lIns="0" tIns="0" rIns="0" bIns="0" anchor="t">
            <a:spAutoFit/>
          </a:bodyPr>
          <a:lstStyle/>
          <a:p>
            <a:pPr marL="228600" indent="-228600" algn="l">
              <a:spcAft>
                <a:spcPts val="500"/>
              </a:spcAft>
              <a:buFont typeface="Times New Roman"/>
              <a:buChar char="•"/>
            </a:pPr>
            <a:r>
              <a:rPr sz="1800" b="0" i="0">
                <a:solidFill>
                  <a:srgbClr val="1A1A1A"/>
                </a:solidFill>
                <a:latin typeface="Times New Roman"/>
              </a:rPr>
              <a:t>Zone-adjacency graph design</a:t>
            </a:r>
          </a:p>
          <a:p>
            <a:pPr marL="228600" indent="-228600" algn="l">
              <a:spcAft>
                <a:spcPts val="500"/>
              </a:spcAft>
              <a:buFont typeface="Times New Roman"/>
              <a:buChar char="•"/>
            </a:pPr>
            <a:r>
              <a:rPr sz="1800" b="0" i="0">
                <a:solidFill>
                  <a:srgbClr val="1A1A1A"/>
                </a:solidFill>
                <a:latin typeface="Times New Roman"/>
              </a:rPr>
              <a:t>GNN propagation model (GCN / GAT)</a:t>
            </a:r>
          </a:p>
          <a:p>
            <a:pPr marL="228600" indent="-228600" algn="l">
              <a:spcAft>
                <a:spcPts val="500"/>
              </a:spcAft>
              <a:buFont typeface="Times New Roman"/>
              <a:buChar char="•"/>
            </a:pPr>
            <a:r>
              <a:rPr sz="1800" b="0" i="0">
                <a:solidFill>
                  <a:srgbClr val="1A1A1A"/>
                </a:solidFill>
                <a:latin typeface="Times New Roman"/>
              </a:rPr>
              <a:t>3-way ablation: LSTM vs LSTM + neighbour features vs LSTM-GNN</a:t>
            </a:r>
          </a:p>
          <a:p>
            <a:pPr marL="228600" indent="-228600" algn="l">
              <a:spcAft>
                <a:spcPts val="500"/>
              </a:spcAft>
              <a:buFont typeface="Times New Roman"/>
              <a:buChar char="•"/>
            </a:pPr>
            <a:r>
              <a:rPr sz="1800" b="0" i="0">
                <a:solidFill>
                  <a:srgbClr val="1A1A1A"/>
                </a:solidFill>
                <a:latin typeface="Times New Roman"/>
              </a:rPr>
              <a:t>Workshop-paper draft if results hold</a:t>
            </a:r>
          </a:p>
        </p:txBody>
      </p:sp>
      <p:sp>
        <p:nvSpPr>
          <p:cNvPr id="22" name="Rounded Rectangle 21"/>
          <p:cNvSpPr/>
          <p:nvPr/>
        </p:nvSpPr>
        <p:spPr>
          <a:xfrm>
            <a:off x="4241145" y="5990771"/>
            <a:ext cx="3717650" cy="714828"/>
          </a:xfrm>
          <a:prstGeom prst="roundRect">
            <a:avLst>
              <a:gd name="adj" fmla="val 6000"/>
            </a:avLst>
          </a:prstGeom>
          <a:solidFill>
            <a:srgbClr val="FFFFFF"/>
          </a:solidFill>
          <a:ln w="12700">
            <a:solidFill>
              <a:srgbClr val="33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TextBox 22"/>
          <p:cNvSpPr txBox="1"/>
          <p:nvPr/>
        </p:nvSpPr>
        <p:spPr>
          <a:xfrm>
            <a:off x="4431794" y="5990771"/>
            <a:ext cx="3336352" cy="714828"/>
          </a:xfrm>
          <a:prstGeom prst="rect">
            <a:avLst/>
          </a:prstGeom>
          <a:noFill/>
        </p:spPr>
        <p:txBody>
          <a:bodyPr wrap="square" lIns="0" tIns="0" rIns="0" bIns="0" anchor="ctr">
            <a:spAutoFit/>
          </a:bodyPr>
          <a:lstStyle/>
          <a:p>
            <a:pPr algn="l">
              <a:spcAft>
                <a:spcPts val="400"/>
              </a:spcAft>
            </a:pPr>
            <a:r>
              <a:rPr sz="1800" b="1" i="0">
                <a:solidFill>
                  <a:srgbClr val="FF0000"/>
                </a:solidFill>
                <a:latin typeface="Times New Roman"/>
              </a:rPr>
              <a:t>Milestone: </a:t>
            </a:r>
            <a:r>
              <a:rPr sz="1800" b="1" i="0">
                <a:solidFill>
                  <a:srgbClr val="1A1A1A"/>
                </a:solidFill>
                <a:latin typeface="Times New Roman"/>
              </a:rPr>
              <a:t>Proof the graph helps</a:t>
            </a:r>
          </a:p>
        </p:txBody>
      </p:sp>
      <p:sp>
        <p:nvSpPr>
          <p:cNvPr id="24" name="Rounded Rectangle 23"/>
          <p:cNvSpPr/>
          <p:nvPr/>
        </p:nvSpPr>
        <p:spPr>
          <a:xfrm>
            <a:off x="8149444" y="1701800"/>
            <a:ext cx="3717650" cy="561651"/>
          </a:xfrm>
          <a:prstGeom prst="roundRect">
            <a:avLst>
              <a:gd name="adj" fmla="val 6000"/>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800" b="1">
                <a:solidFill>
                  <a:srgbClr val="FFFFFF"/>
                </a:solidFill>
                <a:latin typeface="Times New Roman"/>
              </a:rPr>
              <a:t>Capstone-III – Application and paper</a:t>
            </a:r>
          </a:p>
        </p:txBody>
      </p:sp>
      <p:sp>
        <p:nvSpPr>
          <p:cNvPr id="25" name="Rounded Rectangle 24"/>
          <p:cNvSpPr/>
          <p:nvPr/>
        </p:nvSpPr>
        <p:spPr>
          <a:xfrm>
            <a:off x="8149444" y="2365569"/>
            <a:ext cx="3717650" cy="3523083"/>
          </a:xfrm>
          <a:prstGeom prst="roundRect">
            <a:avLst>
              <a:gd name="adj" fmla="val 6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6" name="TextBox 25"/>
          <p:cNvSpPr txBox="1"/>
          <p:nvPr/>
        </p:nvSpPr>
        <p:spPr>
          <a:xfrm>
            <a:off x="8340093" y="2488111"/>
            <a:ext cx="3336352" cy="3318846"/>
          </a:xfrm>
          <a:prstGeom prst="rect">
            <a:avLst/>
          </a:prstGeom>
          <a:noFill/>
        </p:spPr>
        <p:txBody>
          <a:bodyPr wrap="square" lIns="0" tIns="0" rIns="0" bIns="0" anchor="t">
            <a:spAutoFit/>
          </a:bodyPr>
          <a:lstStyle/>
          <a:p>
            <a:pPr marL="228600" indent="-228600" algn="l">
              <a:spcAft>
                <a:spcPts val="500"/>
              </a:spcAft>
              <a:buFont typeface="Times New Roman"/>
              <a:buChar char="•"/>
            </a:pPr>
            <a:r>
              <a:rPr sz="1800" b="0" i="0">
                <a:solidFill>
                  <a:srgbClr val="1A1A1A"/>
                </a:solidFill>
                <a:latin typeface="Times New Roman"/>
              </a:rPr>
              <a:t>Intervention engine with ranked actions</a:t>
            </a:r>
          </a:p>
          <a:p>
            <a:pPr marL="228600" indent="-228600" algn="l">
              <a:spcAft>
                <a:spcPts val="500"/>
              </a:spcAft>
              <a:buFont typeface="Times New Roman"/>
              <a:buChar char="•"/>
            </a:pPr>
            <a:r>
              <a:rPr sz="1800" b="0" i="0">
                <a:solidFill>
                  <a:srgbClr val="1A1A1A"/>
                </a:solidFill>
                <a:latin typeface="Times New Roman"/>
              </a:rPr>
              <a:t>Stretch: simulation-estimated risk reduction per action</a:t>
            </a:r>
          </a:p>
          <a:p>
            <a:pPr marL="228600" indent="-228600" algn="l">
              <a:spcAft>
                <a:spcPts val="500"/>
              </a:spcAft>
              <a:buFont typeface="Times New Roman"/>
              <a:buChar char="•"/>
            </a:pPr>
            <a:r>
              <a:rPr sz="1800" b="0" i="0">
                <a:solidFill>
                  <a:srgbClr val="1A1A1A"/>
                </a:solidFill>
                <a:latin typeface="Times New Roman"/>
              </a:rPr>
              <a:t>Dashboard, integration; real-time demo on recorded / webcam video</a:t>
            </a:r>
          </a:p>
          <a:p>
            <a:pPr marL="228600" indent="-228600" algn="l">
              <a:spcAft>
                <a:spcPts val="500"/>
              </a:spcAft>
              <a:buFont typeface="Times New Roman"/>
              <a:buChar char="•"/>
            </a:pPr>
            <a:r>
              <a:rPr sz="1800" b="0" i="0">
                <a:solidFill>
                  <a:srgbClr val="1A1A1A"/>
                </a:solidFill>
                <a:latin typeface="Times New Roman"/>
              </a:rPr>
              <a:t>Evaluation vs ICMF (base paper) and reviewed systems</a:t>
            </a:r>
          </a:p>
          <a:p>
            <a:pPr marL="228600" indent="-228600" algn="l">
              <a:spcAft>
                <a:spcPts val="500"/>
              </a:spcAft>
              <a:buFont typeface="Times New Roman"/>
              <a:buChar char="•"/>
            </a:pPr>
            <a:r>
              <a:rPr sz="1800" b="0" i="0">
                <a:solidFill>
                  <a:srgbClr val="1A1A1A"/>
                </a:solidFill>
                <a:latin typeface="Times New Roman"/>
              </a:rPr>
              <a:t>Research paper, report, final demo</a:t>
            </a:r>
          </a:p>
        </p:txBody>
      </p:sp>
      <p:sp>
        <p:nvSpPr>
          <p:cNvPr id="27" name="Rounded Rectangle 26"/>
          <p:cNvSpPr/>
          <p:nvPr/>
        </p:nvSpPr>
        <p:spPr>
          <a:xfrm>
            <a:off x="8149444" y="5990771"/>
            <a:ext cx="3717650" cy="714828"/>
          </a:xfrm>
          <a:prstGeom prst="roundRect">
            <a:avLst>
              <a:gd name="adj" fmla="val 6000"/>
            </a:avLst>
          </a:prstGeom>
          <a:solidFill>
            <a:srgbClr val="FFFFFF"/>
          </a:solidFill>
          <a:ln w="12700">
            <a:solidFill>
              <a:srgbClr val="33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8" name="TextBox 27"/>
          <p:cNvSpPr txBox="1"/>
          <p:nvPr/>
        </p:nvSpPr>
        <p:spPr>
          <a:xfrm>
            <a:off x="8340093" y="5990771"/>
            <a:ext cx="3336352" cy="714828"/>
          </a:xfrm>
          <a:prstGeom prst="rect">
            <a:avLst/>
          </a:prstGeom>
          <a:noFill/>
        </p:spPr>
        <p:txBody>
          <a:bodyPr wrap="square" lIns="0" tIns="0" rIns="0" bIns="0" anchor="ctr">
            <a:spAutoFit/>
          </a:bodyPr>
          <a:lstStyle/>
          <a:p>
            <a:pPr algn="l">
              <a:spcAft>
                <a:spcPts val="400"/>
              </a:spcAft>
            </a:pPr>
            <a:r>
              <a:rPr sz="1800" b="1" i="0">
                <a:solidFill>
                  <a:srgbClr val="FF0000"/>
                </a:solidFill>
                <a:latin typeface="Times New Roman"/>
              </a:rPr>
              <a:t>Milestone: </a:t>
            </a:r>
            <a:r>
              <a:rPr sz="1800" b="1" i="0">
                <a:solidFill>
                  <a:srgbClr val="1A1A1A"/>
                </a:solidFill>
                <a:latin typeface="Times New Roman"/>
              </a:rPr>
              <a:t>End-to-end system and paper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900" indent="-342900" algn="r" eaLnBrk="0" hangingPunct="0">
              <a:spcBef>
                <a:spcPts val="0"/>
              </a:spcBef>
              <a:spcAft>
                <a:spcPts val="0"/>
              </a:spcAft>
              <a:defRPr/>
            </a:pPr>
            <a:r>
              <a:rPr lang="en-IN" sz="2400" dirty="0">
                <a:solidFill>
                  <a:srgbClr val="FF0000"/>
                </a:solidFill>
                <a:latin typeface="Times New Roman"/>
              </a:rPr>
              <a:t>Capstone (Phase-I, II &amp; III) Project Timeline</a:t>
            </a:r>
            <a:endParaRPr lang="en-US" sz="2400" dirty="0">
              <a:solidFill>
                <a:srgbClr val="FF0000"/>
              </a:solidFill>
              <a:latin typeface="Times New Roman"/>
            </a:endParaRPr>
          </a:p>
        </p:txBody>
      </p:sp>
      <p:sp>
        <p:nvSpPr>
          <p:cNvPr id="4" name="Rectangle 3"/>
          <p:cNvSpPr/>
          <p:nvPr/>
        </p:nvSpPr>
        <p:spPr>
          <a:xfrm>
            <a:off x="4164886" y="1701800"/>
            <a:ext cx="2281429" cy="281639"/>
          </a:xfrm>
          <a:prstGeom prst="rect">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600" b="1">
                <a:solidFill>
                  <a:srgbClr val="FFFFFF"/>
                </a:solidFill>
                <a:latin typeface="Times New Roman"/>
              </a:rPr>
              <a:t>Phase-I (2026)</a:t>
            </a:r>
          </a:p>
        </p:txBody>
      </p:sp>
      <p:sp>
        <p:nvSpPr>
          <p:cNvPr id="5" name="Rectangle 4"/>
          <p:cNvSpPr/>
          <p:nvPr/>
        </p:nvSpPr>
        <p:spPr>
          <a:xfrm>
            <a:off x="6484445" y="1701800"/>
            <a:ext cx="2281429" cy="281639"/>
          </a:xfrm>
          <a:prstGeom prst="rect">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600" b="1">
                <a:solidFill>
                  <a:srgbClr val="FFFFFF"/>
                </a:solidFill>
                <a:latin typeface="Times New Roman"/>
              </a:rPr>
              <a:t>Phase-II (2027)</a:t>
            </a:r>
          </a:p>
        </p:txBody>
      </p:sp>
      <p:sp>
        <p:nvSpPr>
          <p:cNvPr id="6" name="Rectangle 5"/>
          <p:cNvSpPr/>
          <p:nvPr/>
        </p:nvSpPr>
        <p:spPr>
          <a:xfrm>
            <a:off x="8804005" y="1701800"/>
            <a:ext cx="2281429" cy="281639"/>
          </a:xfrm>
          <a:prstGeom prst="rect">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wrap="square" lIns="73152" tIns="0" rIns="73152" bIns="0" rtlCol="0" anchor="ctr"/>
          <a:lstStyle/>
          <a:p>
            <a:pPr algn="ctr"/>
            <a:r>
              <a:rPr sz="1600" b="1">
                <a:solidFill>
                  <a:srgbClr val="FFFFFF"/>
                </a:solidFill>
                <a:latin typeface="Times New Roman"/>
              </a:rPr>
              <a:t>Phase-III (2027)</a:t>
            </a:r>
          </a:p>
        </p:txBody>
      </p:sp>
      <p:sp>
        <p:nvSpPr>
          <p:cNvPr id="7" name="TextBox 6"/>
          <p:cNvSpPr txBox="1"/>
          <p:nvPr/>
        </p:nvSpPr>
        <p:spPr>
          <a:xfrm>
            <a:off x="4145822" y="2011603"/>
            <a:ext cx="579889" cy="234699"/>
          </a:xfrm>
          <a:prstGeom prst="rect">
            <a:avLst/>
          </a:prstGeom>
          <a:noFill/>
        </p:spPr>
        <p:txBody>
          <a:bodyPr wrap="square" lIns="0" tIns="0" rIns="0" bIns="0" anchor="t">
            <a:spAutoFit/>
          </a:bodyPr>
          <a:lstStyle/>
          <a:p>
            <a:pPr algn="ctr">
              <a:spcAft>
                <a:spcPts val="400"/>
              </a:spcAft>
            </a:pPr>
            <a:r>
              <a:rPr sz="1600" b="0" i="0">
                <a:solidFill>
                  <a:srgbClr val="666666"/>
                </a:solidFill>
                <a:latin typeface="Times New Roman"/>
              </a:rPr>
              <a:t>Aug</a:t>
            </a:r>
          </a:p>
        </p:txBody>
      </p:sp>
      <p:sp>
        <p:nvSpPr>
          <p:cNvPr id="8" name="TextBox 7"/>
          <p:cNvSpPr txBox="1"/>
          <p:nvPr/>
        </p:nvSpPr>
        <p:spPr>
          <a:xfrm>
            <a:off x="4725712" y="2011603"/>
            <a:ext cx="579889" cy="234699"/>
          </a:xfrm>
          <a:prstGeom prst="rect">
            <a:avLst/>
          </a:prstGeom>
          <a:noFill/>
        </p:spPr>
        <p:txBody>
          <a:bodyPr wrap="square" lIns="0" tIns="0" rIns="0" bIns="0" anchor="t">
            <a:spAutoFit/>
          </a:bodyPr>
          <a:lstStyle/>
          <a:p>
            <a:pPr algn="ctr">
              <a:spcAft>
                <a:spcPts val="400"/>
              </a:spcAft>
            </a:pPr>
            <a:r>
              <a:rPr sz="1600" b="0" i="0">
                <a:solidFill>
                  <a:srgbClr val="666666"/>
                </a:solidFill>
                <a:latin typeface="Times New Roman"/>
              </a:rPr>
              <a:t>Sep</a:t>
            </a:r>
          </a:p>
        </p:txBody>
      </p:sp>
      <p:sp>
        <p:nvSpPr>
          <p:cNvPr id="9" name="TextBox 8"/>
          <p:cNvSpPr txBox="1"/>
          <p:nvPr/>
        </p:nvSpPr>
        <p:spPr>
          <a:xfrm>
            <a:off x="5305602" y="2011603"/>
            <a:ext cx="579889" cy="234699"/>
          </a:xfrm>
          <a:prstGeom prst="rect">
            <a:avLst/>
          </a:prstGeom>
          <a:noFill/>
        </p:spPr>
        <p:txBody>
          <a:bodyPr wrap="square" lIns="0" tIns="0" rIns="0" bIns="0" anchor="t">
            <a:spAutoFit/>
          </a:bodyPr>
          <a:lstStyle/>
          <a:p>
            <a:pPr algn="ctr">
              <a:spcAft>
                <a:spcPts val="400"/>
              </a:spcAft>
            </a:pPr>
            <a:r>
              <a:rPr sz="1600" b="0" i="0">
                <a:solidFill>
                  <a:srgbClr val="666666"/>
                </a:solidFill>
                <a:latin typeface="Times New Roman"/>
              </a:rPr>
              <a:t>Oct</a:t>
            </a:r>
          </a:p>
        </p:txBody>
      </p:sp>
      <p:sp>
        <p:nvSpPr>
          <p:cNvPr id="10" name="TextBox 9"/>
          <p:cNvSpPr txBox="1"/>
          <p:nvPr/>
        </p:nvSpPr>
        <p:spPr>
          <a:xfrm>
            <a:off x="5885490" y="2011603"/>
            <a:ext cx="579889" cy="234699"/>
          </a:xfrm>
          <a:prstGeom prst="rect">
            <a:avLst/>
          </a:prstGeom>
          <a:noFill/>
        </p:spPr>
        <p:txBody>
          <a:bodyPr wrap="square" lIns="0" tIns="0" rIns="0" bIns="0" anchor="t">
            <a:spAutoFit/>
          </a:bodyPr>
          <a:lstStyle/>
          <a:p>
            <a:pPr algn="ctr">
              <a:spcAft>
                <a:spcPts val="400"/>
              </a:spcAft>
            </a:pPr>
            <a:r>
              <a:rPr sz="1600" b="0" i="0">
                <a:solidFill>
                  <a:srgbClr val="666666"/>
                </a:solidFill>
                <a:latin typeface="Times New Roman"/>
              </a:rPr>
              <a:t>Nov</a:t>
            </a:r>
          </a:p>
        </p:txBody>
      </p:sp>
      <p:sp>
        <p:nvSpPr>
          <p:cNvPr id="11" name="TextBox 10"/>
          <p:cNvSpPr txBox="1"/>
          <p:nvPr/>
        </p:nvSpPr>
        <p:spPr>
          <a:xfrm>
            <a:off x="6465381" y="2011603"/>
            <a:ext cx="579889" cy="234699"/>
          </a:xfrm>
          <a:prstGeom prst="rect">
            <a:avLst/>
          </a:prstGeom>
          <a:noFill/>
        </p:spPr>
        <p:txBody>
          <a:bodyPr wrap="square" lIns="0" tIns="0" rIns="0" bIns="0" anchor="t">
            <a:spAutoFit/>
          </a:bodyPr>
          <a:lstStyle/>
          <a:p>
            <a:pPr algn="ctr">
              <a:spcAft>
                <a:spcPts val="400"/>
              </a:spcAft>
            </a:pPr>
            <a:r>
              <a:rPr sz="1600" b="0" i="0">
                <a:solidFill>
                  <a:srgbClr val="666666"/>
                </a:solidFill>
                <a:latin typeface="Times New Roman"/>
              </a:rPr>
              <a:t>Jan</a:t>
            </a:r>
          </a:p>
        </p:txBody>
      </p:sp>
      <p:sp>
        <p:nvSpPr>
          <p:cNvPr id="12" name="TextBox 11"/>
          <p:cNvSpPr txBox="1"/>
          <p:nvPr/>
        </p:nvSpPr>
        <p:spPr>
          <a:xfrm>
            <a:off x="7045270" y="2011603"/>
            <a:ext cx="579889" cy="234699"/>
          </a:xfrm>
          <a:prstGeom prst="rect">
            <a:avLst/>
          </a:prstGeom>
          <a:noFill/>
        </p:spPr>
        <p:txBody>
          <a:bodyPr wrap="square" lIns="0" tIns="0" rIns="0" bIns="0" anchor="t">
            <a:spAutoFit/>
          </a:bodyPr>
          <a:lstStyle/>
          <a:p>
            <a:pPr algn="ctr">
              <a:spcAft>
                <a:spcPts val="400"/>
              </a:spcAft>
            </a:pPr>
            <a:r>
              <a:rPr sz="1600" b="0" i="0">
                <a:solidFill>
                  <a:srgbClr val="666666"/>
                </a:solidFill>
                <a:latin typeface="Times New Roman"/>
              </a:rPr>
              <a:t>Feb</a:t>
            </a:r>
          </a:p>
        </p:txBody>
      </p:sp>
      <p:sp>
        <p:nvSpPr>
          <p:cNvPr id="13" name="TextBox 12"/>
          <p:cNvSpPr txBox="1"/>
          <p:nvPr/>
        </p:nvSpPr>
        <p:spPr>
          <a:xfrm>
            <a:off x="7625161" y="2011603"/>
            <a:ext cx="579889" cy="234699"/>
          </a:xfrm>
          <a:prstGeom prst="rect">
            <a:avLst/>
          </a:prstGeom>
          <a:noFill/>
        </p:spPr>
        <p:txBody>
          <a:bodyPr wrap="square" lIns="0" tIns="0" rIns="0" bIns="0" anchor="t">
            <a:spAutoFit/>
          </a:bodyPr>
          <a:lstStyle/>
          <a:p>
            <a:pPr algn="ctr">
              <a:spcAft>
                <a:spcPts val="400"/>
              </a:spcAft>
            </a:pPr>
            <a:r>
              <a:rPr sz="1600" b="0" i="0">
                <a:solidFill>
                  <a:srgbClr val="666666"/>
                </a:solidFill>
                <a:latin typeface="Times New Roman"/>
              </a:rPr>
              <a:t>Mar</a:t>
            </a:r>
          </a:p>
        </p:txBody>
      </p:sp>
      <p:sp>
        <p:nvSpPr>
          <p:cNvPr id="14" name="TextBox 13"/>
          <p:cNvSpPr txBox="1"/>
          <p:nvPr/>
        </p:nvSpPr>
        <p:spPr>
          <a:xfrm>
            <a:off x="8205050" y="2011603"/>
            <a:ext cx="579889" cy="234699"/>
          </a:xfrm>
          <a:prstGeom prst="rect">
            <a:avLst/>
          </a:prstGeom>
          <a:noFill/>
        </p:spPr>
        <p:txBody>
          <a:bodyPr wrap="square" lIns="0" tIns="0" rIns="0" bIns="0" anchor="t">
            <a:spAutoFit/>
          </a:bodyPr>
          <a:lstStyle/>
          <a:p>
            <a:pPr algn="ctr">
              <a:spcAft>
                <a:spcPts val="400"/>
              </a:spcAft>
            </a:pPr>
            <a:r>
              <a:rPr sz="1600" b="0" i="0">
                <a:solidFill>
                  <a:srgbClr val="666666"/>
                </a:solidFill>
                <a:latin typeface="Times New Roman"/>
              </a:rPr>
              <a:t>Apr</a:t>
            </a:r>
          </a:p>
        </p:txBody>
      </p:sp>
      <p:sp>
        <p:nvSpPr>
          <p:cNvPr id="15" name="TextBox 14"/>
          <p:cNvSpPr txBox="1"/>
          <p:nvPr/>
        </p:nvSpPr>
        <p:spPr>
          <a:xfrm>
            <a:off x="8784940" y="2011603"/>
            <a:ext cx="579889" cy="234699"/>
          </a:xfrm>
          <a:prstGeom prst="rect">
            <a:avLst/>
          </a:prstGeom>
          <a:noFill/>
        </p:spPr>
        <p:txBody>
          <a:bodyPr wrap="square" lIns="0" tIns="0" rIns="0" bIns="0" anchor="t">
            <a:spAutoFit/>
          </a:bodyPr>
          <a:lstStyle/>
          <a:p>
            <a:pPr algn="ctr">
              <a:spcAft>
                <a:spcPts val="400"/>
              </a:spcAft>
            </a:pPr>
            <a:r>
              <a:rPr sz="1600" b="0" i="0">
                <a:solidFill>
                  <a:srgbClr val="666666"/>
                </a:solidFill>
                <a:latin typeface="Times New Roman"/>
              </a:rPr>
              <a:t>Aug</a:t>
            </a:r>
          </a:p>
        </p:txBody>
      </p:sp>
      <p:sp>
        <p:nvSpPr>
          <p:cNvPr id="16" name="TextBox 15"/>
          <p:cNvSpPr txBox="1"/>
          <p:nvPr/>
        </p:nvSpPr>
        <p:spPr>
          <a:xfrm>
            <a:off x="9364831" y="2011603"/>
            <a:ext cx="579889" cy="234699"/>
          </a:xfrm>
          <a:prstGeom prst="rect">
            <a:avLst/>
          </a:prstGeom>
          <a:noFill/>
        </p:spPr>
        <p:txBody>
          <a:bodyPr wrap="square" lIns="0" tIns="0" rIns="0" bIns="0" anchor="t">
            <a:spAutoFit/>
          </a:bodyPr>
          <a:lstStyle/>
          <a:p>
            <a:pPr algn="ctr">
              <a:spcAft>
                <a:spcPts val="400"/>
              </a:spcAft>
            </a:pPr>
            <a:r>
              <a:rPr sz="1600" b="0" i="0">
                <a:solidFill>
                  <a:srgbClr val="666666"/>
                </a:solidFill>
                <a:latin typeface="Times New Roman"/>
              </a:rPr>
              <a:t>Sep</a:t>
            </a:r>
          </a:p>
        </p:txBody>
      </p:sp>
      <p:sp>
        <p:nvSpPr>
          <p:cNvPr id="17" name="TextBox 16"/>
          <p:cNvSpPr txBox="1"/>
          <p:nvPr/>
        </p:nvSpPr>
        <p:spPr>
          <a:xfrm>
            <a:off x="9944721" y="2011603"/>
            <a:ext cx="579889" cy="234699"/>
          </a:xfrm>
          <a:prstGeom prst="rect">
            <a:avLst/>
          </a:prstGeom>
          <a:noFill/>
        </p:spPr>
        <p:txBody>
          <a:bodyPr wrap="square" lIns="0" tIns="0" rIns="0" bIns="0" anchor="t">
            <a:spAutoFit/>
          </a:bodyPr>
          <a:lstStyle/>
          <a:p>
            <a:pPr algn="ctr">
              <a:spcAft>
                <a:spcPts val="400"/>
              </a:spcAft>
            </a:pPr>
            <a:r>
              <a:rPr sz="1600" b="0" i="0">
                <a:solidFill>
                  <a:srgbClr val="666666"/>
                </a:solidFill>
                <a:latin typeface="Times New Roman"/>
              </a:rPr>
              <a:t>Oct</a:t>
            </a:r>
          </a:p>
        </p:txBody>
      </p:sp>
      <p:sp>
        <p:nvSpPr>
          <p:cNvPr id="18" name="TextBox 17"/>
          <p:cNvSpPr txBox="1"/>
          <p:nvPr/>
        </p:nvSpPr>
        <p:spPr>
          <a:xfrm>
            <a:off x="10524611" y="2011603"/>
            <a:ext cx="579889" cy="234699"/>
          </a:xfrm>
          <a:prstGeom prst="rect">
            <a:avLst/>
          </a:prstGeom>
          <a:noFill/>
        </p:spPr>
        <p:txBody>
          <a:bodyPr wrap="square" lIns="0" tIns="0" rIns="0" bIns="0" anchor="t">
            <a:spAutoFit/>
          </a:bodyPr>
          <a:lstStyle/>
          <a:p>
            <a:pPr algn="ctr">
              <a:spcAft>
                <a:spcPts val="400"/>
              </a:spcAft>
            </a:pPr>
            <a:r>
              <a:rPr sz="1600" b="0" i="0">
                <a:solidFill>
                  <a:srgbClr val="666666"/>
                </a:solidFill>
                <a:latin typeface="Times New Roman"/>
              </a:rPr>
              <a:t>Nov</a:t>
            </a:r>
          </a:p>
        </p:txBody>
      </p:sp>
      <p:sp>
        <p:nvSpPr>
          <p:cNvPr id="19" name="TextBox 18"/>
          <p:cNvSpPr txBox="1"/>
          <p:nvPr/>
        </p:nvSpPr>
        <p:spPr>
          <a:xfrm>
            <a:off x="332847" y="2011603"/>
            <a:ext cx="2859730" cy="234699"/>
          </a:xfrm>
          <a:prstGeom prst="rect">
            <a:avLst/>
          </a:prstGeom>
          <a:noFill/>
        </p:spPr>
        <p:txBody>
          <a:bodyPr wrap="square" lIns="0" tIns="0" rIns="0" bIns="0" anchor="t">
            <a:spAutoFit/>
          </a:bodyPr>
          <a:lstStyle/>
          <a:p>
            <a:pPr algn="l">
              <a:spcAft>
                <a:spcPts val="400"/>
              </a:spcAft>
            </a:pPr>
            <a:r>
              <a:rPr sz="1600" b="1" i="0">
                <a:solidFill>
                  <a:srgbClr val="666666"/>
                </a:solidFill>
                <a:latin typeface="Times New Roman"/>
              </a:rPr>
              <a:t>Task</a:t>
            </a:r>
          </a:p>
        </p:txBody>
      </p:sp>
      <p:sp>
        <p:nvSpPr>
          <p:cNvPr id="20" name="TextBox 19"/>
          <p:cNvSpPr txBox="1"/>
          <p:nvPr/>
        </p:nvSpPr>
        <p:spPr>
          <a:xfrm>
            <a:off x="11152163" y="2011603"/>
            <a:ext cx="762594" cy="234699"/>
          </a:xfrm>
          <a:prstGeom prst="rect">
            <a:avLst/>
          </a:prstGeom>
          <a:noFill/>
        </p:spPr>
        <p:txBody>
          <a:bodyPr wrap="square" lIns="0" tIns="0" rIns="0" bIns="0" anchor="t">
            <a:spAutoFit/>
          </a:bodyPr>
          <a:lstStyle/>
          <a:p>
            <a:pPr algn="ctr">
              <a:spcAft>
                <a:spcPts val="400"/>
              </a:spcAft>
            </a:pPr>
            <a:r>
              <a:rPr sz="1600" b="1" i="0">
                <a:solidFill>
                  <a:srgbClr val="666666"/>
                </a:solidFill>
                <a:latin typeface="Times New Roman"/>
              </a:rPr>
              <a:t>Owner</a:t>
            </a:r>
          </a:p>
        </p:txBody>
      </p:sp>
      <p:sp>
        <p:nvSpPr>
          <p:cNvPr id="21" name="Rectangle 20"/>
          <p:cNvSpPr/>
          <p:nvPr/>
        </p:nvSpPr>
        <p:spPr>
          <a:xfrm>
            <a:off x="332847" y="2283855"/>
            <a:ext cx="11581910" cy="309803"/>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2" name="TextBox 21"/>
          <p:cNvSpPr txBox="1"/>
          <p:nvPr/>
        </p:nvSpPr>
        <p:spPr>
          <a:xfrm>
            <a:off x="409107" y="2283855"/>
            <a:ext cx="3717650" cy="309803"/>
          </a:xfrm>
          <a:prstGeom prst="rect">
            <a:avLst/>
          </a:prstGeom>
          <a:noFill/>
        </p:spPr>
        <p:txBody>
          <a:bodyPr wrap="square" lIns="0" tIns="0" rIns="0" bIns="0" anchor="ctr">
            <a:spAutoFit/>
          </a:bodyPr>
          <a:lstStyle/>
          <a:p>
            <a:pPr algn="l">
              <a:spcAft>
                <a:spcPts val="400"/>
              </a:spcAft>
            </a:pPr>
            <a:r>
              <a:rPr sz="1600" b="0" i="0">
                <a:solidFill>
                  <a:srgbClr val="1A1A1A"/>
                </a:solidFill>
                <a:latin typeface="Times New Roman"/>
              </a:rPr>
              <a:t>Literature review, problem statement</a:t>
            </a:r>
          </a:p>
        </p:txBody>
      </p:sp>
      <p:sp>
        <p:nvSpPr>
          <p:cNvPr id="23" name="Rounded Rectangle 22"/>
          <p:cNvSpPr/>
          <p:nvPr/>
        </p:nvSpPr>
        <p:spPr>
          <a:xfrm>
            <a:off x="4174419" y="2340183"/>
            <a:ext cx="1102584" cy="197147"/>
          </a:xfrm>
          <a:prstGeom prst="roundRect">
            <a:avLst>
              <a:gd name="adj" fmla="val 6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4" name="TextBox 23"/>
          <p:cNvSpPr txBox="1"/>
          <p:nvPr/>
        </p:nvSpPr>
        <p:spPr>
          <a:xfrm>
            <a:off x="11152163" y="2283855"/>
            <a:ext cx="762594" cy="309803"/>
          </a:xfrm>
          <a:prstGeom prst="rect">
            <a:avLst/>
          </a:prstGeom>
          <a:noFill/>
        </p:spPr>
        <p:txBody>
          <a:bodyPr wrap="square" lIns="0" tIns="0" rIns="0" bIns="0" anchor="ctr">
            <a:spAutoFit/>
          </a:bodyPr>
          <a:lstStyle/>
          <a:p>
            <a:pPr algn="ctr">
              <a:spcAft>
                <a:spcPts val="400"/>
              </a:spcAft>
            </a:pPr>
            <a:r>
              <a:rPr sz="1600" b="1" i="0">
                <a:solidFill>
                  <a:srgbClr val="0033CC"/>
                </a:solidFill>
                <a:latin typeface="Times New Roman"/>
              </a:rPr>
              <a:t>All</a:t>
            </a:r>
          </a:p>
        </p:txBody>
      </p:sp>
      <p:sp>
        <p:nvSpPr>
          <p:cNvPr id="25" name="TextBox 24"/>
          <p:cNvSpPr txBox="1"/>
          <p:nvPr/>
        </p:nvSpPr>
        <p:spPr>
          <a:xfrm>
            <a:off x="409107" y="2593659"/>
            <a:ext cx="3717650" cy="309803"/>
          </a:xfrm>
          <a:prstGeom prst="rect">
            <a:avLst/>
          </a:prstGeom>
          <a:noFill/>
        </p:spPr>
        <p:txBody>
          <a:bodyPr wrap="square" lIns="0" tIns="0" rIns="0" bIns="0" anchor="ctr">
            <a:spAutoFit/>
          </a:bodyPr>
          <a:lstStyle/>
          <a:p>
            <a:pPr algn="l">
              <a:spcAft>
                <a:spcPts val="400"/>
              </a:spcAft>
            </a:pPr>
            <a:r>
              <a:rPr sz="1600" b="0" i="0">
                <a:solidFill>
                  <a:srgbClr val="1A1A1A"/>
                </a:solidFill>
                <a:latin typeface="Times New Roman"/>
              </a:rPr>
              <a:t>Datasets + zone annotation (CVAT)</a:t>
            </a:r>
          </a:p>
        </p:txBody>
      </p:sp>
      <p:sp>
        <p:nvSpPr>
          <p:cNvPr id="26" name="Rounded Rectangle 25"/>
          <p:cNvSpPr/>
          <p:nvPr/>
        </p:nvSpPr>
        <p:spPr>
          <a:xfrm>
            <a:off x="4754309" y="2649987"/>
            <a:ext cx="1102584" cy="197147"/>
          </a:xfrm>
          <a:prstGeom prst="roundRect">
            <a:avLst>
              <a:gd name="adj" fmla="val 6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TextBox 26"/>
          <p:cNvSpPr txBox="1"/>
          <p:nvPr/>
        </p:nvSpPr>
        <p:spPr>
          <a:xfrm>
            <a:off x="11152163" y="2593659"/>
            <a:ext cx="762594" cy="309803"/>
          </a:xfrm>
          <a:prstGeom prst="rect">
            <a:avLst/>
          </a:prstGeom>
          <a:noFill/>
        </p:spPr>
        <p:txBody>
          <a:bodyPr wrap="square" lIns="0" tIns="0" rIns="0" bIns="0" anchor="ctr">
            <a:spAutoFit/>
          </a:bodyPr>
          <a:lstStyle/>
          <a:p>
            <a:pPr algn="ctr">
              <a:spcAft>
                <a:spcPts val="400"/>
              </a:spcAft>
            </a:pPr>
            <a:r>
              <a:rPr sz="1600" b="1" i="0">
                <a:solidFill>
                  <a:srgbClr val="0033CC"/>
                </a:solidFill>
                <a:latin typeface="Times New Roman"/>
              </a:rPr>
              <a:t>M1</a:t>
            </a:r>
          </a:p>
        </p:txBody>
      </p:sp>
      <p:sp>
        <p:nvSpPr>
          <p:cNvPr id="28" name="Rectangle 27"/>
          <p:cNvSpPr/>
          <p:nvPr/>
        </p:nvSpPr>
        <p:spPr>
          <a:xfrm>
            <a:off x="332847" y="2903463"/>
            <a:ext cx="11581910" cy="309803"/>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9" name="TextBox 28"/>
          <p:cNvSpPr txBox="1"/>
          <p:nvPr/>
        </p:nvSpPr>
        <p:spPr>
          <a:xfrm>
            <a:off x="409107" y="2903463"/>
            <a:ext cx="3717650" cy="309803"/>
          </a:xfrm>
          <a:prstGeom prst="rect">
            <a:avLst/>
          </a:prstGeom>
          <a:noFill/>
        </p:spPr>
        <p:txBody>
          <a:bodyPr wrap="square" lIns="0" tIns="0" rIns="0" bIns="0" anchor="ctr">
            <a:spAutoFit/>
          </a:bodyPr>
          <a:lstStyle/>
          <a:p>
            <a:pPr algn="l">
              <a:spcAft>
                <a:spcPts val="400"/>
              </a:spcAft>
            </a:pPr>
            <a:r>
              <a:rPr sz="1600" b="0" i="0">
                <a:solidFill>
                  <a:srgbClr val="1A1A1A"/>
                </a:solidFill>
                <a:latin typeface="Times New Roman"/>
              </a:rPr>
              <a:t>Detection + density counter + zones</a:t>
            </a:r>
          </a:p>
        </p:txBody>
      </p:sp>
      <p:sp>
        <p:nvSpPr>
          <p:cNvPr id="30" name="Rounded Rectangle 29"/>
          <p:cNvSpPr/>
          <p:nvPr/>
        </p:nvSpPr>
        <p:spPr>
          <a:xfrm>
            <a:off x="4754309" y="2959790"/>
            <a:ext cx="1682473" cy="197147"/>
          </a:xfrm>
          <a:prstGeom prst="roundRect">
            <a:avLst>
              <a:gd name="adj" fmla="val 6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1" name="TextBox 30"/>
          <p:cNvSpPr txBox="1"/>
          <p:nvPr/>
        </p:nvSpPr>
        <p:spPr>
          <a:xfrm>
            <a:off x="11152163" y="2903463"/>
            <a:ext cx="762594" cy="309803"/>
          </a:xfrm>
          <a:prstGeom prst="rect">
            <a:avLst/>
          </a:prstGeom>
          <a:noFill/>
        </p:spPr>
        <p:txBody>
          <a:bodyPr wrap="square" lIns="0" tIns="0" rIns="0" bIns="0" anchor="ctr">
            <a:spAutoFit/>
          </a:bodyPr>
          <a:lstStyle/>
          <a:p>
            <a:pPr algn="ctr">
              <a:spcAft>
                <a:spcPts val="400"/>
              </a:spcAft>
            </a:pPr>
            <a:r>
              <a:rPr sz="1600" b="1" i="0">
                <a:solidFill>
                  <a:srgbClr val="0033CC"/>
                </a:solidFill>
                <a:latin typeface="Times New Roman"/>
              </a:rPr>
              <a:t>M1, M3</a:t>
            </a:r>
          </a:p>
        </p:txBody>
      </p:sp>
      <p:sp>
        <p:nvSpPr>
          <p:cNvPr id="32" name="TextBox 31"/>
          <p:cNvSpPr txBox="1"/>
          <p:nvPr/>
        </p:nvSpPr>
        <p:spPr>
          <a:xfrm>
            <a:off x="409107" y="3213266"/>
            <a:ext cx="3717650" cy="309803"/>
          </a:xfrm>
          <a:prstGeom prst="rect">
            <a:avLst/>
          </a:prstGeom>
          <a:noFill/>
        </p:spPr>
        <p:txBody>
          <a:bodyPr wrap="square" lIns="0" tIns="0" rIns="0" bIns="0" anchor="ctr">
            <a:spAutoFit/>
          </a:bodyPr>
          <a:lstStyle/>
          <a:p>
            <a:pPr algn="l">
              <a:spcAft>
                <a:spcPts val="400"/>
              </a:spcAft>
            </a:pPr>
            <a:r>
              <a:rPr sz="1600" b="0" i="0">
                <a:solidFill>
                  <a:srgbClr val="1A1A1A"/>
                </a:solidFill>
                <a:latin typeface="Times New Roman"/>
              </a:rPr>
              <a:t>Features (density, flux, entropy)</a:t>
            </a:r>
          </a:p>
        </p:txBody>
      </p:sp>
      <p:sp>
        <p:nvSpPr>
          <p:cNvPr id="33" name="Rounded Rectangle 32"/>
          <p:cNvSpPr/>
          <p:nvPr/>
        </p:nvSpPr>
        <p:spPr>
          <a:xfrm>
            <a:off x="5334199" y="3269594"/>
            <a:ext cx="1102584" cy="197147"/>
          </a:xfrm>
          <a:prstGeom prst="roundRect">
            <a:avLst>
              <a:gd name="adj" fmla="val 6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4" name="TextBox 33"/>
          <p:cNvSpPr txBox="1"/>
          <p:nvPr/>
        </p:nvSpPr>
        <p:spPr>
          <a:xfrm>
            <a:off x="11152163" y="3213266"/>
            <a:ext cx="762594" cy="309803"/>
          </a:xfrm>
          <a:prstGeom prst="rect">
            <a:avLst/>
          </a:prstGeom>
          <a:noFill/>
        </p:spPr>
        <p:txBody>
          <a:bodyPr wrap="square" lIns="0" tIns="0" rIns="0" bIns="0" anchor="ctr">
            <a:spAutoFit/>
          </a:bodyPr>
          <a:lstStyle/>
          <a:p>
            <a:pPr algn="ctr">
              <a:spcAft>
                <a:spcPts val="400"/>
              </a:spcAft>
            </a:pPr>
            <a:r>
              <a:rPr sz="1600" b="1" i="0">
                <a:solidFill>
                  <a:srgbClr val="0033CC"/>
                </a:solidFill>
                <a:latin typeface="Times New Roman"/>
              </a:rPr>
              <a:t>M2</a:t>
            </a:r>
          </a:p>
        </p:txBody>
      </p:sp>
      <p:sp>
        <p:nvSpPr>
          <p:cNvPr id="35" name="Rectangle 34"/>
          <p:cNvSpPr/>
          <p:nvPr/>
        </p:nvSpPr>
        <p:spPr>
          <a:xfrm>
            <a:off x="332847" y="3523070"/>
            <a:ext cx="11581910" cy="309803"/>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6" name="TextBox 35"/>
          <p:cNvSpPr txBox="1"/>
          <p:nvPr/>
        </p:nvSpPr>
        <p:spPr>
          <a:xfrm>
            <a:off x="409107" y="3523070"/>
            <a:ext cx="3717650" cy="309803"/>
          </a:xfrm>
          <a:prstGeom prst="rect">
            <a:avLst/>
          </a:prstGeom>
          <a:noFill/>
        </p:spPr>
        <p:txBody>
          <a:bodyPr wrap="square" lIns="0" tIns="0" rIns="0" bIns="0" anchor="ctr">
            <a:spAutoFit/>
          </a:bodyPr>
          <a:lstStyle/>
          <a:p>
            <a:pPr algn="l">
              <a:spcAft>
                <a:spcPts val="400"/>
              </a:spcAft>
            </a:pPr>
            <a:r>
              <a:rPr sz="1600" b="0" i="0">
                <a:solidFill>
                  <a:srgbClr val="1A1A1A"/>
                </a:solidFill>
                <a:latin typeface="Times New Roman"/>
              </a:rPr>
              <a:t>LSTM baseline per zone</a:t>
            </a:r>
          </a:p>
        </p:txBody>
      </p:sp>
      <p:sp>
        <p:nvSpPr>
          <p:cNvPr id="37" name="Rounded Rectangle 36"/>
          <p:cNvSpPr/>
          <p:nvPr/>
        </p:nvSpPr>
        <p:spPr>
          <a:xfrm>
            <a:off x="5914088" y="3579398"/>
            <a:ext cx="522695" cy="197147"/>
          </a:xfrm>
          <a:prstGeom prst="roundRect">
            <a:avLst>
              <a:gd name="adj" fmla="val 6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8" name="TextBox 37"/>
          <p:cNvSpPr txBox="1"/>
          <p:nvPr/>
        </p:nvSpPr>
        <p:spPr>
          <a:xfrm>
            <a:off x="11152163" y="3523070"/>
            <a:ext cx="762594" cy="309803"/>
          </a:xfrm>
          <a:prstGeom prst="rect">
            <a:avLst/>
          </a:prstGeom>
          <a:noFill/>
        </p:spPr>
        <p:txBody>
          <a:bodyPr wrap="square" lIns="0" tIns="0" rIns="0" bIns="0" anchor="ctr">
            <a:spAutoFit/>
          </a:bodyPr>
          <a:lstStyle/>
          <a:p>
            <a:pPr algn="ctr">
              <a:spcAft>
                <a:spcPts val="400"/>
              </a:spcAft>
            </a:pPr>
            <a:r>
              <a:rPr sz="1600" b="1" i="0">
                <a:solidFill>
                  <a:srgbClr val="0033CC"/>
                </a:solidFill>
                <a:latin typeface="Times New Roman"/>
              </a:rPr>
              <a:t>M2</a:t>
            </a:r>
          </a:p>
        </p:txBody>
      </p:sp>
      <p:sp>
        <p:nvSpPr>
          <p:cNvPr id="39" name="TextBox 38"/>
          <p:cNvSpPr txBox="1"/>
          <p:nvPr/>
        </p:nvSpPr>
        <p:spPr>
          <a:xfrm>
            <a:off x="409107" y="3832874"/>
            <a:ext cx="3717650" cy="309803"/>
          </a:xfrm>
          <a:prstGeom prst="rect">
            <a:avLst/>
          </a:prstGeom>
          <a:noFill/>
        </p:spPr>
        <p:txBody>
          <a:bodyPr wrap="square" lIns="0" tIns="0" rIns="0" bIns="0" anchor="ctr">
            <a:spAutoFit/>
          </a:bodyPr>
          <a:lstStyle/>
          <a:p>
            <a:pPr algn="l">
              <a:spcAft>
                <a:spcPts val="400"/>
              </a:spcAft>
            </a:pPr>
            <a:r>
              <a:rPr sz="1600" b="0" i="0">
                <a:solidFill>
                  <a:srgbClr val="1A1A1A"/>
                </a:solidFill>
                <a:latin typeface="Times New Roman"/>
              </a:rPr>
              <a:t>Zone-adjacency graph design</a:t>
            </a:r>
          </a:p>
        </p:txBody>
      </p:sp>
      <p:sp>
        <p:nvSpPr>
          <p:cNvPr id="40" name="Rounded Rectangle 39"/>
          <p:cNvSpPr/>
          <p:nvPr/>
        </p:nvSpPr>
        <p:spPr>
          <a:xfrm>
            <a:off x="6493979" y="3889202"/>
            <a:ext cx="522695" cy="197147"/>
          </a:xfrm>
          <a:prstGeom prst="roundRect">
            <a:avLst>
              <a:gd name="adj" fmla="val 6000"/>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1" name="TextBox 40"/>
          <p:cNvSpPr txBox="1"/>
          <p:nvPr/>
        </p:nvSpPr>
        <p:spPr>
          <a:xfrm>
            <a:off x="11152163" y="3832874"/>
            <a:ext cx="762594" cy="309803"/>
          </a:xfrm>
          <a:prstGeom prst="rect">
            <a:avLst/>
          </a:prstGeom>
          <a:noFill/>
        </p:spPr>
        <p:txBody>
          <a:bodyPr wrap="square" lIns="0" tIns="0" rIns="0" bIns="0" anchor="ctr">
            <a:spAutoFit/>
          </a:bodyPr>
          <a:lstStyle/>
          <a:p>
            <a:pPr algn="ctr">
              <a:spcAft>
                <a:spcPts val="400"/>
              </a:spcAft>
            </a:pPr>
            <a:r>
              <a:rPr sz="1600" b="1" i="0">
                <a:solidFill>
                  <a:srgbClr val="0033CC"/>
                </a:solidFill>
                <a:latin typeface="Times New Roman"/>
              </a:rPr>
              <a:t>M3</a:t>
            </a:r>
          </a:p>
        </p:txBody>
      </p:sp>
      <p:sp>
        <p:nvSpPr>
          <p:cNvPr id="42" name="Rectangle 41"/>
          <p:cNvSpPr/>
          <p:nvPr/>
        </p:nvSpPr>
        <p:spPr>
          <a:xfrm>
            <a:off x="332847" y="4142677"/>
            <a:ext cx="11581910" cy="309803"/>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3" name="TextBox 42"/>
          <p:cNvSpPr txBox="1"/>
          <p:nvPr/>
        </p:nvSpPr>
        <p:spPr>
          <a:xfrm>
            <a:off x="409107" y="4142677"/>
            <a:ext cx="3717650" cy="309803"/>
          </a:xfrm>
          <a:prstGeom prst="rect">
            <a:avLst/>
          </a:prstGeom>
          <a:noFill/>
        </p:spPr>
        <p:txBody>
          <a:bodyPr wrap="square" lIns="0" tIns="0" rIns="0" bIns="0" anchor="ctr">
            <a:spAutoFit/>
          </a:bodyPr>
          <a:lstStyle/>
          <a:p>
            <a:pPr algn="l">
              <a:spcAft>
                <a:spcPts val="400"/>
              </a:spcAft>
            </a:pPr>
            <a:r>
              <a:rPr sz="1600" b="0" i="0">
                <a:solidFill>
                  <a:srgbClr val="1A1A1A"/>
                </a:solidFill>
                <a:latin typeface="Times New Roman"/>
              </a:rPr>
              <a:t>GNN propagation model</a:t>
            </a:r>
          </a:p>
        </p:txBody>
      </p:sp>
      <p:sp>
        <p:nvSpPr>
          <p:cNvPr id="44" name="Rounded Rectangle 43"/>
          <p:cNvSpPr/>
          <p:nvPr/>
        </p:nvSpPr>
        <p:spPr>
          <a:xfrm>
            <a:off x="6493979" y="4199004"/>
            <a:ext cx="1682473" cy="197147"/>
          </a:xfrm>
          <a:prstGeom prst="roundRect">
            <a:avLst>
              <a:gd name="adj" fmla="val 6000"/>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5" name="TextBox 44"/>
          <p:cNvSpPr txBox="1"/>
          <p:nvPr/>
        </p:nvSpPr>
        <p:spPr>
          <a:xfrm>
            <a:off x="11152163" y="4142677"/>
            <a:ext cx="762594" cy="309803"/>
          </a:xfrm>
          <a:prstGeom prst="rect">
            <a:avLst/>
          </a:prstGeom>
          <a:noFill/>
        </p:spPr>
        <p:txBody>
          <a:bodyPr wrap="square" lIns="0" tIns="0" rIns="0" bIns="0" anchor="ctr">
            <a:spAutoFit/>
          </a:bodyPr>
          <a:lstStyle/>
          <a:p>
            <a:pPr algn="ctr">
              <a:spcAft>
                <a:spcPts val="400"/>
              </a:spcAft>
            </a:pPr>
            <a:r>
              <a:rPr sz="1600" b="1" i="0">
                <a:solidFill>
                  <a:srgbClr val="0033CC"/>
                </a:solidFill>
                <a:latin typeface="Times New Roman"/>
              </a:rPr>
              <a:t>M3</a:t>
            </a:r>
          </a:p>
        </p:txBody>
      </p:sp>
      <p:sp>
        <p:nvSpPr>
          <p:cNvPr id="46" name="TextBox 45"/>
          <p:cNvSpPr txBox="1"/>
          <p:nvPr/>
        </p:nvSpPr>
        <p:spPr>
          <a:xfrm>
            <a:off x="409107" y="4452481"/>
            <a:ext cx="3717650" cy="309803"/>
          </a:xfrm>
          <a:prstGeom prst="rect">
            <a:avLst/>
          </a:prstGeom>
          <a:noFill/>
        </p:spPr>
        <p:txBody>
          <a:bodyPr wrap="square" lIns="0" tIns="0" rIns="0" bIns="0" anchor="ctr">
            <a:spAutoFit/>
          </a:bodyPr>
          <a:lstStyle/>
          <a:p>
            <a:pPr algn="l">
              <a:spcAft>
                <a:spcPts val="400"/>
              </a:spcAft>
            </a:pPr>
            <a:r>
              <a:rPr sz="1600" b="0" i="0">
                <a:solidFill>
                  <a:srgbClr val="1A1A1A"/>
                </a:solidFill>
                <a:latin typeface="Times New Roman"/>
              </a:rPr>
              <a:t>3-way fair ablation</a:t>
            </a:r>
          </a:p>
        </p:txBody>
      </p:sp>
      <p:sp>
        <p:nvSpPr>
          <p:cNvPr id="47" name="Rounded Rectangle 46"/>
          <p:cNvSpPr/>
          <p:nvPr/>
        </p:nvSpPr>
        <p:spPr>
          <a:xfrm>
            <a:off x="7653757" y="4508808"/>
            <a:ext cx="1102584" cy="197147"/>
          </a:xfrm>
          <a:prstGeom prst="roundRect">
            <a:avLst>
              <a:gd name="adj" fmla="val 6000"/>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8" name="TextBox 47"/>
          <p:cNvSpPr txBox="1"/>
          <p:nvPr/>
        </p:nvSpPr>
        <p:spPr>
          <a:xfrm>
            <a:off x="11152163" y="4452481"/>
            <a:ext cx="762594" cy="309803"/>
          </a:xfrm>
          <a:prstGeom prst="rect">
            <a:avLst/>
          </a:prstGeom>
          <a:noFill/>
        </p:spPr>
        <p:txBody>
          <a:bodyPr wrap="square" lIns="0" tIns="0" rIns="0" bIns="0" anchor="ctr">
            <a:spAutoFit/>
          </a:bodyPr>
          <a:lstStyle/>
          <a:p>
            <a:pPr algn="ctr">
              <a:spcAft>
                <a:spcPts val="400"/>
              </a:spcAft>
            </a:pPr>
            <a:r>
              <a:rPr sz="1600" b="1" i="0">
                <a:solidFill>
                  <a:srgbClr val="0033CC"/>
                </a:solidFill>
                <a:latin typeface="Times New Roman"/>
              </a:rPr>
              <a:t>M3, M2</a:t>
            </a:r>
          </a:p>
        </p:txBody>
      </p:sp>
      <p:sp>
        <p:nvSpPr>
          <p:cNvPr id="49" name="Rectangle 48"/>
          <p:cNvSpPr/>
          <p:nvPr/>
        </p:nvSpPr>
        <p:spPr>
          <a:xfrm>
            <a:off x="332847" y="4762285"/>
            <a:ext cx="11581910" cy="309803"/>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0" name="TextBox 49"/>
          <p:cNvSpPr txBox="1"/>
          <p:nvPr/>
        </p:nvSpPr>
        <p:spPr>
          <a:xfrm>
            <a:off x="409107" y="4762285"/>
            <a:ext cx="3717650" cy="309803"/>
          </a:xfrm>
          <a:prstGeom prst="rect">
            <a:avLst/>
          </a:prstGeom>
          <a:noFill/>
        </p:spPr>
        <p:txBody>
          <a:bodyPr wrap="square" lIns="0" tIns="0" rIns="0" bIns="0" anchor="ctr">
            <a:spAutoFit/>
          </a:bodyPr>
          <a:lstStyle/>
          <a:p>
            <a:pPr algn="l">
              <a:spcAft>
                <a:spcPts val="400"/>
              </a:spcAft>
            </a:pPr>
            <a:r>
              <a:rPr sz="1600" b="0" i="0">
                <a:solidFill>
                  <a:srgbClr val="1A1A1A"/>
                </a:solidFill>
                <a:latin typeface="Times New Roman"/>
              </a:rPr>
              <a:t>Workshop-paper draft</a:t>
            </a:r>
          </a:p>
        </p:txBody>
      </p:sp>
      <p:sp>
        <p:nvSpPr>
          <p:cNvPr id="51" name="Rounded Rectangle 50"/>
          <p:cNvSpPr/>
          <p:nvPr/>
        </p:nvSpPr>
        <p:spPr>
          <a:xfrm>
            <a:off x="8233647" y="4818612"/>
            <a:ext cx="522695" cy="197147"/>
          </a:xfrm>
          <a:prstGeom prst="roundRect">
            <a:avLst>
              <a:gd name="adj" fmla="val 6000"/>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2" name="TextBox 51"/>
          <p:cNvSpPr txBox="1"/>
          <p:nvPr/>
        </p:nvSpPr>
        <p:spPr>
          <a:xfrm>
            <a:off x="11152163" y="4762285"/>
            <a:ext cx="762594" cy="309803"/>
          </a:xfrm>
          <a:prstGeom prst="rect">
            <a:avLst/>
          </a:prstGeom>
          <a:noFill/>
        </p:spPr>
        <p:txBody>
          <a:bodyPr wrap="square" lIns="0" tIns="0" rIns="0" bIns="0" anchor="ctr">
            <a:spAutoFit/>
          </a:bodyPr>
          <a:lstStyle/>
          <a:p>
            <a:pPr algn="ctr">
              <a:spcAft>
                <a:spcPts val="400"/>
              </a:spcAft>
            </a:pPr>
            <a:r>
              <a:rPr sz="1600" b="1" i="0">
                <a:solidFill>
                  <a:srgbClr val="0033CC"/>
                </a:solidFill>
                <a:latin typeface="Times New Roman"/>
              </a:rPr>
              <a:t>All</a:t>
            </a:r>
          </a:p>
        </p:txBody>
      </p:sp>
      <p:sp>
        <p:nvSpPr>
          <p:cNvPr id="53" name="TextBox 52"/>
          <p:cNvSpPr txBox="1"/>
          <p:nvPr/>
        </p:nvSpPr>
        <p:spPr>
          <a:xfrm>
            <a:off x="409107" y="5072089"/>
            <a:ext cx="3717650" cy="309803"/>
          </a:xfrm>
          <a:prstGeom prst="rect">
            <a:avLst/>
          </a:prstGeom>
          <a:noFill/>
        </p:spPr>
        <p:txBody>
          <a:bodyPr wrap="square" lIns="0" tIns="0" rIns="0" bIns="0" anchor="ctr">
            <a:spAutoFit/>
          </a:bodyPr>
          <a:lstStyle/>
          <a:p>
            <a:pPr algn="l">
              <a:spcAft>
                <a:spcPts val="400"/>
              </a:spcAft>
            </a:pPr>
            <a:r>
              <a:rPr sz="1600" b="0" i="0">
                <a:solidFill>
                  <a:srgbClr val="1A1A1A"/>
                </a:solidFill>
                <a:latin typeface="Times New Roman"/>
              </a:rPr>
              <a:t>JuPedSim scenarios + interventions</a:t>
            </a:r>
          </a:p>
        </p:txBody>
      </p:sp>
      <p:sp>
        <p:nvSpPr>
          <p:cNvPr id="54" name="Rounded Rectangle 53"/>
          <p:cNvSpPr/>
          <p:nvPr/>
        </p:nvSpPr>
        <p:spPr>
          <a:xfrm>
            <a:off x="8813537" y="5128416"/>
            <a:ext cx="1102584" cy="197147"/>
          </a:xfrm>
          <a:prstGeom prst="roundRect">
            <a:avLst>
              <a:gd name="adj" fmla="val 6000"/>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5" name="TextBox 54"/>
          <p:cNvSpPr txBox="1"/>
          <p:nvPr/>
        </p:nvSpPr>
        <p:spPr>
          <a:xfrm>
            <a:off x="11152163" y="5072089"/>
            <a:ext cx="762594" cy="309803"/>
          </a:xfrm>
          <a:prstGeom prst="rect">
            <a:avLst/>
          </a:prstGeom>
          <a:noFill/>
        </p:spPr>
        <p:txBody>
          <a:bodyPr wrap="square" lIns="0" tIns="0" rIns="0" bIns="0" anchor="ctr">
            <a:spAutoFit/>
          </a:bodyPr>
          <a:lstStyle/>
          <a:p>
            <a:pPr algn="ctr">
              <a:spcAft>
                <a:spcPts val="400"/>
              </a:spcAft>
            </a:pPr>
            <a:r>
              <a:rPr sz="1600" b="1" i="0">
                <a:solidFill>
                  <a:srgbClr val="0033CC"/>
                </a:solidFill>
                <a:latin typeface="Times New Roman"/>
              </a:rPr>
              <a:t>M4</a:t>
            </a:r>
          </a:p>
        </p:txBody>
      </p:sp>
      <p:sp>
        <p:nvSpPr>
          <p:cNvPr id="56" name="Rectangle 55"/>
          <p:cNvSpPr/>
          <p:nvPr/>
        </p:nvSpPr>
        <p:spPr>
          <a:xfrm>
            <a:off x="332847" y="5381893"/>
            <a:ext cx="11581910" cy="309803"/>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7" name="TextBox 56"/>
          <p:cNvSpPr txBox="1"/>
          <p:nvPr/>
        </p:nvSpPr>
        <p:spPr>
          <a:xfrm>
            <a:off x="409107" y="5381893"/>
            <a:ext cx="3717650" cy="309803"/>
          </a:xfrm>
          <a:prstGeom prst="rect">
            <a:avLst/>
          </a:prstGeom>
          <a:noFill/>
        </p:spPr>
        <p:txBody>
          <a:bodyPr wrap="square" lIns="0" tIns="0" rIns="0" bIns="0" anchor="ctr">
            <a:spAutoFit/>
          </a:bodyPr>
          <a:lstStyle/>
          <a:p>
            <a:pPr algn="l">
              <a:spcAft>
                <a:spcPts val="400"/>
              </a:spcAft>
            </a:pPr>
            <a:r>
              <a:rPr sz="1600" b="0" i="0">
                <a:solidFill>
                  <a:srgbClr val="1A1A1A"/>
                </a:solidFill>
                <a:latin typeface="Times New Roman"/>
              </a:rPr>
              <a:t>Dashboard v0 → v1 → v2 + real-time</a:t>
            </a:r>
          </a:p>
        </p:txBody>
      </p:sp>
      <p:sp>
        <p:nvSpPr>
          <p:cNvPr id="58" name="Rounded Rectangle 57"/>
          <p:cNvSpPr/>
          <p:nvPr/>
        </p:nvSpPr>
        <p:spPr>
          <a:xfrm>
            <a:off x="8813537" y="5438219"/>
            <a:ext cx="1682473" cy="197147"/>
          </a:xfrm>
          <a:prstGeom prst="roundRect">
            <a:avLst>
              <a:gd name="adj" fmla="val 6000"/>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59" name="TextBox 58"/>
          <p:cNvSpPr txBox="1"/>
          <p:nvPr/>
        </p:nvSpPr>
        <p:spPr>
          <a:xfrm>
            <a:off x="11152163" y="5381893"/>
            <a:ext cx="762594" cy="309803"/>
          </a:xfrm>
          <a:prstGeom prst="rect">
            <a:avLst/>
          </a:prstGeom>
          <a:noFill/>
        </p:spPr>
        <p:txBody>
          <a:bodyPr wrap="square" lIns="0" tIns="0" rIns="0" bIns="0" anchor="ctr">
            <a:spAutoFit/>
          </a:bodyPr>
          <a:lstStyle/>
          <a:p>
            <a:pPr algn="ctr">
              <a:spcAft>
                <a:spcPts val="400"/>
              </a:spcAft>
            </a:pPr>
            <a:r>
              <a:rPr sz="1600" b="1" i="0">
                <a:solidFill>
                  <a:srgbClr val="0033CC"/>
                </a:solidFill>
                <a:latin typeface="Times New Roman"/>
              </a:rPr>
              <a:t>M4, M1</a:t>
            </a:r>
          </a:p>
        </p:txBody>
      </p:sp>
      <p:sp>
        <p:nvSpPr>
          <p:cNvPr id="60" name="TextBox 59"/>
          <p:cNvSpPr txBox="1"/>
          <p:nvPr/>
        </p:nvSpPr>
        <p:spPr>
          <a:xfrm>
            <a:off x="409107" y="5691696"/>
            <a:ext cx="3717650" cy="309803"/>
          </a:xfrm>
          <a:prstGeom prst="rect">
            <a:avLst/>
          </a:prstGeom>
          <a:noFill/>
        </p:spPr>
        <p:txBody>
          <a:bodyPr wrap="square" lIns="0" tIns="0" rIns="0" bIns="0" anchor="ctr">
            <a:spAutoFit/>
          </a:bodyPr>
          <a:lstStyle/>
          <a:p>
            <a:pPr algn="l">
              <a:spcAft>
                <a:spcPts val="400"/>
              </a:spcAft>
            </a:pPr>
            <a:r>
              <a:rPr sz="1600" b="0" i="0">
                <a:solidFill>
                  <a:srgbClr val="1A1A1A"/>
                </a:solidFill>
                <a:latin typeface="Times New Roman"/>
              </a:rPr>
              <a:t>Evaluation vs ICMF + reviewed systems</a:t>
            </a:r>
          </a:p>
        </p:txBody>
      </p:sp>
      <p:sp>
        <p:nvSpPr>
          <p:cNvPr id="61" name="Rounded Rectangle 60"/>
          <p:cNvSpPr/>
          <p:nvPr/>
        </p:nvSpPr>
        <p:spPr>
          <a:xfrm>
            <a:off x="9393427" y="5748024"/>
            <a:ext cx="1102584" cy="197147"/>
          </a:xfrm>
          <a:prstGeom prst="roundRect">
            <a:avLst>
              <a:gd name="adj" fmla="val 6000"/>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2" name="TextBox 61"/>
          <p:cNvSpPr txBox="1"/>
          <p:nvPr/>
        </p:nvSpPr>
        <p:spPr>
          <a:xfrm>
            <a:off x="11152163" y="5691696"/>
            <a:ext cx="762594" cy="309803"/>
          </a:xfrm>
          <a:prstGeom prst="rect">
            <a:avLst/>
          </a:prstGeom>
          <a:noFill/>
        </p:spPr>
        <p:txBody>
          <a:bodyPr wrap="square" lIns="0" tIns="0" rIns="0" bIns="0" anchor="ctr">
            <a:spAutoFit/>
          </a:bodyPr>
          <a:lstStyle/>
          <a:p>
            <a:pPr algn="ctr">
              <a:spcAft>
                <a:spcPts val="400"/>
              </a:spcAft>
            </a:pPr>
            <a:r>
              <a:rPr sz="1600" b="1" i="0">
                <a:solidFill>
                  <a:srgbClr val="0033CC"/>
                </a:solidFill>
                <a:latin typeface="Times New Roman"/>
              </a:rPr>
              <a:t>All</a:t>
            </a:r>
          </a:p>
        </p:txBody>
      </p:sp>
      <p:sp>
        <p:nvSpPr>
          <p:cNvPr id="63" name="Rectangle 62"/>
          <p:cNvSpPr/>
          <p:nvPr/>
        </p:nvSpPr>
        <p:spPr>
          <a:xfrm>
            <a:off x="332847" y="6001500"/>
            <a:ext cx="11581910" cy="309803"/>
          </a:xfrm>
          <a:prstGeom prst="rect">
            <a:avLst/>
          </a:prstGeom>
          <a:solidFill>
            <a:srgbClr val="F4F6F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4" name="TextBox 63"/>
          <p:cNvSpPr txBox="1"/>
          <p:nvPr/>
        </p:nvSpPr>
        <p:spPr>
          <a:xfrm>
            <a:off x="409107" y="6001500"/>
            <a:ext cx="3717650" cy="309803"/>
          </a:xfrm>
          <a:prstGeom prst="rect">
            <a:avLst/>
          </a:prstGeom>
          <a:noFill/>
        </p:spPr>
        <p:txBody>
          <a:bodyPr wrap="square" lIns="0" tIns="0" rIns="0" bIns="0" anchor="ctr">
            <a:spAutoFit/>
          </a:bodyPr>
          <a:lstStyle/>
          <a:p>
            <a:pPr algn="l">
              <a:spcAft>
                <a:spcPts val="400"/>
              </a:spcAft>
            </a:pPr>
            <a:r>
              <a:rPr sz="1600" b="0" i="0">
                <a:solidFill>
                  <a:srgbClr val="1A1A1A"/>
                </a:solidFill>
                <a:latin typeface="Times New Roman"/>
              </a:rPr>
              <a:t>Research paper + final demo</a:t>
            </a:r>
          </a:p>
        </p:txBody>
      </p:sp>
      <p:sp>
        <p:nvSpPr>
          <p:cNvPr id="65" name="Rounded Rectangle 64"/>
          <p:cNvSpPr/>
          <p:nvPr/>
        </p:nvSpPr>
        <p:spPr>
          <a:xfrm>
            <a:off x="9973318" y="6057828"/>
            <a:ext cx="1102584" cy="197147"/>
          </a:xfrm>
          <a:prstGeom prst="roundRect">
            <a:avLst>
              <a:gd name="adj" fmla="val 6000"/>
            </a:avLst>
          </a:prstGeom>
          <a:solidFill>
            <a:srgbClr val="1E8E3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6" name="TextBox 65"/>
          <p:cNvSpPr txBox="1"/>
          <p:nvPr/>
        </p:nvSpPr>
        <p:spPr>
          <a:xfrm>
            <a:off x="11152163" y="6001500"/>
            <a:ext cx="762594" cy="309803"/>
          </a:xfrm>
          <a:prstGeom prst="rect">
            <a:avLst/>
          </a:prstGeom>
          <a:noFill/>
        </p:spPr>
        <p:txBody>
          <a:bodyPr wrap="square" lIns="0" tIns="0" rIns="0" bIns="0" anchor="ctr">
            <a:spAutoFit/>
          </a:bodyPr>
          <a:lstStyle/>
          <a:p>
            <a:pPr algn="ctr">
              <a:spcAft>
                <a:spcPts val="400"/>
              </a:spcAft>
            </a:pPr>
            <a:r>
              <a:rPr sz="1600" b="1" i="0">
                <a:solidFill>
                  <a:srgbClr val="0033CC"/>
                </a:solidFill>
                <a:latin typeface="Times New Roman"/>
              </a:rPr>
              <a:t>All</a:t>
            </a:r>
          </a:p>
        </p:txBody>
      </p:sp>
      <p:cxnSp>
        <p:nvCxnSpPr>
          <p:cNvPr id="67" name="Connector 66"/>
          <p:cNvCxnSpPr/>
          <p:nvPr/>
        </p:nvCxnSpPr>
        <p:spPr>
          <a:xfrm>
            <a:off x="6465381" y="1701800"/>
            <a:ext cx="0" cy="4609504"/>
          </a:xfrm>
          <a:prstGeom prst="line">
            <a:avLst/>
          </a:prstGeom>
          <a:ln w="12700">
            <a:solidFill>
              <a:srgbClr val="9FB0C8"/>
            </a:solidFill>
            <a:prstDash val="dash"/>
          </a:ln>
        </p:spPr>
        <p:style>
          <a:lnRef idx="2">
            <a:schemeClr val="accent1"/>
          </a:lnRef>
          <a:fillRef idx="0">
            <a:schemeClr val="accent1"/>
          </a:fillRef>
          <a:effectRef idx="1">
            <a:schemeClr val="accent1"/>
          </a:effectRef>
          <a:fontRef idx="minor">
            <a:schemeClr val="tx1"/>
          </a:fontRef>
        </p:style>
      </p:cxnSp>
      <p:cxnSp>
        <p:nvCxnSpPr>
          <p:cNvPr id="68" name="Connector 67"/>
          <p:cNvCxnSpPr/>
          <p:nvPr/>
        </p:nvCxnSpPr>
        <p:spPr>
          <a:xfrm>
            <a:off x="8784940" y="1701800"/>
            <a:ext cx="0" cy="4609504"/>
          </a:xfrm>
          <a:prstGeom prst="line">
            <a:avLst/>
          </a:prstGeom>
          <a:ln w="12700">
            <a:solidFill>
              <a:srgbClr val="9FB0C8"/>
            </a:solidFill>
            <a:prstDash val="dash"/>
          </a:ln>
        </p:spPr>
        <p:style>
          <a:lnRef idx="2">
            <a:schemeClr val="accent1"/>
          </a:lnRef>
          <a:fillRef idx="0">
            <a:schemeClr val="accent1"/>
          </a:fillRef>
          <a:effectRef idx="1">
            <a:schemeClr val="accent1"/>
          </a:effectRef>
          <a:fontRef idx="minor">
            <a:schemeClr val="tx1"/>
          </a:fontRef>
        </p:style>
      </p:cxnSp>
      <p:sp>
        <p:nvSpPr>
          <p:cNvPr id="69" name="TextBox 68"/>
          <p:cNvSpPr txBox="1"/>
          <p:nvPr/>
        </p:nvSpPr>
        <p:spPr>
          <a:xfrm>
            <a:off x="332847" y="6423960"/>
            <a:ext cx="11534247" cy="281639"/>
          </a:xfrm>
          <a:prstGeom prst="rect">
            <a:avLst/>
          </a:prstGeom>
          <a:noFill/>
        </p:spPr>
        <p:txBody>
          <a:bodyPr wrap="square" lIns="0" tIns="0" rIns="0" bIns="0" anchor="t">
            <a:spAutoFit/>
          </a:bodyPr>
          <a:lstStyle/>
          <a:p>
            <a:pPr algn="l">
              <a:spcAft>
                <a:spcPts val="400"/>
              </a:spcAft>
            </a:pPr>
            <a:r>
              <a:rPr sz="1600" b="0" i="1">
                <a:solidFill>
                  <a:srgbClr val="666666"/>
                </a:solidFill>
                <a:latin typeface="Times New Roman"/>
              </a:rPr>
              <a:t>M1 Rehan – Detection &amp; data | M2 Prateek – Features &amp; forecasting | M3 Pranav – Graph modelling | M4 Yaseen – Actions &amp; dashboard</a:t>
            </a:r>
          </a:p>
        </p:txBody>
      </p:sp>
      <p:sp>
        <p:nvSpPr>
          <p:cNvPr id="70" name="Bar 70"/>
          <p:cNvSpPr/>
          <p:nvPr/>
        </p:nvSpPr>
        <p:spPr>
          <a:xfrm>
            <a:off x="5334199" y="5128416"/>
            <a:ext cx="1102584" cy="197147"/>
          </a:xfrm>
          <a:prstGeom prst="roundRect">
            <a:avLst>
              <a:gd name="adj" fmla="val 6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Bar 71"/>
          <p:cNvSpPr/>
          <p:nvPr/>
        </p:nvSpPr>
        <p:spPr>
          <a:xfrm>
            <a:off x="6493979" y="5128416"/>
            <a:ext cx="1102584" cy="197147"/>
          </a:xfrm>
          <a:prstGeom prst="roundRect">
            <a:avLst>
              <a:gd name="adj" fmla="val 6000"/>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2" name="Bar 72"/>
          <p:cNvSpPr/>
          <p:nvPr/>
        </p:nvSpPr>
        <p:spPr>
          <a:xfrm>
            <a:off x="5334199" y="5438219"/>
            <a:ext cx="522695" cy="197147"/>
          </a:xfrm>
          <a:prstGeom prst="roundRect">
            <a:avLst>
              <a:gd name="adj" fmla="val 6000"/>
            </a:avLst>
          </a:prstGeom>
          <a:solidFill>
            <a:srgbClr val="E08A0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3" name="Bar 73"/>
          <p:cNvSpPr/>
          <p:nvPr/>
        </p:nvSpPr>
        <p:spPr>
          <a:xfrm>
            <a:off x="7653757" y="5438219"/>
            <a:ext cx="522695" cy="197147"/>
          </a:xfrm>
          <a:prstGeom prst="roundRect">
            <a:avLst>
              <a:gd name="adj" fmla="val 6000"/>
            </a:avLst>
          </a:prstGeom>
          <a:solidFill>
            <a:srgbClr val="0033C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IN" sz="2400" dirty="0">
                <a:solidFill>
                  <a:srgbClr val="FF0000"/>
                </a:solidFill>
                <a:latin typeface="Times New Roman" pitchFamily="34" charset="0"/>
              </a:rPr>
              <a:t>Effort Split by Team Member</a:t>
            </a:r>
            <a:endParaRPr lang="en-US" sz="2400" dirty="0">
              <a:solidFill>
                <a:srgbClr val="FF0000"/>
              </a:solidFill>
              <a:latin typeface="Times New Roman" pitchFamily="34" charset="0"/>
            </a:endParaRPr>
          </a:p>
        </p:txBody>
      </p:sp>
      <p:graphicFrame>
        <p:nvGraphicFramePr>
          <p:cNvPr id="15" name="Table 14"/>
          <p:cNvGraphicFramePr>
            <a:graphicFrameLocks noGrp="1"/>
          </p:cNvGraphicFramePr>
          <p:nvPr/>
        </p:nvGraphicFramePr>
        <p:xfrm>
          <a:off x="330200" y="1701800"/>
          <a:ext cx="11531600" cy="4572000"/>
        </p:xfrm>
        <a:graphic>
          <a:graphicData uri="http://schemas.openxmlformats.org/drawingml/2006/table">
            <a:tbl>
              <a:tblPr firstRow="1" bandRow="1">
                <a:tableStyleId>{5C22544A-7EE6-4342-B048-85BDC9FD1C3A}</a:tableStyleId>
              </a:tblPr>
              <a:tblGrid>
                <a:gridCol w="2540000">
                  <a:extLst>
                    <a:ext uri="{9D8B030D-6E8A-4147-A177-3AD203B41FA5}">
                      <a16:colId xmlns:a16="http://schemas.microsoft.com/office/drawing/2014/main" val="20000"/>
                    </a:ext>
                  </a:extLst>
                </a:gridCol>
                <a:gridCol w="2946400">
                  <a:extLst>
                    <a:ext uri="{9D8B030D-6E8A-4147-A177-3AD203B41FA5}">
                      <a16:colId xmlns:a16="http://schemas.microsoft.com/office/drawing/2014/main" val="20001"/>
                    </a:ext>
                  </a:extLst>
                </a:gridCol>
                <a:gridCol w="2616200">
                  <a:extLst>
                    <a:ext uri="{9D8B030D-6E8A-4147-A177-3AD203B41FA5}">
                      <a16:colId xmlns:a16="http://schemas.microsoft.com/office/drawing/2014/main" val="20002"/>
                    </a:ext>
                  </a:extLst>
                </a:gridCol>
                <a:gridCol w="2616200">
                  <a:extLst>
                    <a:ext uri="{9D8B030D-6E8A-4147-A177-3AD203B41FA5}">
                      <a16:colId xmlns:a16="http://schemas.microsoft.com/office/drawing/2014/main" val="20003"/>
                    </a:ext>
                  </a:extLst>
                </a:gridCol>
                <a:gridCol w="812800">
                  <a:extLst>
                    <a:ext uri="{9D8B030D-6E8A-4147-A177-3AD203B41FA5}">
                      <a16:colId xmlns:a16="http://schemas.microsoft.com/office/drawing/2014/main" val="20004"/>
                    </a:ext>
                  </a:extLst>
                </a:gridCol>
              </a:tblGrid>
              <a:tr h="406400">
                <a:tc>
                  <a:txBody>
                    <a:bodyPr/>
                    <a:lstStyle/>
                    <a:p>
                      <a:r>
                        <a:rPr sz="1800" b="1">
                          <a:solidFill>
                            <a:srgbClr val="FFFFFF"/>
                          </a:solidFill>
                          <a:latin typeface="Times New Roman"/>
                        </a:rPr>
                        <a:t>Member / Role</a:t>
                      </a:r>
                    </a:p>
                  </a:txBody>
                  <a:tcPr marL="73152" marR="73152" marT="27432" marB="27432" anchor="ctr">
                    <a:solidFill>
                      <a:srgbClr val="0033CC"/>
                    </a:solidFill>
                  </a:tcPr>
                </a:tc>
                <a:tc>
                  <a:txBody>
                    <a:bodyPr/>
                    <a:lstStyle/>
                    <a:p>
                      <a:r>
                        <a:rPr sz="1800" b="1">
                          <a:solidFill>
                            <a:srgbClr val="FFFFFF"/>
                          </a:solidFill>
                          <a:latin typeface="Times New Roman"/>
                        </a:rPr>
                        <a:t>Phase-I</a:t>
                      </a:r>
                    </a:p>
                  </a:txBody>
                  <a:tcPr marL="73152" marR="73152" marT="27432" marB="27432" anchor="ctr">
                    <a:solidFill>
                      <a:srgbClr val="0033CC"/>
                    </a:solidFill>
                  </a:tcPr>
                </a:tc>
                <a:tc>
                  <a:txBody>
                    <a:bodyPr/>
                    <a:lstStyle/>
                    <a:p>
                      <a:r>
                        <a:rPr sz="1800" b="1">
                          <a:solidFill>
                            <a:srgbClr val="FFFFFF"/>
                          </a:solidFill>
                          <a:latin typeface="Times New Roman"/>
                        </a:rPr>
                        <a:t>Phase-II</a:t>
                      </a:r>
                    </a:p>
                  </a:txBody>
                  <a:tcPr marL="73152" marR="73152" marT="27432" marB="27432" anchor="ctr">
                    <a:solidFill>
                      <a:srgbClr val="0033CC"/>
                    </a:solidFill>
                  </a:tcPr>
                </a:tc>
                <a:tc>
                  <a:txBody>
                    <a:bodyPr/>
                    <a:lstStyle/>
                    <a:p>
                      <a:r>
                        <a:rPr sz="1800" b="1">
                          <a:solidFill>
                            <a:srgbClr val="FFFFFF"/>
                          </a:solidFill>
                          <a:latin typeface="Times New Roman"/>
                        </a:rPr>
                        <a:t>Phase-III</a:t>
                      </a:r>
                    </a:p>
                  </a:txBody>
                  <a:tcPr marL="73152" marR="73152" marT="27432" marB="27432" anchor="ctr">
                    <a:solidFill>
                      <a:srgbClr val="0033CC"/>
                    </a:solidFill>
                  </a:tcPr>
                </a:tc>
                <a:tc>
                  <a:txBody>
                    <a:bodyPr/>
                    <a:lstStyle/>
                    <a:p>
                      <a:r>
                        <a:rPr sz="1800" b="1">
                          <a:solidFill>
                            <a:srgbClr val="FFFFFF"/>
                          </a:solidFill>
                          <a:latin typeface="Times New Roman"/>
                        </a:rPr>
                        <a:t>Share</a:t>
                      </a:r>
                    </a:p>
                  </a:txBody>
                  <a:tcPr marL="73152" marR="73152" marT="27432" marB="27432" anchor="ctr">
                    <a:solidFill>
                      <a:srgbClr val="0033CC"/>
                    </a:solidFill>
                  </a:tcPr>
                </a:tc>
                <a:extLst>
                  <a:ext uri="{0D108BD9-81ED-4DB2-BD59-A6C34878D82A}">
                    <a16:rowId xmlns:a16="http://schemas.microsoft.com/office/drawing/2014/main" val="10000"/>
                  </a:ext>
                </a:extLst>
              </a:tr>
              <a:tr h="1041400">
                <a:tc>
                  <a:txBody>
                    <a:bodyPr/>
                    <a:lstStyle/>
                    <a:p>
                      <a:r>
                        <a:rPr sz="1800" b="1">
                          <a:solidFill>
                            <a:srgbClr val="0033CC"/>
                          </a:solidFill>
                          <a:latin typeface="Times New Roman"/>
                        </a:rPr>
                        <a:t>M1 – Rehan
Detection &amp; data</a:t>
                      </a:r>
                    </a:p>
                  </a:txBody>
                  <a:tcPr marL="73152" marR="73152" marT="27432" marB="27432" anchor="ctr">
                    <a:solidFill>
                      <a:srgbClr val="FFFFFF"/>
                    </a:solidFill>
                  </a:tcPr>
                </a:tc>
                <a:tc>
                  <a:txBody>
                    <a:bodyPr/>
                    <a:lstStyle/>
                    <a:p>
                      <a:r>
                        <a:rPr sz="1800" b="0">
                          <a:solidFill>
                            <a:srgbClr val="1A1A1A"/>
                          </a:solidFill>
                          <a:latin typeface="Times New Roman"/>
                        </a:rPr>
                        <a:t>YOLOv8 + density-map counter; CVAT zones; dataset curation</a:t>
                      </a:r>
                    </a:p>
                  </a:txBody>
                  <a:tcPr marL="73152" marR="73152" marT="27432" marB="27432" anchor="ctr">
                    <a:solidFill>
                      <a:srgbClr val="FFFFFF"/>
                    </a:solidFill>
                  </a:tcPr>
                </a:tc>
                <a:tc>
                  <a:txBody>
                    <a:bodyPr/>
                    <a:lstStyle/>
                    <a:p>
                      <a:r>
                        <a:rPr sz="1800" b="0">
                          <a:solidFill>
                            <a:srgbClr val="1A1A1A"/>
                          </a:solidFill>
                          <a:latin typeface="Times New Roman"/>
                        </a:rPr>
                        <a:t>Data for graph experiments; detection robustness</a:t>
                      </a:r>
                    </a:p>
                  </a:txBody>
                  <a:tcPr marL="73152" marR="73152" marT="27432" marB="27432" anchor="ctr">
                    <a:solidFill>
                      <a:srgbClr val="FFFFFF"/>
                    </a:solidFill>
                  </a:tcPr>
                </a:tc>
                <a:tc>
                  <a:txBody>
                    <a:bodyPr/>
                    <a:lstStyle/>
                    <a:p>
                      <a:r>
                        <a:rPr sz="1800" b="0">
                          <a:solidFill>
                            <a:srgbClr val="1A1A1A"/>
                          </a:solidFill>
                          <a:latin typeface="Times New Roman"/>
                        </a:rPr>
                        <a:t>ICMF baseline re-implementation; real-time video input</a:t>
                      </a:r>
                    </a:p>
                  </a:txBody>
                  <a:tcPr marL="73152" marR="73152" marT="27432" marB="27432" anchor="ctr">
                    <a:solidFill>
                      <a:srgbClr val="FFFFFF"/>
                    </a:solidFill>
                  </a:tcPr>
                </a:tc>
                <a:tc>
                  <a:txBody>
                    <a:bodyPr/>
                    <a:lstStyle/>
                    <a:p>
                      <a:r>
                        <a:rPr sz="1800" b="0">
                          <a:solidFill>
                            <a:srgbClr val="1A1A1A"/>
                          </a:solidFill>
                          <a:latin typeface="Times New Roman"/>
                        </a:rPr>
                        <a:t>25%</a:t>
                      </a:r>
                    </a:p>
                  </a:txBody>
                  <a:tcPr marL="73152" marR="73152" marT="27432" marB="27432" anchor="ctr">
                    <a:solidFill>
                      <a:srgbClr val="FFFFFF"/>
                    </a:solidFill>
                  </a:tcPr>
                </a:tc>
                <a:extLst>
                  <a:ext uri="{0D108BD9-81ED-4DB2-BD59-A6C34878D82A}">
                    <a16:rowId xmlns:a16="http://schemas.microsoft.com/office/drawing/2014/main" val="10001"/>
                  </a:ext>
                </a:extLst>
              </a:tr>
              <a:tr h="1041400">
                <a:tc>
                  <a:txBody>
                    <a:bodyPr/>
                    <a:lstStyle/>
                    <a:p>
                      <a:r>
                        <a:rPr sz="1800" b="1">
                          <a:solidFill>
                            <a:srgbClr val="0033CC"/>
                          </a:solidFill>
                          <a:latin typeface="Times New Roman"/>
                        </a:rPr>
                        <a:t>M2 – Prateek
Features &amp; forecasting</a:t>
                      </a:r>
                    </a:p>
                  </a:txBody>
                  <a:tcPr marL="73152" marR="73152" marT="27432" marB="27432" anchor="ctr">
                    <a:solidFill>
                      <a:srgbClr val="EEF3FC"/>
                    </a:solidFill>
                  </a:tcPr>
                </a:tc>
                <a:tc>
                  <a:txBody>
                    <a:bodyPr/>
                    <a:lstStyle/>
                    <a:p>
                      <a:r>
                        <a:rPr sz="1800" b="0">
                          <a:solidFill>
                            <a:srgbClr val="1A1A1A"/>
                          </a:solidFill>
                          <a:latin typeface="Times New Roman"/>
                        </a:rPr>
                        <a:t>Optical flow; density, rate of change, net flux, entropy; LSTM baseline</a:t>
                      </a:r>
                    </a:p>
                  </a:txBody>
                  <a:tcPr marL="73152" marR="73152" marT="27432" marB="27432" anchor="ctr">
                    <a:solidFill>
                      <a:srgbClr val="EEF3FC"/>
                    </a:solidFill>
                  </a:tcPr>
                </a:tc>
                <a:tc>
                  <a:txBody>
                    <a:bodyPr/>
                    <a:lstStyle/>
                    <a:p>
                      <a:r>
                        <a:rPr sz="1800" b="0">
                          <a:solidFill>
                            <a:srgbClr val="1A1A1A"/>
                          </a:solidFill>
                          <a:latin typeface="Times New Roman"/>
                        </a:rPr>
                        <a:t>LSTM and LSTM + neighbour baselines; forecast tuning</a:t>
                      </a:r>
                    </a:p>
                  </a:txBody>
                  <a:tcPr marL="73152" marR="73152" marT="27432" marB="27432" anchor="ctr">
                    <a:solidFill>
                      <a:srgbClr val="EEF3FC"/>
                    </a:solidFill>
                  </a:tcPr>
                </a:tc>
                <a:tc>
                  <a:txBody>
                    <a:bodyPr/>
                    <a:lstStyle/>
                    <a:p>
                      <a:r>
                        <a:rPr sz="1800" b="0">
                          <a:solidFill>
                            <a:srgbClr val="1A1A1A"/>
                          </a:solidFill>
                          <a:latin typeface="Times New Roman"/>
                        </a:rPr>
                        <a:t>Real-time optimisation; latency, lead-time and false-alarm tests</a:t>
                      </a:r>
                    </a:p>
                  </a:txBody>
                  <a:tcPr marL="73152" marR="73152" marT="27432" marB="27432" anchor="ctr">
                    <a:solidFill>
                      <a:srgbClr val="EEF3FC"/>
                    </a:solidFill>
                  </a:tcPr>
                </a:tc>
                <a:tc>
                  <a:txBody>
                    <a:bodyPr/>
                    <a:lstStyle/>
                    <a:p>
                      <a:r>
                        <a:rPr sz="1800" b="0">
                          <a:solidFill>
                            <a:srgbClr val="1A1A1A"/>
                          </a:solidFill>
                          <a:latin typeface="Times New Roman"/>
                        </a:rPr>
                        <a:t>25%</a:t>
                      </a:r>
                    </a:p>
                  </a:txBody>
                  <a:tcPr marL="73152" marR="73152" marT="27432" marB="27432" anchor="ctr">
                    <a:solidFill>
                      <a:srgbClr val="EEF3FC"/>
                    </a:solidFill>
                  </a:tcPr>
                </a:tc>
                <a:extLst>
                  <a:ext uri="{0D108BD9-81ED-4DB2-BD59-A6C34878D82A}">
                    <a16:rowId xmlns:a16="http://schemas.microsoft.com/office/drawing/2014/main" val="10002"/>
                  </a:ext>
                </a:extLst>
              </a:tr>
              <a:tr h="1041400">
                <a:tc>
                  <a:txBody>
                    <a:bodyPr/>
                    <a:lstStyle/>
                    <a:p>
                      <a:r>
                        <a:rPr sz="1800" b="1">
                          <a:solidFill>
                            <a:srgbClr val="0033CC"/>
                          </a:solidFill>
                          <a:latin typeface="Times New Roman"/>
                        </a:rPr>
                        <a:t>M3 – Pranav
Graph modelling</a:t>
                      </a:r>
                    </a:p>
                  </a:txBody>
                  <a:tcPr marL="73152" marR="73152" marT="27432" marB="27432" anchor="ctr">
                    <a:solidFill>
                      <a:srgbClr val="FFFFFF"/>
                    </a:solidFill>
                  </a:tcPr>
                </a:tc>
                <a:tc>
                  <a:txBody>
                    <a:bodyPr/>
                    <a:lstStyle/>
                    <a:p>
                      <a:r>
                        <a:rPr sz="1800" b="0">
                          <a:solidFill>
                            <a:srgbClr val="1A1A1A"/>
                          </a:solidFill>
                          <a:latin typeface="Times New Roman"/>
                        </a:rPr>
                        <a:t>Camera calibration; point-in-polygon zone mapping; zone-graph schema</a:t>
                      </a:r>
                    </a:p>
                  </a:txBody>
                  <a:tcPr marL="73152" marR="73152" marT="27432" marB="27432" anchor="ctr">
                    <a:solidFill>
                      <a:srgbClr val="FFFFFF"/>
                    </a:solidFill>
                  </a:tcPr>
                </a:tc>
                <a:tc>
                  <a:txBody>
                    <a:bodyPr/>
                    <a:lstStyle/>
                    <a:p>
                      <a:r>
                        <a:rPr sz="1800" b="0">
                          <a:solidFill>
                            <a:srgbClr val="1A1A1A"/>
                          </a:solidFill>
                          <a:latin typeface="Times New Roman"/>
                        </a:rPr>
                        <a:t>Zone-adjacency graph; GCN/GAT in PyG; 3-way ablation</a:t>
                      </a:r>
                    </a:p>
                  </a:txBody>
                  <a:tcPr marL="73152" marR="73152" marT="27432" marB="27432" anchor="ctr">
                    <a:solidFill>
                      <a:srgbClr val="FFFFFF"/>
                    </a:solidFill>
                  </a:tcPr>
                </a:tc>
                <a:tc>
                  <a:txBody>
                    <a:bodyPr/>
                    <a:lstStyle/>
                    <a:p>
                      <a:r>
                        <a:rPr sz="1800" b="0">
                          <a:solidFill>
                            <a:srgbClr val="1A1A1A"/>
                          </a:solidFill>
                          <a:latin typeface="Times New Roman"/>
                        </a:rPr>
                        <a:t>Risk-source attribution; final evaluation and error analysis</a:t>
                      </a:r>
                    </a:p>
                  </a:txBody>
                  <a:tcPr marL="73152" marR="73152" marT="27432" marB="27432" anchor="ctr">
                    <a:solidFill>
                      <a:srgbClr val="FFFFFF"/>
                    </a:solidFill>
                  </a:tcPr>
                </a:tc>
                <a:tc>
                  <a:txBody>
                    <a:bodyPr/>
                    <a:lstStyle/>
                    <a:p>
                      <a:r>
                        <a:rPr sz="1800" b="0">
                          <a:solidFill>
                            <a:srgbClr val="1A1A1A"/>
                          </a:solidFill>
                          <a:latin typeface="Times New Roman"/>
                        </a:rPr>
                        <a:t>25%</a:t>
                      </a:r>
                    </a:p>
                  </a:txBody>
                  <a:tcPr marL="73152" marR="73152" marT="27432" marB="27432" anchor="ctr">
                    <a:solidFill>
                      <a:srgbClr val="FFFFFF"/>
                    </a:solidFill>
                  </a:tcPr>
                </a:tc>
                <a:extLst>
                  <a:ext uri="{0D108BD9-81ED-4DB2-BD59-A6C34878D82A}">
                    <a16:rowId xmlns:a16="http://schemas.microsoft.com/office/drawing/2014/main" val="10003"/>
                  </a:ext>
                </a:extLst>
              </a:tr>
              <a:tr h="1041400">
                <a:tc>
                  <a:txBody>
                    <a:bodyPr/>
                    <a:lstStyle/>
                    <a:p>
                      <a:r>
                        <a:rPr sz="1800" b="1">
                          <a:solidFill>
                            <a:srgbClr val="0033CC"/>
                          </a:solidFill>
                          <a:latin typeface="Times New Roman"/>
                        </a:rPr>
                        <a:t>M4 – Yaseen
Actions &amp; dashboard</a:t>
                      </a:r>
                    </a:p>
                  </a:txBody>
                  <a:tcPr marL="73152" marR="73152" marT="27432" marB="27432" anchor="ctr">
                    <a:solidFill>
                      <a:srgbClr val="EEF3FC"/>
                    </a:solidFill>
                  </a:tcPr>
                </a:tc>
                <a:tc>
                  <a:txBody>
                    <a:bodyPr/>
                    <a:lstStyle/>
                    <a:p>
                      <a:r>
                        <a:rPr sz="1800" b="0">
                          <a:solidFill>
                            <a:srgbClr val="1A1A1A"/>
                          </a:solidFill>
                          <a:latin typeface="Times New Roman"/>
                        </a:rPr>
                        <a:t>Dashboard skeleton; JuPedSim set-up (Jülich-calibrated); action catalogue</a:t>
                      </a:r>
                    </a:p>
                  </a:txBody>
                  <a:tcPr marL="73152" marR="73152" marT="27432" marB="27432" anchor="ctr">
                    <a:solidFill>
                      <a:srgbClr val="EEF3FC"/>
                    </a:solidFill>
                  </a:tcPr>
                </a:tc>
                <a:tc>
                  <a:txBody>
                    <a:bodyPr/>
                    <a:lstStyle/>
                    <a:p>
                      <a:r>
                        <a:rPr sz="1800" b="0">
                          <a:solidFill>
                            <a:srgbClr val="1A1A1A"/>
                          </a:solidFill>
                          <a:latin typeface="Times New Roman"/>
                        </a:rPr>
                        <a:t>Simulated Danger scenarios; dashboard v1 (live risk + alerts)</a:t>
                      </a:r>
                    </a:p>
                  </a:txBody>
                  <a:tcPr marL="73152" marR="73152" marT="27432" marB="27432" anchor="ctr">
                    <a:solidFill>
                      <a:srgbClr val="EEF3FC"/>
                    </a:solidFill>
                  </a:tcPr>
                </a:tc>
                <a:tc>
                  <a:txBody>
                    <a:bodyPr/>
                    <a:lstStyle/>
                    <a:p>
                      <a:r>
                        <a:rPr sz="1800" b="0">
                          <a:solidFill>
                            <a:srgbClr val="1A1A1A"/>
                          </a:solidFill>
                          <a:latin typeface="Times New Roman"/>
                        </a:rPr>
                        <a:t>Rule-based ranked interventions; dashboard v2; demo</a:t>
                      </a:r>
                    </a:p>
                  </a:txBody>
                  <a:tcPr marL="73152" marR="73152" marT="27432" marB="27432" anchor="ctr">
                    <a:solidFill>
                      <a:srgbClr val="EEF3FC"/>
                    </a:solidFill>
                  </a:tcPr>
                </a:tc>
                <a:tc>
                  <a:txBody>
                    <a:bodyPr/>
                    <a:lstStyle/>
                    <a:p>
                      <a:r>
                        <a:rPr sz="1800" b="0">
                          <a:solidFill>
                            <a:srgbClr val="1A1A1A"/>
                          </a:solidFill>
                          <a:latin typeface="Times New Roman"/>
                        </a:rPr>
                        <a:t>25%</a:t>
                      </a:r>
                    </a:p>
                  </a:txBody>
                  <a:tcPr marL="73152" marR="73152" marT="27432" marB="27432" anchor="ctr">
                    <a:solidFill>
                      <a:srgbClr val="EEF3FC"/>
                    </a:solidFill>
                  </a:tcPr>
                </a:tc>
                <a:extLst>
                  <a:ext uri="{0D108BD9-81ED-4DB2-BD59-A6C34878D82A}">
                    <a16:rowId xmlns:a16="http://schemas.microsoft.com/office/drawing/2014/main" val="10004"/>
                  </a:ext>
                </a:extLst>
              </a:tr>
            </a:tbl>
          </a:graphicData>
        </a:graphic>
      </p:graphicFrame>
      <p:sp>
        <p:nvSpPr>
          <p:cNvPr id="16" name="Rounded Rectangle 15"/>
          <p:cNvSpPr/>
          <p:nvPr/>
        </p:nvSpPr>
        <p:spPr>
          <a:xfrm>
            <a:off x="332847" y="6273800"/>
            <a:ext cx="11534247" cy="431800"/>
          </a:xfrm>
          <a:prstGeom prst="roundRect">
            <a:avLst>
              <a:gd name="adj" fmla="val 6000"/>
            </a:avLst>
          </a:prstGeom>
          <a:solidFill>
            <a:srgbClr val="EEF3F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TextBox 16"/>
          <p:cNvSpPr txBox="1"/>
          <p:nvPr/>
        </p:nvSpPr>
        <p:spPr>
          <a:xfrm>
            <a:off x="523496" y="6273800"/>
            <a:ext cx="11152950" cy="431800"/>
          </a:xfrm>
          <a:prstGeom prst="rect">
            <a:avLst/>
          </a:prstGeom>
          <a:noFill/>
        </p:spPr>
        <p:txBody>
          <a:bodyPr wrap="square" lIns="0" tIns="0" rIns="0" bIns="0" anchor="ctr">
            <a:spAutoFit/>
          </a:bodyPr>
          <a:lstStyle/>
          <a:p>
            <a:pPr algn="l">
              <a:spcAft>
                <a:spcPts val="400"/>
              </a:spcAft>
            </a:pPr>
            <a:r>
              <a:rPr sz="1800" b="1" i="0">
                <a:solidFill>
                  <a:srgbClr val="0033CC"/>
                </a:solidFill>
                <a:latin typeface="Times New Roman"/>
              </a:rPr>
              <a:t>Shared by all four: </a:t>
            </a:r>
            <a:r>
              <a:rPr sz="1800" b="0" i="0">
                <a:solidFill>
                  <a:srgbClr val="1A1A1A"/>
                </a:solidFill>
                <a:latin typeface="Times New Roman"/>
              </a:rPr>
              <a:t>literature review, own section of the paper, joint evaluation, review presentations and final demo.</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3" name="Text Box 34"/>
          <p:cNvSpPr txBox="1">
            <a:spLocks noChangeArrowheads="1"/>
          </p:cNvSpPr>
          <p:nvPr/>
        </p:nvSpPr>
        <p:spPr bwMode="auto">
          <a:xfrm>
            <a:off x="2895600" y="1143002"/>
            <a:ext cx="7772400" cy="461665"/>
          </a:xfrm>
          <a:prstGeom prst="rect">
            <a:avLst/>
          </a:prstGeom>
          <a:noFill/>
          <a:ln w="9525">
            <a:noFill/>
            <a:miter lim="800000"/>
            <a:headEnd/>
            <a:tailEnd/>
          </a:ln>
        </p:spPr>
        <p:txBody>
          <a:bodyPr wrap="square">
            <a:spAutoFit/>
          </a:bodyPr>
          <a:lstStyle/>
          <a:p>
            <a:pPr marL="342891" indent="-342891" algn="r" eaLnBrk="0" hangingPunct="0">
              <a:defRPr/>
            </a:pPr>
            <a:r>
              <a:rPr lang="en-US" sz="2400" dirty="0">
                <a:solidFill>
                  <a:srgbClr val="FF0000"/>
                </a:solidFill>
                <a:latin typeface="Times New Roman" pitchFamily="34" charset="0"/>
              </a:rPr>
              <a:t>Any Other Information: Data and Evaluation</a:t>
            </a:r>
          </a:p>
        </p:txBody>
      </p:sp>
      <p:graphicFrame>
        <p:nvGraphicFramePr>
          <p:cNvPr id="4" name="Table 3"/>
          <p:cNvGraphicFramePr>
            <a:graphicFrameLocks noGrp="1"/>
          </p:cNvGraphicFramePr>
          <p:nvPr/>
        </p:nvGraphicFramePr>
        <p:xfrm>
          <a:off x="330200" y="1701800"/>
          <a:ext cx="11531600" cy="2971800"/>
        </p:xfrm>
        <a:graphic>
          <a:graphicData uri="http://schemas.openxmlformats.org/drawingml/2006/table">
            <a:tbl>
              <a:tblPr firstRow="1" bandRow="1">
                <a:tableStyleId>{5C22544A-7EE6-4342-B048-85BDC9FD1C3A}</a:tableStyleId>
              </a:tblPr>
              <a:tblGrid>
                <a:gridCol w="3048000">
                  <a:extLst>
                    <a:ext uri="{9D8B030D-6E8A-4147-A177-3AD203B41FA5}">
                      <a16:colId xmlns:a16="http://schemas.microsoft.com/office/drawing/2014/main" val="20000"/>
                    </a:ext>
                  </a:extLst>
                </a:gridCol>
                <a:gridCol w="4546600">
                  <a:extLst>
                    <a:ext uri="{9D8B030D-6E8A-4147-A177-3AD203B41FA5}">
                      <a16:colId xmlns:a16="http://schemas.microsoft.com/office/drawing/2014/main" val="20001"/>
                    </a:ext>
                  </a:extLst>
                </a:gridCol>
                <a:gridCol w="3937000">
                  <a:extLst>
                    <a:ext uri="{9D8B030D-6E8A-4147-A177-3AD203B41FA5}">
                      <a16:colId xmlns:a16="http://schemas.microsoft.com/office/drawing/2014/main" val="20002"/>
                    </a:ext>
                  </a:extLst>
                </a:gridCol>
              </a:tblGrid>
              <a:tr h="330200">
                <a:tc>
                  <a:txBody>
                    <a:bodyPr/>
                    <a:lstStyle/>
                    <a:p>
                      <a:r>
                        <a:rPr sz="1600" b="1">
                          <a:solidFill>
                            <a:srgbClr val="FFFFFF"/>
                          </a:solidFill>
                          <a:latin typeface="Times New Roman"/>
                        </a:rPr>
                        <a:t>Dataset</a:t>
                      </a:r>
                    </a:p>
                  </a:txBody>
                  <a:tcPr marL="73152" marR="73152" marT="27432" marB="27432" anchor="ctr">
                    <a:solidFill>
                      <a:srgbClr val="0033CC"/>
                    </a:solidFill>
                  </a:tcPr>
                </a:tc>
                <a:tc>
                  <a:txBody>
                    <a:bodyPr/>
                    <a:lstStyle/>
                    <a:p>
                      <a:r>
                        <a:rPr sz="1600" b="1">
                          <a:solidFill>
                            <a:srgbClr val="FFFFFF"/>
                          </a:solidFill>
                          <a:latin typeface="Times New Roman"/>
                        </a:rPr>
                        <a:t>What it actually provides</a:t>
                      </a:r>
                    </a:p>
                  </a:txBody>
                  <a:tcPr marL="73152" marR="73152" marT="27432" marB="27432" anchor="ctr">
                    <a:solidFill>
                      <a:srgbClr val="0033CC"/>
                    </a:solidFill>
                  </a:tcPr>
                </a:tc>
                <a:tc>
                  <a:txBody>
                    <a:bodyPr/>
                    <a:lstStyle/>
                    <a:p>
                      <a:r>
                        <a:rPr sz="1600" b="1">
                          <a:solidFill>
                            <a:srgbClr val="FFFFFF"/>
                          </a:solidFill>
                          <a:latin typeface="Times New Roman"/>
                        </a:rPr>
                        <a:t>Used for</a:t>
                      </a:r>
                    </a:p>
                  </a:txBody>
                  <a:tcPr marL="73152" marR="73152" marT="27432" marB="27432" anchor="ctr">
                    <a:solidFill>
                      <a:srgbClr val="0033CC"/>
                    </a:solidFill>
                  </a:tcPr>
                </a:tc>
                <a:extLst>
                  <a:ext uri="{0D108BD9-81ED-4DB2-BD59-A6C34878D82A}">
                    <a16:rowId xmlns:a16="http://schemas.microsoft.com/office/drawing/2014/main" val="10000"/>
                  </a:ext>
                </a:extLst>
              </a:tr>
              <a:tr h="330200">
                <a:tc>
                  <a:txBody>
                    <a:bodyPr/>
                    <a:lstStyle/>
                    <a:p>
                      <a:r>
                        <a:rPr sz="1600" b="1">
                          <a:solidFill>
                            <a:srgbClr val="0033CC"/>
                          </a:solidFill>
                          <a:latin typeface="Times New Roman"/>
                        </a:rPr>
                        <a:t>FDST</a:t>
                      </a:r>
                    </a:p>
                  </a:txBody>
                  <a:tcPr marL="73152" marR="73152" marT="27432" marB="27432" anchor="ctr">
                    <a:solidFill>
                      <a:srgbClr val="FFFFFF"/>
                    </a:solidFill>
                  </a:tcPr>
                </a:tc>
                <a:tc>
                  <a:txBody>
                    <a:bodyPr/>
                    <a:lstStyle/>
                    <a:p>
                      <a:r>
                        <a:rPr sz="1600" b="0">
                          <a:solidFill>
                            <a:srgbClr val="1A1A1A"/>
                          </a:solidFill>
                          <a:latin typeface="Times New Roman"/>
                        </a:rPr>
                        <a:t>CCTV video, 100 clips, 13 scenes, head points</a:t>
                      </a:r>
                    </a:p>
                  </a:txBody>
                  <a:tcPr marL="73152" marR="73152" marT="27432" marB="27432" anchor="ctr">
                    <a:solidFill>
                      <a:srgbClr val="FFFFFF"/>
                    </a:solidFill>
                  </a:tcPr>
                </a:tc>
                <a:tc>
                  <a:txBody>
                    <a:bodyPr/>
                    <a:lstStyle/>
                    <a:p>
                      <a:r>
                        <a:rPr sz="1600" b="0">
                          <a:solidFill>
                            <a:srgbClr val="1A1A1A"/>
                          </a:solidFill>
                          <a:latin typeface="Times New Roman"/>
                        </a:rPr>
                        <a:t>Counter training; zone density time series</a:t>
                      </a:r>
                    </a:p>
                  </a:txBody>
                  <a:tcPr marL="73152" marR="73152" marT="27432" marB="27432" anchor="ctr">
                    <a:solidFill>
                      <a:srgbClr val="FFFFFF"/>
                    </a:solidFill>
                  </a:tcPr>
                </a:tc>
                <a:extLst>
                  <a:ext uri="{0D108BD9-81ED-4DB2-BD59-A6C34878D82A}">
                    <a16:rowId xmlns:a16="http://schemas.microsoft.com/office/drawing/2014/main" val="10001"/>
                  </a:ext>
                </a:extLst>
              </a:tr>
              <a:tr h="330200">
                <a:tc>
                  <a:txBody>
                    <a:bodyPr/>
                    <a:lstStyle/>
                    <a:p>
                      <a:r>
                        <a:rPr sz="1600" b="1">
                          <a:solidFill>
                            <a:srgbClr val="0033CC"/>
                          </a:solidFill>
                          <a:latin typeface="Times New Roman"/>
                        </a:rPr>
                        <a:t>CroHD (HT21)</a:t>
                      </a:r>
                    </a:p>
                  </a:txBody>
                  <a:tcPr marL="73152" marR="73152" marT="27432" marB="27432" anchor="ctr">
                    <a:solidFill>
                      <a:srgbClr val="EEF3FC"/>
                    </a:solidFill>
                  </a:tcPr>
                </a:tc>
                <a:tc>
                  <a:txBody>
                    <a:bodyPr/>
                    <a:lstStyle/>
                    <a:p>
                      <a:r>
                        <a:rPr sz="1600" b="0">
                          <a:solidFill>
                            <a:srgbClr val="1A1A1A"/>
                          </a:solidFill>
                          <a:latin typeface="Times New Roman"/>
                        </a:rPr>
                        <a:t>Very dense video, 25 fps, head tracks</a:t>
                      </a:r>
                    </a:p>
                  </a:txBody>
                  <a:tcPr marL="73152" marR="73152" marT="27432" marB="27432" anchor="ctr">
                    <a:solidFill>
                      <a:srgbClr val="EEF3FC"/>
                    </a:solidFill>
                  </a:tcPr>
                </a:tc>
                <a:tc>
                  <a:txBody>
                    <a:bodyPr/>
                    <a:lstStyle/>
                    <a:p>
                      <a:r>
                        <a:rPr sz="1600" b="0">
                          <a:solidFill>
                            <a:srgbClr val="1A1A1A"/>
                          </a:solidFill>
                          <a:latin typeface="Times New Roman"/>
                        </a:rPr>
                        <a:t>Dense detection, flow, entropy</a:t>
                      </a:r>
                    </a:p>
                  </a:txBody>
                  <a:tcPr marL="73152" marR="73152" marT="27432" marB="27432" anchor="ctr">
                    <a:solidFill>
                      <a:srgbClr val="EEF3FC"/>
                    </a:solidFill>
                  </a:tcPr>
                </a:tc>
                <a:extLst>
                  <a:ext uri="{0D108BD9-81ED-4DB2-BD59-A6C34878D82A}">
                    <a16:rowId xmlns:a16="http://schemas.microsoft.com/office/drawing/2014/main" val="10002"/>
                  </a:ext>
                </a:extLst>
              </a:tr>
              <a:tr h="330200">
                <a:tc>
                  <a:txBody>
                    <a:bodyPr/>
                    <a:lstStyle/>
                    <a:p>
                      <a:r>
                        <a:rPr sz="1600" b="1">
                          <a:solidFill>
                            <a:srgbClr val="0033CC"/>
                          </a:solidFill>
                          <a:latin typeface="Times New Roman"/>
                        </a:rPr>
                        <a:t>Jülich PedDyn archive</a:t>
                      </a:r>
                    </a:p>
                  </a:txBody>
                  <a:tcPr marL="73152" marR="73152" marT="27432" marB="27432" anchor="ctr">
                    <a:solidFill>
                      <a:srgbClr val="FFFFFF"/>
                    </a:solidFill>
                  </a:tcPr>
                </a:tc>
                <a:tc>
                  <a:txBody>
                    <a:bodyPr/>
                    <a:lstStyle/>
                    <a:p>
                      <a:r>
                        <a:rPr sz="1600" b="0">
                          <a:solidFill>
                            <a:srgbClr val="1A1A1A"/>
                          </a:solidFill>
                          <a:latin typeface="Times New Roman"/>
                        </a:rPr>
                        <a:t>Bottleneck and platform experiments; video + trajectories</a:t>
                      </a:r>
                    </a:p>
                  </a:txBody>
                  <a:tcPr marL="73152" marR="73152" marT="27432" marB="27432" anchor="ctr">
                    <a:solidFill>
                      <a:srgbClr val="FFFFFF"/>
                    </a:solidFill>
                  </a:tcPr>
                </a:tc>
                <a:tc>
                  <a:txBody>
                    <a:bodyPr/>
                    <a:lstStyle/>
                    <a:p>
                      <a:r>
                        <a:rPr sz="1600" b="0">
                          <a:solidFill>
                            <a:srgbClr val="1A1A1A"/>
                          </a:solidFill>
                          <a:latin typeface="Times New Roman"/>
                        </a:rPr>
                        <a:t>Chokepoint ground truth; net flux; simulator calibration</a:t>
                      </a:r>
                    </a:p>
                  </a:txBody>
                  <a:tcPr marL="73152" marR="73152" marT="27432" marB="27432" anchor="ctr">
                    <a:solidFill>
                      <a:srgbClr val="FFFFFF"/>
                    </a:solidFill>
                  </a:tcPr>
                </a:tc>
                <a:extLst>
                  <a:ext uri="{0D108BD9-81ED-4DB2-BD59-A6C34878D82A}">
                    <a16:rowId xmlns:a16="http://schemas.microsoft.com/office/drawing/2014/main" val="10003"/>
                  </a:ext>
                </a:extLst>
              </a:tr>
              <a:tr h="330200">
                <a:tc>
                  <a:txBody>
                    <a:bodyPr/>
                    <a:lstStyle/>
                    <a:p>
                      <a:r>
                        <a:rPr sz="1600" b="1">
                          <a:solidFill>
                            <a:srgbClr val="0033CC"/>
                          </a:solidFill>
                          <a:latin typeface="Times New Roman"/>
                        </a:rPr>
                        <a:t>HAJJv2</a:t>
                      </a:r>
                    </a:p>
                  </a:txBody>
                  <a:tcPr marL="73152" marR="73152" marT="27432" marB="27432" anchor="ctr">
                    <a:solidFill>
                      <a:srgbClr val="EEF3FC"/>
                    </a:solidFill>
                  </a:tcPr>
                </a:tc>
                <a:tc>
                  <a:txBody>
                    <a:bodyPr/>
                    <a:lstStyle/>
                    <a:p>
                      <a:r>
                        <a:rPr sz="1600" b="0">
                          <a:solidFill>
                            <a:srgbClr val="1A1A1A"/>
                          </a:solidFill>
                          <a:latin typeface="Times New Roman"/>
                        </a:rPr>
                        <a:t>18 Hajj videos (9 train / 9 test); abnormal-behaviour labels</a:t>
                      </a:r>
                    </a:p>
                  </a:txBody>
                  <a:tcPr marL="73152" marR="73152" marT="27432" marB="27432" anchor="ctr">
                    <a:solidFill>
                      <a:srgbClr val="EEF3FC"/>
                    </a:solidFill>
                  </a:tcPr>
                </a:tc>
                <a:tc>
                  <a:txBody>
                    <a:bodyPr/>
                    <a:lstStyle/>
                    <a:p>
                      <a:r>
                        <a:rPr sz="1600" b="0">
                          <a:solidFill>
                            <a:srgbClr val="1A1A1A"/>
                          </a:solidFill>
                          <a:latin typeface="Times New Roman"/>
                        </a:rPr>
                        <a:t>Real mass-gathering stress test; entropy check</a:t>
                      </a:r>
                    </a:p>
                  </a:txBody>
                  <a:tcPr marL="73152" marR="73152" marT="27432" marB="27432" anchor="ctr">
                    <a:solidFill>
                      <a:srgbClr val="EEF3FC"/>
                    </a:solidFill>
                  </a:tcPr>
                </a:tc>
                <a:extLst>
                  <a:ext uri="{0D108BD9-81ED-4DB2-BD59-A6C34878D82A}">
                    <a16:rowId xmlns:a16="http://schemas.microsoft.com/office/drawing/2014/main" val="10004"/>
                  </a:ext>
                </a:extLst>
              </a:tr>
              <a:tr h="330200">
                <a:tc>
                  <a:txBody>
                    <a:bodyPr/>
                    <a:lstStyle/>
                    <a:p>
                      <a:r>
                        <a:rPr sz="1600" b="1">
                          <a:solidFill>
                            <a:srgbClr val="0033CC"/>
                          </a:solidFill>
                          <a:latin typeface="Times New Roman"/>
                        </a:rPr>
                        <a:t>Mall, UCSD</a:t>
                      </a:r>
                    </a:p>
                  </a:txBody>
                  <a:tcPr marL="73152" marR="73152" marT="27432" marB="27432" anchor="ctr">
                    <a:solidFill>
                      <a:srgbClr val="FFFFFF"/>
                    </a:solidFill>
                  </a:tcPr>
                </a:tc>
                <a:tc>
                  <a:txBody>
                    <a:bodyPr/>
                    <a:lstStyle/>
                    <a:p>
                      <a:r>
                        <a:rPr sz="1600" b="0">
                          <a:solidFill>
                            <a:srgbClr val="1A1A1A"/>
                          </a:solidFill>
                          <a:latin typeface="Times New Roman"/>
                        </a:rPr>
                        <a:t>Single-camera clips, ~2,000 frames each</a:t>
                      </a:r>
                    </a:p>
                  </a:txBody>
                  <a:tcPr marL="73152" marR="73152" marT="27432" marB="27432" anchor="ctr">
                    <a:solidFill>
                      <a:srgbClr val="FFFFFF"/>
                    </a:solidFill>
                  </a:tcPr>
                </a:tc>
                <a:tc>
                  <a:txBody>
                    <a:bodyPr/>
                    <a:lstStyle/>
                    <a:p>
                      <a:r>
                        <a:rPr sz="1600" b="0">
                          <a:solidFill>
                            <a:srgbClr val="1A1A1A"/>
                          </a:solidFill>
                          <a:latin typeface="Times New Roman"/>
                        </a:rPr>
                        <a:t>Early LSTM debugging</a:t>
                      </a:r>
                    </a:p>
                  </a:txBody>
                  <a:tcPr marL="73152" marR="73152" marT="27432" marB="27432" anchor="ctr">
                    <a:solidFill>
                      <a:srgbClr val="FFFFFF"/>
                    </a:solidFill>
                  </a:tcPr>
                </a:tc>
                <a:extLst>
                  <a:ext uri="{0D108BD9-81ED-4DB2-BD59-A6C34878D82A}">
                    <a16:rowId xmlns:a16="http://schemas.microsoft.com/office/drawing/2014/main" val="10005"/>
                  </a:ext>
                </a:extLst>
              </a:tr>
              <a:tr h="330200">
                <a:tc>
                  <a:txBody>
                    <a:bodyPr/>
                    <a:lstStyle/>
                    <a:p>
                      <a:r>
                        <a:rPr sz="1600" b="1">
                          <a:solidFill>
                            <a:srgbClr val="0033CC"/>
                          </a:solidFill>
                          <a:latin typeface="Times New Roman"/>
                        </a:rPr>
                        <a:t>ShanghaiTech, JHU-CROWD++</a:t>
                      </a:r>
                    </a:p>
                  </a:txBody>
                  <a:tcPr marL="73152" marR="73152" marT="27432" marB="27432" anchor="ctr">
                    <a:solidFill>
                      <a:srgbClr val="EEF3FC"/>
                    </a:solidFill>
                  </a:tcPr>
                </a:tc>
                <a:tc>
                  <a:txBody>
                    <a:bodyPr/>
                    <a:lstStyle/>
                    <a:p>
                      <a:r>
                        <a:rPr sz="1600" b="0">
                          <a:solidFill>
                            <a:srgbClr val="1A1A1A"/>
                          </a:solidFill>
                          <a:latin typeface="Times New Roman"/>
                        </a:rPr>
                        <a:t>Still images with head points – no motion</a:t>
                      </a:r>
                    </a:p>
                  </a:txBody>
                  <a:tcPr marL="73152" marR="73152" marT="27432" marB="27432" anchor="ctr">
                    <a:solidFill>
                      <a:srgbClr val="EEF3FC"/>
                    </a:solidFill>
                  </a:tcPr>
                </a:tc>
                <a:tc>
                  <a:txBody>
                    <a:bodyPr/>
                    <a:lstStyle/>
                    <a:p>
                      <a:r>
                        <a:rPr sz="1600" b="0">
                          <a:solidFill>
                            <a:srgbClr val="1A1A1A"/>
                          </a:solidFill>
                          <a:latin typeface="Times New Roman"/>
                        </a:rPr>
                        <a:t>Density-map counter training only</a:t>
                      </a:r>
                    </a:p>
                  </a:txBody>
                  <a:tcPr marL="73152" marR="73152" marT="27432" marB="27432" anchor="ctr">
                    <a:solidFill>
                      <a:srgbClr val="EEF3FC"/>
                    </a:solidFill>
                  </a:tcPr>
                </a:tc>
                <a:extLst>
                  <a:ext uri="{0D108BD9-81ED-4DB2-BD59-A6C34878D82A}">
                    <a16:rowId xmlns:a16="http://schemas.microsoft.com/office/drawing/2014/main" val="10006"/>
                  </a:ext>
                </a:extLst>
              </a:tr>
              <a:tr h="330200">
                <a:tc>
                  <a:txBody>
                    <a:bodyPr/>
                    <a:lstStyle/>
                    <a:p>
                      <a:r>
                        <a:rPr sz="1600" b="1">
                          <a:solidFill>
                            <a:srgbClr val="0033CC"/>
                          </a:solidFill>
                          <a:latin typeface="Times New Roman"/>
                        </a:rPr>
                        <a:t>Self-recorded</a:t>
                      </a:r>
                    </a:p>
                  </a:txBody>
                  <a:tcPr marL="73152" marR="73152" marT="27432" marB="27432" anchor="ctr">
                    <a:solidFill>
                      <a:srgbClr val="FFFFFF"/>
                    </a:solidFill>
                  </a:tcPr>
                </a:tc>
                <a:tc>
                  <a:txBody>
                    <a:bodyPr/>
                    <a:lstStyle/>
                    <a:p>
                      <a:r>
                        <a:rPr sz="1600" b="0">
                          <a:solidFill>
                            <a:srgbClr val="1A1A1A"/>
                          </a:solidFill>
                          <a:latin typeface="Times New Roman"/>
                        </a:rPr>
                        <a:t>Campus stairs, platforms, entrances; faces blurred</a:t>
                      </a:r>
                    </a:p>
                  </a:txBody>
                  <a:tcPr marL="73152" marR="73152" marT="27432" marB="27432" anchor="ctr">
                    <a:solidFill>
                      <a:srgbClr val="FFFFFF"/>
                    </a:solidFill>
                  </a:tcPr>
                </a:tc>
                <a:tc>
                  <a:txBody>
                    <a:bodyPr/>
                    <a:lstStyle/>
                    <a:p>
                      <a:r>
                        <a:rPr sz="1600" b="0">
                          <a:solidFill>
                            <a:srgbClr val="1A1A1A"/>
                          </a:solidFill>
                          <a:latin typeface="Times New Roman"/>
                        </a:rPr>
                        <a:t>Target-venue zones and testing</a:t>
                      </a:r>
                    </a:p>
                  </a:txBody>
                  <a:tcPr marL="73152" marR="73152" marT="27432" marB="27432" anchor="ctr">
                    <a:solidFill>
                      <a:srgbClr val="FFFFFF"/>
                    </a:solidFill>
                  </a:tcPr>
                </a:tc>
                <a:extLst>
                  <a:ext uri="{0D108BD9-81ED-4DB2-BD59-A6C34878D82A}">
                    <a16:rowId xmlns:a16="http://schemas.microsoft.com/office/drawing/2014/main" val="10007"/>
                  </a:ext>
                </a:extLst>
              </a:tr>
              <a:tr h="330200">
                <a:tc>
                  <a:txBody>
                    <a:bodyPr/>
                    <a:lstStyle/>
                    <a:p>
                      <a:r>
                        <a:rPr sz="1600" b="1">
                          <a:solidFill>
                            <a:srgbClr val="0033CC"/>
                          </a:solidFill>
                          <a:latin typeface="Times New Roman"/>
                        </a:rPr>
                        <a:t>JuPedSim</a:t>
                      </a:r>
                    </a:p>
                  </a:txBody>
                  <a:tcPr marL="73152" marR="73152" marT="27432" marB="27432" anchor="ctr">
                    <a:solidFill>
                      <a:srgbClr val="EEF3FC"/>
                    </a:solidFill>
                  </a:tcPr>
                </a:tc>
                <a:tc>
                  <a:txBody>
                    <a:bodyPr/>
                    <a:lstStyle/>
                    <a:p>
                      <a:r>
                        <a:rPr sz="1600" b="0">
                          <a:solidFill>
                            <a:srgbClr val="1A1A1A"/>
                          </a:solidFill>
                          <a:latin typeface="Times New Roman"/>
                        </a:rPr>
                        <a:t>Simulated crowds on our zone layouts</a:t>
                      </a:r>
                    </a:p>
                  </a:txBody>
                  <a:tcPr marL="73152" marR="73152" marT="27432" marB="27432" anchor="ctr">
                    <a:solidFill>
                      <a:srgbClr val="EEF3FC"/>
                    </a:solidFill>
                  </a:tcPr>
                </a:tc>
                <a:tc>
                  <a:txBody>
                    <a:bodyPr/>
                    <a:lstStyle/>
                    <a:p>
                      <a:r>
                        <a:rPr sz="1600" b="0">
                          <a:solidFill>
                            <a:srgbClr val="1A1A1A"/>
                          </a:solidFill>
                          <a:latin typeface="Times New Roman"/>
                        </a:rPr>
                        <a:t>Rare Danger cases; “what if” interventions (simulated)</a:t>
                      </a:r>
                    </a:p>
                  </a:txBody>
                  <a:tcPr marL="73152" marR="73152" marT="27432" marB="27432" anchor="ctr">
                    <a:solidFill>
                      <a:srgbClr val="EEF3FC"/>
                    </a:solidFill>
                  </a:tcPr>
                </a:tc>
                <a:extLst>
                  <a:ext uri="{0D108BD9-81ED-4DB2-BD59-A6C34878D82A}">
                    <a16:rowId xmlns:a16="http://schemas.microsoft.com/office/drawing/2014/main" val="10008"/>
                  </a:ext>
                </a:extLst>
              </a:tr>
            </a:tbl>
          </a:graphicData>
        </a:graphic>
      </p:graphicFrame>
      <p:sp>
        <p:nvSpPr>
          <p:cNvPr id="5" name="Rounded Rectangle 4"/>
          <p:cNvSpPr/>
          <p:nvPr/>
        </p:nvSpPr>
        <p:spPr>
          <a:xfrm>
            <a:off x="332847" y="5334000"/>
            <a:ext cx="11534247" cy="1371600"/>
          </a:xfrm>
          <a:prstGeom prst="roundRect">
            <a:avLst>
              <a:gd name="adj" fmla="val 6000"/>
            </a:avLst>
          </a:prstGeom>
          <a:solidFill>
            <a:srgbClr val="FFFFFF"/>
          </a:solidFill>
          <a:ln w="12700">
            <a:solidFill>
              <a:srgbClr val="33CCC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 name="TextBox 5"/>
          <p:cNvSpPr txBox="1"/>
          <p:nvPr/>
        </p:nvSpPr>
        <p:spPr>
          <a:xfrm>
            <a:off x="571158" y="5359400"/>
            <a:ext cx="11057626" cy="1320800"/>
          </a:xfrm>
          <a:prstGeom prst="rect">
            <a:avLst/>
          </a:prstGeom>
          <a:noFill/>
        </p:spPr>
        <p:txBody>
          <a:bodyPr wrap="square" lIns="0" tIns="0" rIns="0" bIns="0" anchor="t">
            <a:spAutoFit/>
          </a:bodyPr>
          <a:lstStyle/>
          <a:p>
            <a:pPr algn="l">
              <a:spcAft>
                <a:spcPts val="600"/>
              </a:spcAft>
            </a:pPr>
            <a:r>
              <a:rPr sz="1800" b="1" i="0">
                <a:solidFill>
                  <a:srgbClr val="FF0000"/>
                </a:solidFill>
                <a:latin typeface="Times New Roman"/>
              </a:rPr>
              <a:t>Evaluation</a:t>
            </a:r>
          </a:p>
          <a:p>
            <a:pPr algn="l">
              <a:spcAft>
                <a:spcPts val="500"/>
              </a:spcAft>
            </a:pPr>
            <a:r>
              <a:rPr sz="1600" b="1" i="0">
                <a:solidFill>
                  <a:srgbClr val="0033CC"/>
                </a:solidFill>
                <a:latin typeface="Times New Roman"/>
              </a:rPr>
              <a:t>Precision  |  Recall  |  F1  |  PR-AUC  |  Lead time (min before Danger)  |  False alarms per hour</a:t>
            </a:r>
          </a:p>
          <a:p>
            <a:pPr algn="l">
              <a:spcAft>
                <a:spcPts val="400"/>
              </a:spcAft>
            </a:pPr>
            <a:r>
              <a:rPr sz="1600" b="0" i="1">
                <a:solidFill>
                  <a:srgbClr val="1A1A1A"/>
                </a:solidFill>
                <a:latin typeface="Times New Roman"/>
              </a:rPr>
              <a:t>Fair ablation: LSTM  vs  LSTM + neighbour features  vs  LSTM-GNN – same features, splits and model size. Baseline: ICMF (base paper). Target lead time 3–10 min vs ~14 s (AURORA).</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5" name="Rectangle 4"/>
          <p:cNvSpPr>
            <a:spLocks noChangeArrowheads="1"/>
          </p:cNvSpPr>
          <p:nvPr/>
        </p:nvSpPr>
        <p:spPr bwMode="auto">
          <a:xfrm>
            <a:off x="3048000" y="1581155"/>
            <a:ext cx="7620000" cy="36513"/>
          </a:xfrm>
          <a:prstGeom prst="rect">
            <a:avLst/>
          </a:prstGeom>
          <a:solidFill>
            <a:srgbClr val="33CCCC"/>
          </a:solidFill>
          <a:ln w="9525">
            <a:noFill/>
            <a:miter lim="800000"/>
            <a:headEnd/>
            <a:tailEnd/>
          </a:ln>
        </p:spPr>
        <p:txBody>
          <a:bodyPr wrap="none" anchor="ctr"/>
          <a:lstStyle/>
          <a:p>
            <a:endParaRPr lang="en-US"/>
          </a:p>
        </p:txBody>
      </p:sp>
      <p:sp>
        <p:nvSpPr>
          <p:cNvPr id="14" name="Text Box 34"/>
          <p:cNvSpPr txBox="1">
            <a:spLocks noChangeArrowheads="1"/>
          </p:cNvSpPr>
          <p:nvPr/>
        </p:nvSpPr>
        <p:spPr bwMode="auto">
          <a:xfrm>
            <a:off x="4191000" y="1143002"/>
            <a:ext cx="6477000" cy="461665"/>
          </a:xfrm>
          <a:prstGeom prst="rect">
            <a:avLst/>
          </a:prstGeom>
          <a:noFill/>
          <a:ln w="9525">
            <a:noFill/>
            <a:miter lim="800000"/>
            <a:headEnd/>
            <a:tailEnd/>
          </a:ln>
        </p:spPr>
        <p:txBody>
          <a:bodyPr wrap="square">
            <a:spAutoFit/>
          </a:bodyPr>
          <a:lstStyle/>
          <a:p>
            <a:pPr marL="342891" indent="-342891" algn="r" eaLnBrk="0" hangingPunct="0">
              <a:defRPr/>
            </a:pPr>
            <a:r>
              <a:rPr lang="en-IN" sz="2400" dirty="0">
                <a:solidFill>
                  <a:srgbClr val="FF0000"/>
                </a:solidFill>
                <a:latin typeface="Times New Roman" pitchFamily="34" charset="0"/>
              </a:rPr>
              <a:t>Literature Review</a:t>
            </a:r>
            <a:endParaRPr lang="en-US" sz="2400" dirty="0">
              <a:solidFill>
                <a:srgbClr val="FF0000"/>
              </a:solidFill>
              <a:latin typeface="Times New Roman" pitchFamily="34" charset="0"/>
            </a:endParaRPr>
          </a:p>
        </p:txBody>
      </p:sp>
      <p:graphicFrame>
        <p:nvGraphicFramePr>
          <p:cNvPr id="15" name="Table 14"/>
          <p:cNvGraphicFramePr>
            <a:graphicFrameLocks noGrp="1"/>
          </p:cNvGraphicFramePr>
          <p:nvPr/>
        </p:nvGraphicFramePr>
        <p:xfrm>
          <a:off x="330200" y="1701800"/>
          <a:ext cx="11531600" cy="4318000"/>
        </p:xfrm>
        <a:graphic>
          <a:graphicData uri="http://schemas.openxmlformats.org/drawingml/2006/table">
            <a:tbl>
              <a:tblPr firstRow="1" bandRow="1">
                <a:tableStyleId>{5C22544A-7EE6-4342-B048-85BDC9FD1C3A}</a:tableStyleId>
              </a:tblPr>
              <a:tblGrid>
                <a:gridCol w="3327400">
                  <a:extLst>
                    <a:ext uri="{9D8B030D-6E8A-4147-A177-3AD203B41FA5}">
                      <a16:colId xmlns:a16="http://schemas.microsoft.com/office/drawing/2014/main" val="20000"/>
                    </a:ext>
                  </a:extLst>
                </a:gridCol>
                <a:gridCol w="43942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431800">
                <a:tc>
                  <a:txBody>
                    <a:bodyPr/>
                    <a:lstStyle/>
                    <a:p>
                      <a:r>
                        <a:rPr sz="1600" b="1">
                          <a:solidFill>
                            <a:srgbClr val="FFFFFF"/>
                          </a:solidFill>
                          <a:latin typeface="Times New Roman"/>
                        </a:rPr>
                        <a:t>Work</a:t>
                      </a:r>
                    </a:p>
                  </a:txBody>
                  <a:tcPr marL="73152" marR="73152" marT="27432" marB="27432" anchor="ctr">
                    <a:solidFill>
                      <a:srgbClr val="0033CC"/>
                    </a:solidFill>
                  </a:tcPr>
                </a:tc>
                <a:tc>
                  <a:txBody>
                    <a:bodyPr/>
                    <a:lstStyle/>
                    <a:p>
                      <a:r>
                        <a:rPr sz="1600" b="1">
                          <a:solidFill>
                            <a:srgbClr val="FFFFFF"/>
                          </a:solidFill>
                          <a:latin typeface="Times New Roman"/>
                        </a:rPr>
                        <a:t>Approach</a:t>
                      </a:r>
                    </a:p>
                  </a:txBody>
                  <a:tcPr marL="73152" marR="73152" marT="27432" marB="27432" anchor="ctr">
                    <a:solidFill>
                      <a:srgbClr val="0033CC"/>
                    </a:solidFill>
                  </a:tcPr>
                </a:tc>
                <a:tc>
                  <a:txBody>
                    <a:bodyPr/>
                    <a:lstStyle/>
                    <a:p>
                      <a:r>
                        <a:rPr sz="1600" b="1">
                          <a:solidFill>
                            <a:srgbClr val="FFFFFF"/>
                          </a:solidFill>
                          <a:latin typeface="Times New Roman"/>
                        </a:rPr>
                        <a:t>Gap ChokePoint addresses</a:t>
                      </a:r>
                    </a:p>
                  </a:txBody>
                  <a:tcPr marL="73152" marR="73152" marT="27432" marB="27432" anchor="ctr">
                    <a:solidFill>
                      <a:srgbClr val="0033CC"/>
                    </a:solidFill>
                  </a:tcPr>
                </a:tc>
                <a:extLst>
                  <a:ext uri="{0D108BD9-81ED-4DB2-BD59-A6C34878D82A}">
                    <a16:rowId xmlns:a16="http://schemas.microsoft.com/office/drawing/2014/main" val="10000"/>
                  </a:ext>
                </a:extLst>
              </a:tr>
              <a:tr h="431800">
                <a:tc>
                  <a:txBody>
                    <a:bodyPr/>
                    <a:lstStyle/>
                    <a:p>
                      <a:r>
                        <a:rPr sz="1600" b="1">
                          <a:solidFill>
                            <a:srgbClr val="0033CC"/>
                          </a:solidFill>
                          <a:latin typeface="Times New Roman"/>
                        </a:rPr>
                        <a:t>Helbing et al. – Nature 2000</a:t>
                      </a:r>
                    </a:p>
                  </a:txBody>
                  <a:tcPr marL="73152" marR="73152" marT="27432" marB="27432" anchor="ctr">
                    <a:solidFill>
                      <a:srgbClr val="FFFFFF"/>
                    </a:solidFill>
                  </a:tcPr>
                </a:tc>
                <a:tc>
                  <a:txBody>
                    <a:bodyPr/>
                    <a:lstStyle/>
                    <a:p>
                      <a:r>
                        <a:rPr sz="1600" b="0">
                          <a:solidFill>
                            <a:srgbClr val="1F1F1F"/>
                          </a:solidFill>
                          <a:latin typeface="Times New Roman"/>
                        </a:rPr>
                        <a:t>Social-force model of escape panic</a:t>
                      </a:r>
                    </a:p>
                  </a:txBody>
                  <a:tcPr marL="73152" marR="73152" marT="27432" marB="27432" anchor="ctr">
                    <a:solidFill>
                      <a:srgbClr val="FFFFFF"/>
                    </a:solidFill>
                  </a:tcPr>
                </a:tc>
                <a:tc>
                  <a:txBody>
                    <a:bodyPr/>
                    <a:lstStyle/>
                    <a:p>
                      <a:r>
                        <a:rPr sz="1600" b="0">
                          <a:solidFill>
                            <a:srgbClr val="1F1F1F"/>
                          </a:solidFill>
                          <a:latin typeface="Times New Roman"/>
                        </a:rPr>
                        <a:t>Simulation only; no video forecast</a:t>
                      </a:r>
                    </a:p>
                  </a:txBody>
                  <a:tcPr marL="73152" marR="73152" marT="27432" marB="27432" anchor="ctr">
                    <a:solidFill>
                      <a:srgbClr val="FFFFFF"/>
                    </a:solidFill>
                  </a:tcPr>
                </a:tc>
                <a:extLst>
                  <a:ext uri="{0D108BD9-81ED-4DB2-BD59-A6C34878D82A}">
                    <a16:rowId xmlns:a16="http://schemas.microsoft.com/office/drawing/2014/main" val="10001"/>
                  </a:ext>
                </a:extLst>
              </a:tr>
              <a:tr h="431800">
                <a:tc>
                  <a:txBody>
                    <a:bodyPr/>
                    <a:lstStyle/>
                    <a:p>
                      <a:r>
                        <a:rPr sz="1600" b="1">
                          <a:solidFill>
                            <a:srgbClr val="0033CC"/>
                          </a:solidFill>
                          <a:latin typeface="Times New Roman"/>
                        </a:rPr>
                        <a:t>Seyfried et al. 2009 (Jülich)</a:t>
                      </a:r>
                    </a:p>
                  </a:txBody>
                  <a:tcPr marL="73152" marR="73152" marT="27432" marB="27432" anchor="ctr">
                    <a:solidFill>
                      <a:srgbClr val="EEF3FC"/>
                    </a:solidFill>
                  </a:tcPr>
                </a:tc>
                <a:tc>
                  <a:txBody>
                    <a:bodyPr/>
                    <a:lstStyle/>
                    <a:p>
                      <a:r>
                        <a:rPr sz="1600" b="0">
                          <a:solidFill>
                            <a:srgbClr val="1F1F1F"/>
                          </a:solidFill>
                          <a:latin typeface="Times New Roman"/>
                        </a:rPr>
                        <a:t>Flow and density through bottlenecks</a:t>
                      </a:r>
                    </a:p>
                  </a:txBody>
                  <a:tcPr marL="73152" marR="73152" marT="27432" marB="27432" anchor="ctr">
                    <a:solidFill>
                      <a:srgbClr val="EEF3FC"/>
                    </a:solidFill>
                  </a:tcPr>
                </a:tc>
                <a:tc>
                  <a:txBody>
                    <a:bodyPr/>
                    <a:lstStyle/>
                    <a:p>
                      <a:r>
                        <a:rPr sz="1600" b="0">
                          <a:solidFill>
                            <a:srgbClr val="1F1F1F"/>
                          </a:solidFill>
                          <a:latin typeface="Times New Roman"/>
                        </a:rPr>
                        <a:t>Data, not a predictor; used to calibrate</a:t>
                      </a:r>
                    </a:p>
                  </a:txBody>
                  <a:tcPr marL="73152" marR="73152" marT="27432" marB="27432" anchor="ctr">
                    <a:solidFill>
                      <a:srgbClr val="EEF3FC"/>
                    </a:solidFill>
                  </a:tcPr>
                </a:tc>
                <a:extLst>
                  <a:ext uri="{0D108BD9-81ED-4DB2-BD59-A6C34878D82A}">
                    <a16:rowId xmlns:a16="http://schemas.microsoft.com/office/drawing/2014/main" val="10002"/>
                  </a:ext>
                </a:extLst>
              </a:tr>
              <a:tr h="431800">
                <a:tc>
                  <a:txBody>
                    <a:bodyPr/>
                    <a:lstStyle/>
                    <a:p>
                      <a:r>
                        <a:rPr sz="1600" b="1">
                          <a:solidFill>
                            <a:srgbClr val="0033CC"/>
                          </a:solidFill>
                          <a:latin typeface="Times New Roman"/>
                        </a:rPr>
                        <a:t>CSRNet 2018 / DM-Count 2020</a:t>
                      </a:r>
                    </a:p>
                  </a:txBody>
                  <a:tcPr marL="73152" marR="73152" marT="27432" marB="27432" anchor="ctr">
                    <a:solidFill>
                      <a:srgbClr val="FFFFFF"/>
                    </a:solidFill>
                  </a:tcPr>
                </a:tc>
                <a:tc>
                  <a:txBody>
                    <a:bodyPr/>
                    <a:lstStyle/>
                    <a:p>
                      <a:r>
                        <a:rPr sz="1600" b="0">
                          <a:solidFill>
                            <a:srgbClr val="1F1F1F"/>
                          </a:solidFill>
                          <a:latin typeface="Times New Roman"/>
                        </a:rPr>
                        <a:t>Density-map crowd counting</a:t>
                      </a:r>
                    </a:p>
                  </a:txBody>
                  <a:tcPr marL="73152" marR="73152" marT="27432" marB="27432" anchor="ctr">
                    <a:solidFill>
                      <a:srgbClr val="FFFFFF"/>
                    </a:solidFill>
                  </a:tcPr>
                </a:tc>
                <a:tc>
                  <a:txBody>
                    <a:bodyPr/>
                    <a:lstStyle/>
                    <a:p>
                      <a:r>
                        <a:rPr sz="1600" b="0">
                          <a:solidFill>
                            <a:srgbClr val="1F1F1F"/>
                          </a:solidFill>
                          <a:latin typeface="Times New Roman"/>
                        </a:rPr>
                        <a:t>Counting only; no risk forecast</a:t>
                      </a:r>
                    </a:p>
                  </a:txBody>
                  <a:tcPr marL="73152" marR="73152" marT="27432" marB="27432" anchor="ctr">
                    <a:solidFill>
                      <a:srgbClr val="FFFFFF"/>
                    </a:solidFill>
                  </a:tcPr>
                </a:tc>
                <a:extLst>
                  <a:ext uri="{0D108BD9-81ED-4DB2-BD59-A6C34878D82A}">
                    <a16:rowId xmlns:a16="http://schemas.microsoft.com/office/drawing/2014/main" val="10003"/>
                  </a:ext>
                </a:extLst>
              </a:tr>
              <a:tr h="431800">
                <a:tc>
                  <a:txBody>
                    <a:bodyPr/>
                    <a:lstStyle/>
                    <a:p>
                      <a:r>
                        <a:rPr sz="1600" b="1">
                          <a:solidFill>
                            <a:srgbClr val="0033CC"/>
                          </a:solidFill>
                          <a:latin typeface="Times New Roman"/>
                        </a:rPr>
                        <a:t>STGCN – IJCAI 2018</a:t>
                      </a:r>
                    </a:p>
                  </a:txBody>
                  <a:tcPr marL="73152" marR="73152" marT="27432" marB="27432" anchor="ctr">
                    <a:solidFill>
                      <a:srgbClr val="EEF3FC"/>
                    </a:solidFill>
                  </a:tcPr>
                </a:tc>
                <a:tc>
                  <a:txBody>
                    <a:bodyPr/>
                    <a:lstStyle/>
                    <a:p>
                      <a:r>
                        <a:rPr sz="1600" b="0">
                          <a:solidFill>
                            <a:srgbClr val="1F1F1F"/>
                          </a:solidFill>
                          <a:latin typeface="Times New Roman"/>
                        </a:rPr>
                        <a:t>Graph + temporal conv for traffic forecasting</a:t>
                      </a:r>
                    </a:p>
                  </a:txBody>
                  <a:tcPr marL="73152" marR="73152" marT="27432" marB="27432" anchor="ctr">
                    <a:solidFill>
                      <a:srgbClr val="EEF3FC"/>
                    </a:solidFill>
                  </a:tcPr>
                </a:tc>
                <a:tc>
                  <a:txBody>
                    <a:bodyPr/>
                    <a:lstStyle/>
                    <a:p>
                      <a:r>
                        <a:rPr sz="1600" b="0">
                          <a:solidFill>
                            <a:srgbClr val="1F1F1F"/>
                          </a:solidFill>
                          <a:latin typeface="Times New Roman"/>
                        </a:rPr>
                        <a:t>Idea we adapt to crowd zones</a:t>
                      </a:r>
                    </a:p>
                  </a:txBody>
                  <a:tcPr marL="73152" marR="73152" marT="27432" marB="27432" anchor="ctr">
                    <a:solidFill>
                      <a:srgbClr val="EEF3FC"/>
                    </a:solidFill>
                  </a:tcPr>
                </a:tc>
                <a:extLst>
                  <a:ext uri="{0D108BD9-81ED-4DB2-BD59-A6C34878D82A}">
                    <a16:rowId xmlns:a16="http://schemas.microsoft.com/office/drawing/2014/main" val="10004"/>
                  </a:ext>
                </a:extLst>
              </a:tr>
              <a:tr h="431800">
                <a:tc>
                  <a:txBody>
                    <a:bodyPr/>
                    <a:lstStyle/>
                    <a:p>
                      <a:r>
                        <a:rPr sz="1600" b="1">
                          <a:solidFill>
                            <a:srgbClr val="0033CC"/>
                          </a:solidFill>
                          <a:latin typeface="Times New Roman"/>
                        </a:rPr>
                        <a:t>Pratap – arXiv 2025</a:t>
                      </a:r>
                    </a:p>
                  </a:txBody>
                  <a:tcPr marL="73152" marR="73152" marT="27432" marB="27432" anchor="ctr">
                    <a:solidFill>
                      <a:srgbClr val="FFFFFF"/>
                    </a:solidFill>
                  </a:tcPr>
                </a:tc>
                <a:tc>
                  <a:txBody>
                    <a:bodyPr/>
                    <a:lstStyle/>
                    <a:p>
                      <a:r>
                        <a:rPr sz="1600" b="0">
                          <a:solidFill>
                            <a:srgbClr val="1F1F1F"/>
                          </a:solidFill>
                          <a:latin typeface="Times New Roman"/>
                        </a:rPr>
                        <a:t>Mahakumbh stampede-site analysis</a:t>
                      </a:r>
                    </a:p>
                  </a:txBody>
                  <a:tcPr marL="73152" marR="73152" marT="27432" marB="27432" anchor="ctr">
                    <a:solidFill>
                      <a:srgbClr val="FFFFFF"/>
                    </a:solidFill>
                  </a:tcPr>
                </a:tc>
                <a:tc>
                  <a:txBody>
                    <a:bodyPr/>
                    <a:lstStyle/>
                    <a:p>
                      <a:r>
                        <a:rPr sz="1600" b="0">
                          <a:solidFill>
                            <a:srgbClr val="1F1F1F"/>
                          </a:solidFill>
                          <a:latin typeface="Times New Roman"/>
                        </a:rPr>
                        <a:t>92% at narrow access routes → chokepoints</a:t>
                      </a:r>
                    </a:p>
                  </a:txBody>
                  <a:tcPr marL="73152" marR="73152" marT="27432" marB="27432" anchor="ctr">
                    <a:solidFill>
                      <a:srgbClr val="FFFFFF"/>
                    </a:solidFill>
                  </a:tcPr>
                </a:tc>
                <a:extLst>
                  <a:ext uri="{0D108BD9-81ED-4DB2-BD59-A6C34878D82A}">
                    <a16:rowId xmlns:a16="http://schemas.microsoft.com/office/drawing/2014/main" val="10005"/>
                  </a:ext>
                </a:extLst>
              </a:tr>
              <a:tr h="431800">
                <a:tc>
                  <a:txBody>
                    <a:bodyPr/>
                    <a:lstStyle/>
                    <a:p>
                      <a:r>
                        <a:rPr sz="1600" b="1">
                          <a:solidFill>
                            <a:srgbClr val="0033CC"/>
                          </a:solidFill>
                          <a:latin typeface="Times New Roman"/>
                        </a:rPr>
                        <a:t>Kumar et al. – IEEE GIEST 2025</a:t>
                      </a:r>
                    </a:p>
                  </a:txBody>
                  <a:tcPr marL="73152" marR="73152" marT="27432" marB="27432" anchor="ctr">
                    <a:solidFill>
                      <a:srgbClr val="EEF3FC"/>
                    </a:solidFill>
                  </a:tcPr>
                </a:tc>
                <a:tc>
                  <a:txBody>
                    <a:bodyPr/>
                    <a:lstStyle/>
                    <a:p>
                      <a:r>
                        <a:rPr sz="1600" b="0">
                          <a:solidFill>
                            <a:srgbClr val="1F1F1F"/>
                          </a:solidFill>
                          <a:latin typeface="Times New Roman"/>
                        </a:rPr>
                        <a:t>Grid density; alert 3.5, critical 4 /m²</a:t>
                      </a:r>
                    </a:p>
                  </a:txBody>
                  <a:tcPr marL="73152" marR="73152" marT="27432" marB="27432" anchor="ctr">
                    <a:solidFill>
                      <a:srgbClr val="EEF3FC"/>
                    </a:solidFill>
                  </a:tcPr>
                </a:tc>
                <a:tc>
                  <a:txBody>
                    <a:bodyPr/>
                    <a:lstStyle/>
                    <a:p>
                      <a:r>
                        <a:rPr sz="1600" b="0">
                          <a:solidFill>
                            <a:srgbClr val="1F1F1F"/>
                          </a:solidFill>
                          <a:latin typeface="Times New Roman"/>
                        </a:rPr>
                        <a:t>Grid cells; no spread, no actions</a:t>
                      </a:r>
                    </a:p>
                  </a:txBody>
                  <a:tcPr marL="73152" marR="73152" marT="27432" marB="27432" anchor="ctr">
                    <a:solidFill>
                      <a:srgbClr val="EEF3FC"/>
                    </a:solidFill>
                  </a:tcPr>
                </a:tc>
                <a:extLst>
                  <a:ext uri="{0D108BD9-81ED-4DB2-BD59-A6C34878D82A}">
                    <a16:rowId xmlns:a16="http://schemas.microsoft.com/office/drawing/2014/main" val="10006"/>
                  </a:ext>
                </a:extLst>
              </a:tr>
              <a:tr h="431800">
                <a:tc>
                  <a:txBody>
                    <a:bodyPr/>
                    <a:lstStyle/>
                    <a:p>
                      <a:r>
                        <a:rPr sz="1600" b="1">
                          <a:solidFill>
                            <a:srgbClr val="0033CC"/>
                          </a:solidFill>
                          <a:latin typeface="Times New Roman"/>
                        </a:rPr>
                        <a:t>ICMF – IJCTT 2026 (base paper)</a:t>
                      </a:r>
                    </a:p>
                  </a:txBody>
                  <a:tcPr marL="73152" marR="73152" marT="27432" marB="27432" anchor="ctr">
                    <a:solidFill>
                      <a:srgbClr val="FFFFFF"/>
                    </a:solidFill>
                  </a:tcPr>
                </a:tc>
                <a:tc>
                  <a:txBody>
                    <a:bodyPr/>
                    <a:lstStyle/>
                    <a:p>
                      <a:r>
                        <a:rPr sz="1600" b="0">
                          <a:solidFill>
                            <a:srgbClr val="1F1F1F"/>
                          </a:solidFill>
                          <a:latin typeface="Times New Roman"/>
                        </a:rPr>
                        <a:t>Whole-frame Safe / Warning / Danger</a:t>
                      </a:r>
                    </a:p>
                  </a:txBody>
                  <a:tcPr marL="73152" marR="73152" marT="27432" marB="27432" anchor="ctr">
                    <a:solidFill>
                      <a:srgbClr val="FFFFFF"/>
                    </a:solidFill>
                  </a:tcPr>
                </a:tc>
                <a:tc>
                  <a:txBody>
                    <a:bodyPr/>
                    <a:lstStyle/>
                    <a:p>
                      <a:r>
                        <a:rPr sz="1600" b="0">
                          <a:solidFill>
                            <a:srgbClr val="1F1F1F"/>
                          </a:solidFill>
                          <a:latin typeface="Times New Roman"/>
                        </a:rPr>
                        <a:t>No zones, spread or actions</a:t>
                      </a:r>
                    </a:p>
                  </a:txBody>
                  <a:tcPr marL="73152" marR="73152" marT="27432" marB="27432" anchor="ctr">
                    <a:solidFill>
                      <a:srgbClr val="FFFFFF"/>
                    </a:solidFill>
                  </a:tcPr>
                </a:tc>
                <a:extLst>
                  <a:ext uri="{0D108BD9-81ED-4DB2-BD59-A6C34878D82A}">
                    <a16:rowId xmlns:a16="http://schemas.microsoft.com/office/drawing/2014/main" val="10007"/>
                  </a:ext>
                </a:extLst>
              </a:tr>
              <a:tr h="431800">
                <a:tc>
                  <a:txBody>
                    <a:bodyPr/>
                    <a:lstStyle/>
                    <a:p>
                      <a:r>
                        <a:rPr sz="1600" b="1">
                          <a:solidFill>
                            <a:srgbClr val="0033CC"/>
                          </a:solidFill>
                          <a:latin typeface="Times New Roman"/>
                        </a:rPr>
                        <a:t>Crowd Guardian (2026)</a:t>
                      </a:r>
                    </a:p>
                  </a:txBody>
                  <a:tcPr marL="73152" marR="73152" marT="27432" marB="27432" anchor="ctr">
                    <a:solidFill>
                      <a:srgbClr val="EEF3FC"/>
                    </a:solidFill>
                  </a:tcPr>
                </a:tc>
                <a:tc>
                  <a:txBody>
                    <a:bodyPr/>
                    <a:lstStyle/>
                    <a:p>
                      <a:r>
                        <a:rPr sz="1600" b="0">
                          <a:solidFill>
                            <a:srgbClr val="1F1F1F"/>
                          </a:solidFill>
                          <a:latin typeface="Times New Roman"/>
                        </a:rPr>
                        <a:t>Risk on a uniform 6×6 grid</a:t>
                      </a:r>
                    </a:p>
                  </a:txBody>
                  <a:tcPr marL="73152" marR="73152" marT="27432" marB="27432" anchor="ctr">
                    <a:solidFill>
                      <a:srgbClr val="EEF3FC"/>
                    </a:solidFill>
                  </a:tcPr>
                </a:tc>
                <a:tc>
                  <a:txBody>
                    <a:bodyPr/>
                    <a:lstStyle/>
                    <a:p>
                      <a:r>
                        <a:rPr sz="1600" b="0">
                          <a:solidFill>
                            <a:srgbClr val="1F1F1F"/>
                          </a:solidFill>
                          <a:latin typeface="Times New Roman"/>
                        </a:rPr>
                        <a:t>Grid not tied to structure</a:t>
                      </a:r>
                    </a:p>
                  </a:txBody>
                  <a:tcPr marL="73152" marR="73152" marT="27432" marB="27432" anchor="ctr">
                    <a:solidFill>
                      <a:srgbClr val="EEF3FC"/>
                    </a:solidFill>
                  </a:tcPr>
                </a:tc>
                <a:extLst>
                  <a:ext uri="{0D108BD9-81ED-4DB2-BD59-A6C34878D82A}">
                    <a16:rowId xmlns:a16="http://schemas.microsoft.com/office/drawing/2014/main" val="10008"/>
                  </a:ext>
                </a:extLst>
              </a:tr>
              <a:tr h="431800">
                <a:tc>
                  <a:txBody>
                    <a:bodyPr/>
                    <a:lstStyle/>
                    <a:p>
                      <a:r>
                        <a:rPr sz="1600" b="1">
                          <a:solidFill>
                            <a:srgbClr val="0033CC"/>
                          </a:solidFill>
                          <a:latin typeface="Times New Roman"/>
                        </a:rPr>
                        <a:t>AURORA – IEEE ICAUC 2026</a:t>
                      </a:r>
                    </a:p>
                  </a:txBody>
                  <a:tcPr marL="73152" marR="73152" marT="27432" marB="27432" anchor="ctr">
                    <a:solidFill>
                      <a:srgbClr val="FFFFFF"/>
                    </a:solidFill>
                  </a:tcPr>
                </a:tc>
                <a:tc>
                  <a:txBody>
                    <a:bodyPr/>
                    <a:lstStyle/>
                    <a:p>
                      <a:r>
                        <a:rPr sz="1600" b="0">
                          <a:solidFill>
                            <a:srgbClr val="1F1F1F"/>
                          </a:solidFill>
                          <a:latin typeface="Times New Roman"/>
                        </a:rPr>
                        <a:t>Zone-wise, ~14 s lead, rule-based layer</a:t>
                      </a:r>
                    </a:p>
                  </a:txBody>
                  <a:tcPr marL="73152" marR="73152" marT="27432" marB="27432" anchor="ctr">
                    <a:solidFill>
                      <a:srgbClr val="FFFFFF"/>
                    </a:solidFill>
                  </a:tcPr>
                </a:tc>
                <a:tc>
                  <a:txBody>
                    <a:bodyPr/>
                    <a:lstStyle/>
                    <a:p>
                      <a:r>
                        <a:rPr sz="1600" b="0">
                          <a:solidFill>
                            <a:srgbClr val="1F1F1F"/>
                          </a:solidFill>
                          <a:latin typeface="Times New Roman"/>
                        </a:rPr>
                        <a:t>Seconds of warning; no ranked actions</a:t>
                      </a:r>
                    </a:p>
                  </a:txBody>
                  <a:tcPr marL="73152" marR="73152" marT="27432" marB="27432" anchor="ctr">
                    <a:solidFill>
                      <a:srgbClr val="FFFFFF"/>
                    </a:solidFill>
                  </a:tcPr>
                </a:tc>
                <a:extLst>
                  <a:ext uri="{0D108BD9-81ED-4DB2-BD59-A6C34878D82A}">
                    <a16:rowId xmlns:a16="http://schemas.microsoft.com/office/drawing/2014/main" val="10009"/>
                  </a:ext>
                </a:extLst>
              </a:tr>
            </a:tbl>
          </a:graphicData>
        </a:graphic>
      </p:graphicFrame>
      <p:sp>
        <p:nvSpPr>
          <p:cNvPr id="19" name="TextBox 18"/>
          <p:cNvSpPr txBox="1"/>
          <p:nvPr/>
        </p:nvSpPr>
        <p:spPr>
          <a:xfrm>
            <a:off x="332847" y="6375400"/>
            <a:ext cx="11534247" cy="279400"/>
          </a:xfrm>
          <a:prstGeom prst="rect">
            <a:avLst/>
          </a:prstGeom>
          <a:noFill/>
        </p:spPr>
        <p:txBody>
          <a:bodyPr wrap="square" lIns="0" tIns="0" rIns="0" bIns="0" anchor="t">
            <a:spAutoFit/>
          </a:bodyPr>
          <a:lstStyle/>
          <a:p>
            <a:pPr algn="l">
              <a:spcAft>
                <a:spcPts val="400"/>
              </a:spcAft>
            </a:pPr>
            <a:r>
              <a:rPr sz="1600" b="0" i="1">
                <a:solidFill>
                  <a:srgbClr val="666666"/>
                </a:solidFill>
                <a:latin typeface="Times New Roman"/>
              </a:rPr>
              <a:t>Backup slide for Q&amp;A – hidden in slide show.</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4371485" y="3352800"/>
            <a:ext cx="2506584" cy="707886"/>
          </a:xfrm>
          <a:prstGeom prst="rect">
            <a:avLst/>
          </a:prstGeom>
        </p:spPr>
        <p:txBody>
          <a:bodyPr wrap="none">
            <a:spAutoFit/>
          </a:bodyPr>
          <a:lstStyle/>
          <a:p>
            <a:pPr algn="r"/>
            <a:r>
              <a:rPr lang="en-US" sz="4000" dirty="0">
                <a:solidFill>
                  <a:srgbClr val="FF0000"/>
                </a:solidFill>
                <a:latin typeface="Times New Roman" pitchFamily="34" charset="0"/>
              </a:rPr>
              <a:t>Thank You</a:t>
            </a:r>
          </a:p>
        </p:txBody>
      </p:sp>
    </p:spTree>
  </p:cSld>
  <p:clrMapOvr>
    <a:masterClrMapping/>
  </p:clrMapOvr>
</p:sld>
</file>

<file path=ppt/theme/theme1.xml><?xml version="1.0" encoding="utf-8"?>
<a:theme xmlns:a="http://schemas.openxmlformats.org/drawingml/2006/main" name="Custom Design">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Times New Roman"/>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Times New Roman"/>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Capstone Project - Review 3 - Template.pptx" id="{77E64785-C4AC-D447-9F20-AA3556BA4DEA}" vid="{211B08FD-A304-1146-A3C3-5229E601B30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Times New Roman"/>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Times New Roman"/>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Times New Roman"/>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Capstone Project - Review 3 - Template (1)</Template>
  <TotalTime>411</TotalTime>
  <Words>3889</Words>
  <Application>Microsoft Office PowerPoint</Application>
  <PresentationFormat>Widescreen</PresentationFormat>
  <Paragraphs>352</Paragraphs>
  <Slides>15</Slides>
  <Notes>15</Notes>
  <HiddenSlides>1</HiddenSlides>
  <MMClips>0</MMClips>
  <ScaleCrop>false</ScaleCrop>
  <HeadingPairs>
    <vt:vector size="6" baseType="variant">
      <vt:variant>
        <vt:lpstr>Fonts Used</vt:lpstr>
      </vt:variant>
      <vt:variant>
        <vt:i4>1</vt:i4>
      </vt:variant>
      <vt:variant>
        <vt:lpstr>Theme</vt:lpstr>
      </vt:variant>
      <vt:variant>
        <vt:i4>1</vt:i4>
      </vt:variant>
      <vt:variant>
        <vt:lpstr>Slide Titles</vt:lpstr>
      </vt:variant>
      <vt:variant>
        <vt:i4>15</vt:i4>
      </vt:variant>
    </vt:vector>
  </HeadingPairs>
  <TitlesOfParts>
    <vt:vector size="17" baseType="lpstr">
      <vt:lpstr>Times New Roman</vt:lpstr>
      <vt:lpstr>Custom Design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KTwo Technology Solutions</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Sunitha R</dc:creator>
  <cp:lastModifiedBy>Ibrahim Khaleel</cp:lastModifiedBy>
  <cp:revision>138</cp:revision>
  <dcterms:created xsi:type="dcterms:W3CDTF">2020-11-22T08:14:37Z</dcterms:created>
  <dcterms:modified xsi:type="dcterms:W3CDTF">2026-10-13T08:54:40Z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_NewReviewCycle">
    <vt:lpwstr/>
  </property>
</Properties>
</file>